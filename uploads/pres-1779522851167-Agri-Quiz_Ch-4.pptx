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9" r:id="rId23"/>
    <p:sldId id="29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F12D0-8A73-43EA-AC07-7AD92CD5A1D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798E0-E1D0-4AA3-94CC-B98B32CBE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5328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A8FE4-EE8B-4E5D-8063-A7C5202BB8B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1754D-240B-4E98-A9EF-8E5065901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025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11754D-240B-4E98-A9EF-8E50659011C5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46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7930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670802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54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3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745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61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96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5416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423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600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A923B2E-9BCB-4543-9E65-7BDAEC71E22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35E5872-0F9D-438F-827B-40A9D5A6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9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9399" y="2194273"/>
            <a:ext cx="5825202" cy="1234727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Agriculture Quiz Test</a:t>
            </a:r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600" b="1" dirty="0"/>
            </a:br>
            <a:r>
              <a:rPr lang="en-US" sz="3600" b="1" dirty="0"/>
              <a:t>Questions: 20</a:t>
            </a:r>
            <a:br>
              <a:rPr lang="en-US" sz="3600" b="1" dirty="0"/>
            </a:br>
            <a:r>
              <a:rPr lang="en-US" sz="3600" b="1" dirty="0"/>
              <a:t>Time: 14min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138" y="3844195"/>
            <a:ext cx="5825202" cy="822674"/>
          </a:xfrm>
        </p:spPr>
        <p:txBody>
          <a:bodyPr>
            <a:noAutofit/>
          </a:bodyPr>
          <a:lstStyle/>
          <a:p>
            <a:pPr algn="l"/>
            <a:r>
              <a:rPr lang="en-US" sz="2100" u="sng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বিশেষ</a:t>
            </a:r>
            <a:r>
              <a:rPr lang="en-US" sz="2100" u="sng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u="sng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দ্রষ্টব্যঃ</a:t>
            </a:r>
            <a:r>
              <a:rPr lang="en-US" sz="2100" u="sng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</a:p>
          <a:p>
            <a:pPr algn="l"/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১।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শুধুমাত্র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সঠিক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উত্তরটি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খাতায়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লিখবে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।</a:t>
            </a:r>
          </a:p>
          <a:p>
            <a:pPr algn="l"/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২।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প্রতি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50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সেকেন্ড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পরপর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স্লাইড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সয়ংক্রিয়ভাবে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পরিবর্তন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 </a:t>
            </a:r>
            <a:r>
              <a:rPr lang="en-US" sz="2100" dirty="0" err="1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হবে</a:t>
            </a:r>
            <a:r>
              <a:rPr lang="en-US" sz="2100" dirty="0">
                <a:solidFill>
                  <a:schemeClr val="tx1"/>
                </a:solidFill>
                <a:latin typeface="Shonar Bangla" panose="02020603050405020304" pitchFamily="18" charset="0"/>
                <a:cs typeface="Shonar Bangla" panose="02020603050405020304" pitchFamily="18" charset="0"/>
              </a:rPr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29463583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lekhaT" pitchFamily="2" charset="0"/>
              </a:rPr>
              <a:t>১।নিচের কোনটি দানাজাতীয় ফসল?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594" y="3306793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ক।মসুর</a:t>
            </a:r>
            <a:r>
              <a:rPr lang="en-US" sz="3600" dirty="0">
                <a:latin typeface="Spirko Ultra Light" panose="020B0500000000000000" pitchFamily="34" charset="0"/>
              </a:rPr>
              <a:t>			</a:t>
            </a:r>
            <a:r>
              <a:rPr lang="as-IN" sz="3600" dirty="0">
                <a:latin typeface="SulekhaT" pitchFamily="2" charset="0"/>
              </a:rPr>
              <a:t>খ।সরিষা</a:t>
            </a:r>
            <a:endParaRPr lang="en-US" sz="3600" dirty="0">
              <a:latin typeface="Spirko Ultra Light" panose="020B0500000000000000" pitchFamily="34" charset="0"/>
            </a:endParaRPr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গ।ভুটা</a:t>
            </a:r>
            <a:r>
              <a:rPr lang="en-US" sz="3600" dirty="0">
                <a:latin typeface="Spirko Ultra Light" panose="020B0500000000000000" pitchFamily="34" charset="0"/>
              </a:rPr>
              <a:t>			</a:t>
            </a:r>
            <a:r>
              <a:rPr lang="as-IN" sz="3600" dirty="0">
                <a:latin typeface="SulekhaT" pitchFamily="2" charset="0"/>
              </a:rPr>
              <a:t>ঘ।ছোলা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31286"/>
      </p:ext>
    </p:extLst>
  </p:cSld>
  <p:clrMapOvr>
    <a:masterClrMapping/>
  </p:clrMapOvr>
  <p:transition spd="slow" advClick="0" advTm="30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২।নিচের কোনটি সবুজ সার জাতীয় ফসল?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ক।চীনা</a:t>
            </a:r>
            <a:r>
              <a:rPr lang="en-US" sz="3600" dirty="0"/>
              <a:t>		  	  </a:t>
            </a:r>
            <a:r>
              <a:rPr lang="as-IN" sz="3600" dirty="0">
                <a:latin typeface="SulekhaT" pitchFamily="2" charset="0"/>
              </a:rPr>
              <a:t>খ।কফি</a:t>
            </a:r>
            <a:endParaRPr lang="en-US" sz="3600" dirty="0"/>
          </a:p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গ।শনপাট</a:t>
            </a:r>
            <a:r>
              <a:rPr lang="en-US" sz="3600" dirty="0"/>
              <a:t>			  </a:t>
            </a:r>
            <a:r>
              <a:rPr lang="as-IN" sz="3600" dirty="0">
                <a:latin typeface="SulekhaT" pitchFamily="2" charset="0"/>
              </a:rPr>
              <a:t>ঘ।তিল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39473"/>
      </p:ext>
    </p:extLst>
  </p:cSld>
  <p:clrMapOvr>
    <a:masterClrMapping/>
  </p:clrMapOvr>
  <p:transition spd="slow" advTm="30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৩।নিচের কোনটি উদ্যান ফসল?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ক।তুলা </a:t>
            </a:r>
            <a:r>
              <a:rPr lang="en-US" sz="3600" dirty="0">
                <a:latin typeface="SulekhaT" pitchFamily="2" charset="0"/>
              </a:rPr>
              <a:t>				</a:t>
            </a:r>
            <a:r>
              <a:rPr lang="as-IN" sz="3600" dirty="0">
                <a:latin typeface="SulekhaT" pitchFamily="2" charset="0"/>
              </a:rPr>
              <a:t>খ।ধান গ।পাট </a:t>
            </a:r>
            <a:r>
              <a:rPr lang="en-US" sz="3600" dirty="0">
                <a:latin typeface="SulekhaT" pitchFamily="2" charset="0"/>
              </a:rPr>
              <a:t>			</a:t>
            </a:r>
            <a:r>
              <a:rPr lang="as-IN" sz="3600" dirty="0">
                <a:latin typeface="SulekhaT" pitchFamily="2" charset="0"/>
              </a:rPr>
              <a:t>ঘ।গোল আলু।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90713"/>
      </p:ext>
    </p:extLst>
  </p:cSld>
  <p:clrMapOvr>
    <a:masterClrMapping/>
  </p:clrMapOvr>
  <p:transition spd="slow" advClick="0" advTm="30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৪।নিচের কোন ফসলটি বেশি যত্নে চাষ করা হয়?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ক।টমেটো </a:t>
            </a:r>
            <a:r>
              <a:rPr lang="en-US" sz="3600" dirty="0">
                <a:latin typeface="SulekhaT" pitchFamily="2" charset="0"/>
              </a:rPr>
              <a:t>			</a:t>
            </a:r>
            <a:r>
              <a:rPr lang="as-IN" sz="3600" dirty="0">
                <a:latin typeface="SulekhaT" pitchFamily="2" charset="0"/>
              </a:rPr>
              <a:t>খ।গম গ।পাট </a:t>
            </a:r>
            <a:r>
              <a:rPr lang="en-US" sz="3600" dirty="0">
                <a:latin typeface="SulekhaT" pitchFamily="2" charset="0"/>
              </a:rPr>
              <a:t>				</a:t>
            </a:r>
            <a:r>
              <a:rPr lang="as-IN" sz="3600" dirty="0">
                <a:latin typeface="SulekhaT" pitchFamily="2" charset="0"/>
              </a:rPr>
              <a:t>ঘ।আখ।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41551"/>
      </p:ext>
    </p:extLst>
  </p:cSld>
  <p:clrMapOvr>
    <a:masterClrMapping/>
  </p:clrMapOvr>
  <p:transition spd="slow" advClick="0" advTm="30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৫।মাছ কোন পর্বের অন্তর্ভুক্ত?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ক।আ্যনিলিডা </a:t>
            </a:r>
            <a:r>
              <a:rPr lang="en-US" sz="3600" dirty="0">
                <a:latin typeface="SulekhaT" pitchFamily="2" charset="0"/>
              </a:rPr>
              <a:t>		</a:t>
            </a:r>
            <a:r>
              <a:rPr lang="as-IN" sz="3600" dirty="0">
                <a:latin typeface="SulekhaT" pitchFamily="2" charset="0"/>
              </a:rPr>
              <a:t>খ।পরিফেরা গ।কর্ডাটা </a:t>
            </a:r>
            <a:r>
              <a:rPr lang="en-US" sz="3600" dirty="0">
                <a:latin typeface="SulekhaT" pitchFamily="2" charset="0"/>
              </a:rPr>
              <a:t>		</a:t>
            </a:r>
            <a:r>
              <a:rPr lang="as-IN" sz="3600" dirty="0">
                <a:latin typeface="SulekhaT" pitchFamily="2" charset="0"/>
              </a:rPr>
              <a:t>ঘ।আর্থোপ্রোডা 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820314"/>
      </p:ext>
    </p:extLst>
  </p:cSld>
  <p:clrMapOvr>
    <a:masterClrMapping/>
  </p:clrMapOvr>
  <p:transition spd="slow" advClick="0" advTm="30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৬।।কৃষিবন কোন বনায়নের অন্তর্ভুক্ত?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ক।পাহাড়ি </a:t>
            </a:r>
            <a:r>
              <a:rPr lang="en-US" sz="3600" dirty="0">
                <a:latin typeface="SulekhaT" pitchFamily="2" charset="0"/>
              </a:rPr>
              <a:t>		</a:t>
            </a:r>
            <a:r>
              <a:rPr lang="as-IN" sz="3600" dirty="0">
                <a:latin typeface="SulekhaT" pitchFamily="2" charset="0"/>
              </a:rPr>
              <a:t>খ।সমতল গ।লোনা </a:t>
            </a:r>
            <a:r>
              <a:rPr lang="en-US" sz="3600" dirty="0">
                <a:latin typeface="SulekhaT" pitchFamily="2" charset="0"/>
              </a:rPr>
              <a:t>			</a:t>
            </a:r>
            <a:r>
              <a:rPr lang="as-IN" sz="3600" dirty="0">
                <a:latin typeface="SulekhaT" pitchFamily="2" charset="0"/>
              </a:rPr>
              <a:t>ঘ।সামাজিক 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93806"/>
      </p:ext>
    </p:extLst>
  </p:cSld>
  <p:clrMapOvr>
    <a:masterClrMapping/>
  </p:clrMapOvr>
  <p:transition spd="slow" advClick="0" advTm="30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৭।নিচের কোনটি বহুমুখী গবেষণা প্রতিস্ঠান?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6447501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 </a:t>
            </a:r>
            <a:r>
              <a:rPr lang="en-US" sz="3600" dirty="0">
                <a:latin typeface="SulekhaT" pitchFamily="2" charset="0"/>
              </a:rPr>
              <a:t>BRRI 				</a:t>
            </a:r>
            <a:r>
              <a:rPr lang="as-IN" sz="3600" dirty="0">
                <a:latin typeface="SulekhaT" pitchFamily="2" charset="0"/>
              </a:rPr>
              <a:t>খ।</a:t>
            </a:r>
            <a:r>
              <a:rPr lang="en-US" sz="3600" dirty="0">
                <a:latin typeface="SulekhaT" pitchFamily="2" charset="0"/>
              </a:rPr>
              <a:t>BARI </a:t>
            </a:r>
            <a:r>
              <a:rPr lang="as-IN" sz="3600" dirty="0">
                <a:latin typeface="SulekhaT" pitchFamily="2" charset="0"/>
              </a:rPr>
              <a:t>গ।</a:t>
            </a:r>
            <a:r>
              <a:rPr lang="en-US" sz="3600" dirty="0">
                <a:latin typeface="SulekhaT" pitchFamily="2" charset="0"/>
              </a:rPr>
              <a:t>BARC 				</a:t>
            </a:r>
            <a:r>
              <a:rPr lang="as-IN" sz="3600" dirty="0">
                <a:latin typeface="SulekhaT" pitchFamily="2" charset="0"/>
              </a:rPr>
              <a:t>ঘ।</a:t>
            </a:r>
            <a:r>
              <a:rPr lang="en-US" sz="3600" dirty="0">
                <a:latin typeface="SulekhaT" pitchFamily="2" charset="0"/>
              </a:rPr>
              <a:t>IRRI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64605"/>
      </p:ext>
    </p:extLst>
  </p:cSld>
  <p:clrMapOvr>
    <a:masterClrMapping/>
  </p:clrMapOvr>
  <p:transition spd="slow" advClick="0" advTm="30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৮।কোন উৎস থেকে কৃষক কৃষি বিষয়ক সকল তথ্য পেতে পারে?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ক।উঠোন বৈঠক </a:t>
            </a:r>
            <a:r>
              <a:rPr lang="en-US" sz="3600" dirty="0">
                <a:latin typeface="SulekhaT" pitchFamily="2" charset="0"/>
              </a:rPr>
              <a:t>	</a:t>
            </a:r>
            <a:r>
              <a:rPr lang="as-IN" sz="3600" dirty="0">
                <a:latin typeface="SulekhaT" pitchFamily="2" charset="0"/>
              </a:rPr>
              <a:t>খ।কৃষি শিক্ষা বই গ।এনজিও </a:t>
            </a:r>
            <a:r>
              <a:rPr lang="en-US" sz="3600" dirty="0">
                <a:latin typeface="SulekhaT" pitchFamily="2" charset="0"/>
              </a:rPr>
              <a:t>		</a:t>
            </a:r>
            <a:r>
              <a:rPr lang="as-IN" sz="3600" dirty="0">
                <a:latin typeface="SulekhaT" pitchFamily="2" charset="0"/>
              </a:rPr>
              <a:t>ঘ।ইউনিয়নে।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801157"/>
      </p:ext>
    </p:extLst>
  </p:cSld>
  <p:clrMapOvr>
    <a:masterClrMapping/>
  </p:clrMapOvr>
  <p:transition spd="slow" advClick="0" advTm="30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৯।নিচের কোনটি কৃষির উচ্চশিক্ষা প্রতিষ্ঠান?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</a:t>
            </a:r>
            <a:r>
              <a:rPr lang="en-US" sz="3600" dirty="0">
                <a:latin typeface="SulekhaT" pitchFamily="2" charset="0"/>
              </a:rPr>
              <a:t>BRRI 				</a:t>
            </a:r>
            <a:r>
              <a:rPr lang="as-IN" sz="3600" dirty="0">
                <a:latin typeface="SulekhaT" pitchFamily="2" charset="0"/>
              </a:rPr>
              <a:t>খ।</a:t>
            </a:r>
            <a:r>
              <a:rPr lang="en-US" sz="3600" dirty="0">
                <a:latin typeface="SulekhaT" pitchFamily="2" charset="0"/>
              </a:rPr>
              <a:t>BARI </a:t>
            </a:r>
            <a:r>
              <a:rPr lang="as-IN" sz="3600" dirty="0">
                <a:latin typeface="SulekhaT" pitchFamily="2" charset="0"/>
              </a:rPr>
              <a:t>গ।</a:t>
            </a:r>
            <a:r>
              <a:rPr lang="en-US" sz="3600" dirty="0">
                <a:latin typeface="SulekhaT" pitchFamily="2" charset="0"/>
              </a:rPr>
              <a:t>BAU 				</a:t>
            </a:r>
            <a:r>
              <a:rPr lang="as-IN" sz="3600" dirty="0">
                <a:latin typeface="SulekhaT" pitchFamily="2" charset="0"/>
              </a:rPr>
              <a:t>ঘ।</a:t>
            </a:r>
            <a:r>
              <a:rPr lang="en-US" sz="3600" dirty="0">
                <a:latin typeface="SulekhaT" pitchFamily="2" charset="0"/>
              </a:rPr>
              <a:t>DAE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092312"/>
      </p:ext>
    </p:extLst>
  </p:cSld>
  <p:clrMapOvr>
    <a:masterClrMapping/>
  </p:clrMapOvr>
  <p:transition spd="slow" advClick="0" advTm="30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314450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১০।নিচের কোনটি কৃষি বিশ্ববিদ্যালয় ও কৃষকদের সাথে যোগাযোগ করে? </a:t>
            </a: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18" y="27702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s-IN" sz="3600" dirty="0">
                <a:latin typeface="SulekhaT" pitchFamily="2" charset="0"/>
              </a:rPr>
              <a:t>ক।</a:t>
            </a:r>
            <a:r>
              <a:rPr lang="en-US" sz="3600" dirty="0">
                <a:latin typeface="SulekhaT" pitchFamily="2" charset="0"/>
              </a:rPr>
              <a:t>AIS 				</a:t>
            </a:r>
            <a:r>
              <a:rPr lang="as-IN" sz="3600" dirty="0">
                <a:latin typeface="SulekhaT" pitchFamily="2" charset="0"/>
              </a:rPr>
              <a:t>খ।</a:t>
            </a:r>
            <a:r>
              <a:rPr lang="en-US" sz="3600" dirty="0">
                <a:latin typeface="SulekhaT" pitchFamily="2" charset="0"/>
              </a:rPr>
              <a:t>BARC </a:t>
            </a:r>
            <a:r>
              <a:rPr lang="as-IN" sz="3600" dirty="0">
                <a:latin typeface="SulekhaT" pitchFamily="2" charset="0"/>
              </a:rPr>
              <a:t>গ।</a:t>
            </a:r>
            <a:r>
              <a:rPr lang="en-US" sz="3600" dirty="0">
                <a:latin typeface="SulekhaT" pitchFamily="2" charset="0"/>
              </a:rPr>
              <a:t>BAURES 			</a:t>
            </a:r>
            <a:r>
              <a:rPr lang="as-IN" sz="3600" dirty="0">
                <a:latin typeface="SulekhaT" pitchFamily="2" charset="0"/>
              </a:rPr>
              <a:t>ঘ।</a:t>
            </a:r>
            <a:r>
              <a:rPr lang="en-US" sz="3600" dirty="0">
                <a:latin typeface="SulekhaT" pitchFamily="2" charset="0"/>
              </a:rPr>
              <a:t>BAUEC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739689"/>
      </p:ext>
    </p:extLst>
  </p:cSld>
  <p:clrMapOvr>
    <a:masterClrMapping/>
  </p:clrMapOvr>
  <p:transition spd="slow" advClick="0" advTm="30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208" y="943258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1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এটি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নাইলোটিকা</a:t>
            </a:r>
            <a:r>
              <a:rPr lang="en-US" sz="3600" dirty="0">
                <a:latin typeface="SulekhaT" pitchFamily="2" charset="0"/>
              </a:rPr>
              <a:t> 			খ) </a:t>
            </a:r>
            <a:r>
              <a:rPr lang="en-US" sz="3600" dirty="0" err="1">
                <a:latin typeface="SulekhaT" pitchFamily="2" charset="0"/>
              </a:rPr>
              <a:t>রাজপুটি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তেলাপিয়া</a:t>
            </a:r>
            <a:r>
              <a:rPr lang="en-US" sz="3600" dirty="0">
                <a:latin typeface="SulekhaT" pitchFamily="2" charset="0"/>
              </a:rPr>
              <a:t> 			ঘ) </a:t>
            </a:r>
            <a:r>
              <a:rPr lang="en-US" sz="3600" dirty="0" err="1">
                <a:latin typeface="SulekhaT" pitchFamily="2" charset="0"/>
              </a:rPr>
              <a:t>কালবাউস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  <p:pic>
        <p:nvPicPr>
          <p:cNvPr id="3074" name="Picture 2" descr="সরপুঁটি মাছ :- এই মাছটি কে সাধারণত আমরা সরপুঁটি, রাজপুঁটি বা থাই সরপুঁটি  নামে চিনি। এর আদিবাস দক্ষিণ পূর্ব এশিয়ায়, ১৯৭৭ সালে থাইল্যান্ড ...">
            <a:extLst>
              <a:ext uri="{FF2B5EF4-FFF2-40B4-BE49-F238E27FC236}">
                <a16:creationId xmlns:a16="http://schemas.microsoft.com/office/drawing/2014/main" id="{A17E9F5D-ECFD-7FEE-104D-27B50C302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648" y="1332369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081694"/>
      </p:ext>
    </p:extLst>
  </p:cSld>
  <p:clrMapOvr>
    <a:masterClrMapping/>
  </p:clrMapOvr>
  <p:transition spd="slow" advClick="0" advTm="30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২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মাছে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খাদ্য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উপাদান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বেশী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থাকে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স্নেহ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বা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চর্বি</a:t>
            </a:r>
            <a:r>
              <a:rPr lang="en-US" sz="3600" dirty="0">
                <a:latin typeface="SulekhaT" pitchFamily="2" charset="0"/>
              </a:rPr>
              <a:t>			খ) </a:t>
            </a:r>
            <a:r>
              <a:rPr lang="en-US" sz="3600" dirty="0" err="1">
                <a:latin typeface="SulekhaT" pitchFamily="2" charset="0"/>
              </a:rPr>
              <a:t>শর্করা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আমিষ</a:t>
            </a:r>
            <a:r>
              <a:rPr lang="en-US" sz="3600" dirty="0">
                <a:latin typeface="SulekhaT" pitchFamily="2" charset="0"/>
              </a:rPr>
              <a:t>  				ঘ) </a:t>
            </a:r>
            <a:r>
              <a:rPr lang="en-US" sz="3600" dirty="0" err="1">
                <a:latin typeface="SulekhaT" pitchFamily="2" charset="0"/>
              </a:rPr>
              <a:t>খনিজ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লবণ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5151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৩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নিচের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কোনটি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রাক্ষুসে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</a:t>
            </a:r>
            <a:r>
              <a:rPr lang="en-US" sz="3600" dirty="0" err="1">
                <a:latin typeface="SulekhaT" pitchFamily="2" charset="0"/>
              </a:rPr>
              <a:t>চিতল</a:t>
            </a:r>
            <a:r>
              <a:rPr lang="en-US" sz="3600" dirty="0">
                <a:latin typeface="SulekhaT" pitchFamily="2" charset="0"/>
              </a:rPr>
              <a:t>			খ) </a:t>
            </a:r>
            <a:r>
              <a:rPr lang="en-US" sz="3600" dirty="0" err="1">
                <a:latin typeface="SulekhaT" pitchFamily="2" charset="0"/>
              </a:rPr>
              <a:t>গ্রাস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কার্প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মিরর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কার্প</a:t>
            </a:r>
            <a:r>
              <a:rPr lang="en-US" sz="3600" dirty="0">
                <a:latin typeface="SulekhaT" pitchFamily="2" charset="0"/>
              </a:rPr>
              <a:t>  		ঘ) </a:t>
            </a:r>
            <a:r>
              <a:rPr lang="en-US" sz="3600" dirty="0" err="1">
                <a:latin typeface="SulekhaT" pitchFamily="2" charset="0"/>
              </a:rPr>
              <a:t>সরপুটি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21078"/>
      </p:ext>
    </p:extLst>
  </p:cSld>
  <p:clrMapOvr>
    <a:masterClrMapping/>
  </p:clrMapOvr>
  <p:transition spd="slow" advClick="0" advTm="30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৪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পুকুরে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মাটি</a:t>
            </a:r>
            <a:r>
              <a:rPr lang="en-US" sz="4050" dirty="0">
                <a:latin typeface="SutonnyMJ" pitchFamily="2" charset="0"/>
              </a:rPr>
              <a:t>, </a:t>
            </a:r>
            <a:r>
              <a:rPr lang="en-US" sz="4050" dirty="0" err="1">
                <a:latin typeface="SutonnyMJ" pitchFamily="2" charset="0"/>
              </a:rPr>
              <a:t>পানি</a:t>
            </a:r>
            <a:r>
              <a:rPr lang="en-US" sz="4050" dirty="0">
                <a:latin typeface="SutonnyMJ" pitchFamily="2" charset="0"/>
              </a:rPr>
              <a:t>, </a:t>
            </a:r>
            <a:r>
              <a:rPr lang="en-US" sz="4050" dirty="0" err="1">
                <a:latin typeface="SutonnyMJ" pitchFamily="2" charset="0"/>
              </a:rPr>
              <a:t>অম্ল</a:t>
            </a:r>
            <a:r>
              <a:rPr lang="en-US" sz="4050" dirty="0">
                <a:latin typeface="SutonnyMJ" pitchFamily="2" charset="0"/>
              </a:rPr>
              <a:t> ও </a:t>
            </a:r>
            <a:r>
              <a:rPr lang="en-US" sz="4050" dirty="0" err="1">
                <a:latin typeface="SutonnyMJ" pitchFamily="2" charset="0"/>
              </a:rPr>
              <a:t>দূষনমুক্ত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করতে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প্রয়োগ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করা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হয়</a:t>
            </a:r>
            <a:r>
              <a:rPr lang="en-US" sz="4050" dirty="0">
                <a:latin typeface="SutonnyMJ" pitchFamily="2" charset="0"/>
              </a:rPr>
              <a:t>? 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</a:t>
            </a:r>
            <a:r>
              <a:rPr lang="en-US" sz="3600" dirty="0" err="1">
                <a:latin typeface="SulekhaT" pitchFamily="2" charset="0"/>
              </a:rPr>
              <a:t>রোটেনন</a:t>
            </a:r>
            <a:r>
              <a:rPr lang="en-US" sz="3600" dirty="0">
                <a:latin typeface="SulekhaT" pitchFamily="2" charset="0"/>
              </a:rPr>
              <a:t>				খ) </a:t>
            </a:r>
            <a:r>
              <a:rPr lang="en-US" sz="3600" dirty="0" err="1">
                <a:latin typeface="SulekhaT" pitchFamily="2" charset="0"/>
              </a:rPr>
              <a:t>তুতে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চুন</a:t>
            </a:r>
            <a:r>
              <a:rPr lang="en-US" sz="3600" dirty="0">
                <a:latin typeface="SulekhaT" pitchFamily="2" charset="0"/>
              </a:rPr>
              <a:t> 				ঘ) </a:t>
            </a:r>
            <a:r>
              <a:rPr lang="en-US" sz="3600" dirty="0" err="1">
                <a:latin typeface="SulekhaT" pitchFamily="2" charset="0"/>
              </a:rPr>
              <a:t>সালফার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367646"/>
      </p:ext>
    </p:extLst>
  </p:cSld>
  <p:clrMapOvr>
    <a:masterClrMapping/>
  </p:clrMapOvr>
  <p:transition spd="slow" advClick="0" advTm="30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৫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রাজপুটির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ফুলকা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পচা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রোগের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জীবাণু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কোনটি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ভাইরাস</a:t>
            </a:r>
            <a:r>
              <a:rPr lang="en-US" sz="3600" dirty="0">
                <a:latin typeface="SulekhaT" pitchFamily="2" charset="0"/>
              </a:rPr>
              <a:t> 				খ) </a:t>
            </a:r>
            <a:r>
              <a:rPr lang="en-US" sz="3600" dirty="0" err="1">
                <a:latin typeface="SulekhaT" pitchFamily="2" charset="0"/>
              </a:rPr>
              <a:t>ব্যাকটেরিয়া</a:t>
            </a:r>
            <a:r>
              <a:rPr lang="en-US" sz="3600" dirty="0">
                <a:latin typeface="SulekhaT" pitchFamily="2" charset="0"/>
              </a:rPr>
              <a:t> গ) </a:t>
            </a:r>
            <a:r>
              <a:rPr lang="en-US" sz="3600" dirty="0" err="1">
                <a:latin typeface="SulekhaT" pitchFamily="2" charset="0"/>
              </a:rPr>
              <a:t>কৃমি</a:t>
            </a:r>
            <a:r>
              <a:rPr lang="en-US" sz="3600" dirty="0">
                <a:latin typeface="SulekhaT" pitchFamily="2" charset="0"/>
              </a:rPr>
              <a:t>   				ঘ) </a:t>
            </a:r>
            <a:r>
              <a:rPr lang="en-US" sz="3600" dirty="0" err="1">
                <a:latin typeface="SulekhaT" pitchFamily="2" charset="0"/>
              </a:rPr>
              <a:t>ছত্রাক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297750"/>
      </p:ext>
    </p:extLst>
  </p:cSld>
  <p:clrMapOvr>
    <a:masterClrMapping/>
  </p:clrMapOvr>
  <p:transition spd="slow" advClick="0" advTm="3000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৬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>
                <a:latin typeface="SutonnyMJ" pitchFamily="2" charset="0"/>
              </a:rPr>
              <a:t>কত </a:t>
            </a:r>
            <a:r>
              <a:rPr lang="en-US" sz="4050" dirty="0" err="1">
                <a:latin typeface="SutonnyMJ" pitchFamily="2" charset="0"/>
              </a:rPr>
              <a:t>সালে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নাইলোটিকা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থাইল্যান্ড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থেকে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আনা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হয়</a:t>
            </a:r>
            <a:r>
              <a:rPr lang="en-US" sz="4050" dirty="0">
                <a:latin typeface="SutonnyMJ" pitchFamily="2" charset="0"/>
              </a:rPr>
              <a:t> ?</a:t>
            </a:r>
            <a:br>
              <a:rPr lang="en-US" sz="4050" dirty="0">
                <a:latin typeface="SutonnyMJ" pitchFamily="2" charset="0"/>
              </a:rPr>
            </a:br>
            <a:endParaRPr lang="en-US" sz="4050" dirty="0">
              <a:latin typeface="Sutonny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ক)১৯৭৮                             খ) ১৯৭৪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১৯৭৭                             ঘ) ১৯৮২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754147"/>
      </p:ext>
    </p:extLst>
  </p:cSld>
  <p:clrMapOvr>
    <a:masterClrMapping/>
  </p:clrMapOvr>
  <p:transition spd="slow" advClick="0" advTm="30000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৭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মাছের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সম্পূরক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খাদ্য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কোনটি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8" y="3397880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প্লাংকটন</a:t>
            </a:r>
            <a:r>
              <a:rPr lang="en-US" sz="3600" dirty="0">
                <a:latin typeface="SulekhaT" pitchFamily="2" charset="0"/>
              </a:rPr>
              <a:t> 			খ) </a:t>
            </a:r>
            <a:r>
              <a:rPr lang="en-US" sz="3600" dirty="0" err="1">
                <a:latin typeface="SulekhaT" pitchFamily="2" charset="0"/>
              </a:rPr>
              <a:t>সার</a:t>
            </a:r>
            <a:r>
              <a:rPr lang="en-US" sz="3600" dirty="0">
                <a:latin typeface="SulekhaT" pitchFamily="2" charset="0"/>
              </a:rPr>
              <a:t> </a:t>
            </a: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</a:t>
            </a:r>
            <a:r>
              <a:rPr lang="en-US" sz="3600" dirty="0" err="1">
                <a:latin typeface="SulekhaT" pitchFamily="2" charset="0"/>
              </a:rPr>
              <a:t>চালের</a:t>
            </a:r>
            <a:r>
              <a:rPr lang="en-US" sz="3600" dirty="0">
                <a:latin typeface="SulekhaT" pitchFamily="2" charset="0"/>
              </a:rPr>
              <a:t> </a:t>
            </a:r>
            <a:r>
              <a:rPr lang="en-US" sz="3600" dirty="0" err="1">
                <a:latin typeface="SulekhaT" pitchFamily="2" charset="0"/>
              </a:rPr>
              <a:t>কুঁড়া</a:t>
            </a:r>
            <a:r>
              <a:rPr lang="en-US" sz="3600" dirty="0">
                <a:latin typeface="SulekhaT" pitchFamily="2" charset="0"/>
              </a:rPr>
              <a:t>                 ঘ)</a:t>
            </a:r>
            <a:r>
              <a:rPr lang="en-US" sz="3600" dirty="0" err="1">
                <a:latin typeface="SulekhaT" pitchFamily="2" charset="0"/>
              </a:rPr>
              <a:t>চুন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659407"/>
      </p:ext>
    </p:extLst>
  </p:cSld>
  <p:clrMapOvr>
    <a:masterClrMapping/>
  </p:clrMapOvr>
  <p:transition spd="slow" advClick="0" advTm="30000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৮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নিচের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মাছটি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চিংড়ী</a:t>
            </a:r>
            <a:r>
              <a:rPr lang="en-US" sz="4050" dirty="0">
                <a:latin typeface="SutonnyMJ" pitchFamily="2" charset="0"/>
              </a:rPr>
              <a:t> ? 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বাগদা</a:t>
            </a:r>
            <a:r>
              <a:rPr lang="en-US" sz="3600" dirty="0">
                <a:latin typeface="SulekhaT" pitchFamily="2" charset="0"/>
              </a:rPr>
              <a:t>					খ) </a:t>
            </a:r>
            <a:r>
              <a:rPr lang="en-US" sz="3600" dirty="0" err="1">
                <a:latin typeface="SulekhaT" pitchFamily="2" charset="0"/>
              </a:rPr>
              <a:t>গলদা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দেশী</a:t>
            </a:r>
            <a:r>
              <a:rPr lang="en-US" sz="3600" dirty="0">
                <a:latin typeface="SulekhaT" pitchFamily="2" charset="0"/>
              </a:rPr>
              <a:t>					ঘ) </a:t>
            </a:r>
            <a:r>
              <a:rPr lang="en-US" sz="3600" dirty="0" err="1">
                <a:latin typeface="SulekhaT" pitchFamily="2" charset="0"/>
              </a:rPr>
              <a:t>বিদেশী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  <p:pic>
        <p:nvPicPr>
          <p:cNvPr id="4098" name="Picture 2" descr="গলদা-চিংড়ির-উন্নত-নার্সারী-ব্যবস্থাপনা-">
            <a:extLst>
              <a:ext uri="{FF2B5EF4-FFF2-40B4-BE49-F238E27FC236}">
                <a16:creationId xmlns:a16="http://schemas.microsoft.com/office/drawing/2014/main" id="{1D680BEC-BD57-F473-135A-8855EC5E4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5" y="2102339"/>
            <a:ext cx="4153720" cy="187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077346"/>
      </p:ext>
    </p:extLst>
  </p:cSld>
  <p:clrMapOvr>
    <a:masterClrMapping/>
  </p:clrMapOvr>
  <p:transition spd="slow" advClick="0" advTm="30000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as-IN" sz="4050" dirty="0">
                <a:latin typeface="SutonnyMJ" pitchFamily="2" charset="0"/>
              </a:rPr>
              <a:t>১</a:t>
            </a:r>
            <a:r>
              <a:rPr lang="en-US" sz="4050" dirty="0">
                <a:latin typeface="SutonnyMJ" pitchFamily="2" charset="0"/>
              </a:rPr>
              <a:t>৯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মাছ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কিসের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সাহায্যে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শ্বাসকার্য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চালায়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</a:t>
            </a:r>
            <a:r>
              <a:rPr lang="en-US" sz="3600" dirty="0" err="1">
                <a:latin typeface="SulekhaT" pitchFamily="2" charset="0"/>
              </a:rPr>
              <a:t>নাসারন্ধ</a:t>
            </a:r>
            <a:r>
              <a:rPr lang="en-US" sz="3600" dirty="0">
                <a:latin typeface="SulekhaT" pitchFamily="2" charset="0"/>
              </a:rPr>
              <a:t>			খ) </a:t>
            </a:r>
            <a:r>
              <a:rPr lang="en-US" sz="3600" dirty="0" err="1">
                <a:latin typeface="SulekhaT" pitchFamily="2" charset="0"/>
              </a:rPr>
              <a:t>ফুসফুস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ফুলকা</a:t>
            </a:r>
            <a:r>
              <a:rPr lang="en-US" sz="3600" dirty="0">
                <a:latin typeface="SulekhaT" pitchFamily="2" charset="0"/>
              </a:rPr>
              <a:t>			ঘ) </a:t>
            </a:r>
            <a:r>
              <a:rPr lang="en-US" sz="3600" dirty="0" err="1">
                <a:latin typeface="SulekhaT" pitchFamily="2" charset="0"/>
              </a:rPr>
              <a:t>আলভিউলাই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50616"/>
      </p:ext>
    </p:extLst>
  </p:cSld>
  <p:clrMapOvr>
    <a:masterClrMapping/>
  </p:clrMapOvr>
  <p:transition spd="slow" advClick="0" advTm="30000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90" y="1776177"/>
            <a:ext cx="6872027" cy="990600"/>
          </a:xfrm>
        </p:spPr>
        <p:txBody>
          <a:bodyPr>
            <a:noAutofit/>
          </a:bodyPr>
          <a:lstStyle/>
          <a:p>
            <a:r>
              <a:rPr lang="en-US" sz="4050" dirty="0">
                <a:latin typeface="SutonnyMJ" pitchFamily="2" charset="0"/>
              </a:rPr>
              <a:t>২০</a:t>
            </a:r>
            <a:r>
              <a:rPr lang="as-IN" sz="4050" dirty="0">
                <a:latin typeface="SutonnyMJ" pitchFamily="2" charset="0"/>
              </a:rPr>
              <a:t>।</a:t>
            </a:r>
            <a:r>
              <a:rPr lang="en-US" sz="4050" dirty="0" err="1">
                <a:latin typeface="SutonnyMJ" pitchFamily="2" charset="0"/>
              </a:rPr>
              <a:t>গায়ে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ডোরাকাটা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দাগ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দেখা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যায়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কোন</a:t>
            </a:r>
            <a:r>
              <a:rPr lang="en-US" sz="4050" dirty="0">
                <a:latin typeface="SutonnyMJ" pitchFamily="2" charset="0"/>
              </a:rPr>
              <a:t> </a:t>
            </a:r>
            <a:r>
              <a:rPr lang="en-US" sz="4050" dirty="0" err="1">
                <a:latin typeface="SutonnyMJ" pitchFamily="2" charset="0"/>
              </a:rPr>
              <a:t>চিংড়ীর</a:t>
            </a:r>
            <a:r>
              <a:rPr lang="en-US" sz="4050" dirty="0">
                <a:latin typeface="SutonnyMJ" pitchFamily="2" charset="0"/>
              </a:rPr>
              <a:t> ?</a:t>
            </a:r>
            <a:br>
              <a:rPr lang="en-US" sz="4050" dirty="0">
                <a:latin typeface="SutonnyMJ" pitchFamily="2" charset="0"/>
              </a:rPr>
            </a:br>
            <a:r>
              <a:rPr lang="en-US" sz="4050" dirty="0">
                <a:latin typeface="SutonnyMJ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6" y="3800854"/>
            <a:ext cx="7001093" cy="291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ক) </a:t>
            </a:r>
            <a:r>
              <a:rPr lang="en-US" sz="3600" dirty="0" err="1">
                <a:latin typeface="SulekhaT" pitchFamily="2" charset="0"/>
              </a:rPr>
              <a:t>বাগদা</a:t>
            </a:r>
            <a:r>
              <a:rPr lang="en-US" sz="3600" dirty="0">
                <a:latin typeface="SulekhaT" pitchFamily="2" charset="0"/>
              </a:rPr>
              <a:t>					খ) </a:t>
            </a:r>
            <a:r>
              <a:rPr lang="en-US" sz="3600" dirty="0" err="1">
                <a:latin typeface="SulekhaT" pitchFamily="2" charset="0"/>
              </a:rPr>
              <a:t>গলদা</a:t>
            </a:r>
            <a:endParaRPr lang="en-US" sz="3600" dirty="0">
              <a:latin typeface="SulekhaT" pitchFamily="2" charset="0"/>
            </a:endParaRPr>
          </a:p>
          <a:p>
            <a:pPr marL="0" indent="0">
              <a:buNone/>
            </a:pPr>
            <a:r>
              <a:rPr lang="en-US" sz="3600" dirty="0">
                <a:latin typeface="SulekhaT" pitchFamily="2" charset="0"/>
              </a:rPr>
              <a:t>গ) </a:t>
            </a:r>
            <a:r>
              <a:rPr lang="en-US" sz="3600" dirty="0" err="1">
                <a:latin typeface="SulekhaT" pitchFamily="2" charset="0"/>
              </a:rPr>
              <a:t>দেশী</a:t>
            </a:r>
            <a:r>
              <a:rPr lang="en-US" sz="3600" dirty="0">
                <a:latin typeface="SulekhaT" pitchFamily="2" charset="0"/>
              </a:rPr>
              <a:t>					ঘ) </a:t>
            </a:r>
            <a:r>
              <a:rPr lang="en-US" sz="3600" dirty="0" err="1">
                <a:latin typeface="SulekhaT" pitchFamily="2" charset="0"/>
              </a:rPr>
              <a:t>বিদেশী</a:t>
            </a:r>
            <a:endParaRPr lang="en-US" sz="3600" dirty="0">
              <a:latin typeface="Spirko Ultra Light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31238"/>
      </p:ext>
    </p:extLst>
  </p:cSld>
  <p:clrMapOvr>
    <a:masterClrMapping/>
  </p:clrMapOvr>
  <p:transition spd="slow" advClick="0" advTm="30000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249" y="2933700"/>
            <a:ext cx="6447501" cy="990600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Thanks to All</a:t>
            </a:r>
          </a:p>
        </p:txBody>
      </p:sp>
    </p:spTree>
    <p:extLst>
      <p:ext uri="{BB962C8B-B14F-4D97-AF65-F5344CB8AC3E}">
        <p14:creationId xmlns:p14="http://schemas.microsoft.com/office/powerpoint/2010/main" val="2658836550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733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67">
                                          <p:stCondLst>
                                            <p:cond delay="273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39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249" decel="50000">
                                          <p:stCondLst>
                                            <p:cond delay="9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249" y="2933700"/>
            <a:ext cx="6447501" cy="990600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Answer</a:t>
            </a:r>
            <a:br>
              <a:rPr lang="en-US" sz="7200" dirty="0"/>
            </a:br>
            <a:r>
              <a:rPr lang="en-US" sz="2400" dirty="0"/>
              <a:t>১।গ, ২।গ, ৩।ঘ, ৪। ক, ৫। গ, ৬।ঘ , ৭। খ, ৮।ক, ৯। গ, ১০।ঘ, ১১।   খ, ১২।গ, ১৩। গ, ১৪।  গ, ১৫। ঘ, ১৬।খ,  ১৭। গ, ১৮। খ, ১৯। গ, ১০। ক </a:t>
            </a:r>
          </a:p>
        </p:txBody>
      </p:sp>
    </p:spTree>
    <p:extLst>
      <p:ext uri="{BB962C8B-B14F-4D97-AF65-F5344CB8AC3E}">
        <p14:creationId xmlns:p14="http://schemas.microsoft.com/office/powerpoint/2010/main" val="3870270037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733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67">
                                          <p:stCondLst>
                                            <p:cond delay="273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70" accel="50000">
                                          <p:stCondLst>
                                            <p:cond delay="27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39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249" decel="50000">
                                          <p:stCondLst>
                                            <p:cond delay="9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240</TotalTime>
  <Words>700</Words>
  <Application>Microsoft Office PowerPoint</Application>
  <PresentationFormat>On-screen Show (4:3)</PresentationFormat>
  <Paragraphs>58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Century Schoolbook</vt:lpstr>
      <vt:lpstr>Shonar Bangla</vt:lpstr>
      <vt:lpstr>Spirko Ultra Light</vt:lpstr>
      <vt:lpstr>SulekhaT</vt:lpstr>
      <vt:lpstr>SutonnyMJ</vt:lpstr>
      <vt:lpstr>Wingdings 2</vt:lpstr>
      <vt:lpstr>View</vt:lpstr>
      <vt:lpstr> Agriculture Quiz Test  Questions: 20 Time: 14min</vt:lpstr>
      <vt:lpstr>১।নিচের কোনটি দানাজাতীয় ফসল?</vt:lpstr>
      <vt:lpstr>২।নিচের কোনটি সবুজ সার জাতীয় ফসল? </vt:lpstr>
      <vt:lpstr>৩।নিচের কোনটি উদ্যান ফসল?</vt:lpstr>
      <vt:lpstr>৪।নিচের কোন ফসলটি বেশি যত্নে চাষ করা হয়?</vt:lpstr>
      <vt:lpstr>৫।মাছ কোন পর্বের অন্তর্ভুক্ত? </vt:lpstr>
      <vt:lpstr>৬।।কৃষিবন কোন বনায়নের অন্তর্ভুক্ত? </vt:lpstr>
      <vt:lpstr>৭।নিচের কোনটি বহুমুখী গবেষণা প্রতিস্ঠান?</vt:lpstr>
      <vt:lpstr>৮।কোন উৎস থেকে কৃষক কৃষি বিষয়ক সকল তথ্য পেতে পারে?</vt:lpstr>
      <vt:lpstr>৯।নিচের কোনটি কৃষির উচ্চশিক্ষা প্রতিষ্ঠান? </vt:lpstr>
      <vt:lpstr>১০।নিচের কোনটি কৃষি বিশ্ববিদ্যালয় ও কৃষকদের সাথে যোগাযোগ করে? </vt:lpstr>
      <vt:lpstr>১1।এটি কোন মাছ ?  </vt:lpstr>
      <vt:lpstr>১২।মাছে কোন খাদ্য উপাদান বেশী থাকে ?  </vt:lpstr>
      <vt:lpstr>১৩।নিচের কোনটি রাক্ষুসে মাছ ?  </vt:lpstr>
      <vt:lpstr>১৪।পুকুরে মাটি, পানি, অম্ল ও দূষনমুক্ত করতে কি প্রয়োগ করা হয়?   </vt:lpstr>
      <vt:lpstr>১৫।রাজপুটির ফুলকা পচা রোগের জীবাণু কোনটি ?  </vt:lpstr>
      <vt:lpstr>১৬।কত সালে নাইলোটিকা মাছ থাইল্যান্ড থেকে আনা হয় ? </vt:lpstr>
      <vt:lpstr>১৭।মাছের সম্পূরক খাদ্য কোনটি ?   </vt:lpstr>
      <vt:lpstr>১৮।নিচের মাছটি কোন চিংড়ী ?   </vt:lpstr>
      <vt:lpstr>১৯।মাছ কিসের সাহায্যে শ্বাসকার্য চালায়  </vt:lpstr>
      <vt:lpstr>২০।গায়ে ডোরাকাটা দাগ দেখা যায় কোন চিংড়ীর ?  </vt:lpstr>
      <vt:lpstr>Thanks to All</vt:lpstr>
      <vt:lpstr>Answer ১।গ, ২।গ, ৩।ঘ, ৪। ক, ৫। গ, ৬।ঘ , ৭। খ, ৮।ক, ৯। গ, ১০।ঘ, ১১।   খ, ১২।গ, ১৩। গ, ১৪।  গ, ১৫। ঘ, ১৬।খ,  ১৭। গ, ১৮। খ, ১৯। গ, ১০। ক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Test  Total question: 20 Time: 15min</dc:title>
  <dc:creator>user</dc:creator>
  <cp:lastModifiedBy>Abdullah Limon</cp:lastModifiedBy>
  <cp:revision>55</cp:revision>
  <dcterms:created xsi:type="dcterms:W3CDTF">2025-10-18T13:50:49Z</dcterms:created>
  <dcterms:modified xsi:type="dcterms:W3CDTF">2025-10-23T01:21:45Z</dcterms:modified>
</cp:coreProperties>
</file>