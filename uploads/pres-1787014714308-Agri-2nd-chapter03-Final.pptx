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3" r:id="rId5"/>
    <p:sldId id="284" r:id="rId6"/>
    <p:sldId id="285" r:id="rId7"/>
    <p:sldId id="286" r:id="rId8"/>
    <p:sldId id="287" r:id="rId9"/>
    <p:sldId id="293" r:id="rId10"/>
    <p:sldId id="288" r:id="rId11"/>
    <p:sldId id="263" r:id="rId12"/>
    <p:sldId id="264" r:id="rId13"/>
    <p:sldId id="289" r:id="rId14"/>
    <p:sldId id="290" r:id="rId15"/>
    <p:sldId id="266" r:id="rId16"/>
    <p:sldId id="268" r:id="rId17"/>
    <p:sldId id="269" r:id="rId18"/>
    <p:sldId id="270" r:id="rId19"/>
    <p:sldId id="271" r:id="rId20"/>
    <p:sldId id="272" r:id="rId21"/>
    <p:sldId id="295" r:id="rId22"/>
    <p:sldId id="274" r:id="rId23"/>
    <p:sldId id="294" r:id="rId24"/>
    <p:sldId id="296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10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94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70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6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5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56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4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34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74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5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70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31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4CAF5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1B5E2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15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 পশুপালন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পত্রঃ অধ্যায় ০৩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3044952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কৃষিবিদ আব্দুল্লাহ আল আমিন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অনার্স (কৃষি), মাস্টার্স ইন প্ল্যান্ট প্যাথলজি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প্রভাষক, রাজেন্দ্রপুর ক্যান্টনমেন্ট পাবলিক কলেজ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০১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পাঠ-৫: ছাগলের জাত ও বৈশিষ্ট্য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 পালনের গুরুত্ব ও সাধারণ পরিচিতি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1F8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91440" cy="1143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07592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বাংলাদেশে প্রায় ৬০% পরিবার ছাগল পালন করে জীবিকা নির্বাহ ও আমিষের চাহিদা পূরণ করে। স্বল্প ব্যয়, কম খাদ্য চাহিদা এবং উচ্চ উৎপাদনশীলতার কারণে ছাগলকে 'দরিদ্রের গাভী' বলা হয়। পৃথিবীতে প্রায় ৩০০ জাতের ছাগল রয়েছে।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মূল বৈশিষ্ট্য ও অর্থনৈতিক দিকসমূহ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1143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91256"/>
            <a:ext cx="2654046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দরিদ্রের গাভী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স্বল্প পুঁজি ও খাদ্য খরচে সহজ লালন-পালন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0702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0702" y="3191256"/>
            <a:ext cx="2654046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Shape 17"/>
          <p:cNvSpPr/>
          <p:nvPr/>
        </p:nvSpPr>
        <p:spPr>
          <a:xfrm>
            <a:off x="3586734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20" name="Text 18"/>
          <p:cNvSpPr/>
          <p:nvPr/>
        </p:nvSpPr>
        <p:spPr>
          <a:xfrm>
            <a:off x="3586734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9302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31870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চাহিদা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9302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খাসির মাংস, চামড়া ও পশমের বিশ্বব্যাপী সুনাম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4204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4204" y="3191256"/>
            <a:ext cx="2654046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0236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27" name="Text 25"/>
          <p:cNvSpPr/>
          <p:nvPr/>
        </p:nvSpPr>
        <p:spPr>
          <a:xfrm>
            <a:off x="6460236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32804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🥛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5372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ঔষধি গুণ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32804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ছাগলের দুধ যক্ষ্মা ও হাঁপানি রোগের প্রতিষেধক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7706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77706" y="3191256"/>
            <a:ext cx="2654046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Shape 31"/>
          <p:cNvSpPr/>
          <p:nvPr/>
        </p:nvSpPr>
        <p:spPr>
          <a:xfrm>
            <a:off x="9333738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34" name="Text 32"/>
          <p:cNvSpPr/>
          <p:nvPr/>
        </p:nvSpPr>
        <p:spPr>
          <a:xfrm>
            <a:off x="9333738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06306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278874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 প্রতিরোধ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06306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রোগ-বালাই তুলনামূলক অনেক কম হয়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দেশি জাত: ব্ল্যাক বেঙ্গল ছাগল (Black Bengal)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ও বিস্তার: বাংলাদেশ এবং ভারতের পশ্চিমবঙ্গ, মেঘালয় ও আসামের নিজস্ব জাত।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মাংসের মান: অত্যন্ত সুস্বাদু, নরম ও বিশ্বজুড়ে উচ্চ চাহিদাসম্পন্ন উন্নত মানের মাংস।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শারীরিক গঠন: দেহের গড়ন আঁটসাঁট, পা খাটো ও মজবুত। কান খাটো ও সোজা ওপরের দিকে থাকে। শিং কালো ও ১০ সেমি লম্বা।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প্রজনন ক্ষমতা: ৭-৮ মাসে প্রজননক্ষম হয় এবং ১৩-১৪ মাসে প্রথম বাচ্চা দেয়। বছরে ২ বার ২-৪টি করে বাচ্চা দেয়।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ওজন ও দুধ: পূর্ণবয়স্ক ছাগলের ওজন ৩৫ কেজি পর্যন্ত হয় এবং দৈনিক ০.৫-১.০ লিটার দুধ দেয়।</a:t>
            </a:r>
            <a:endParaRPr lang="en-US" sz="1800" dirty="0"/>
          </a:p>
        </p:txBody>
      </p:sp>
      <p:pic>
        <p:nvPicPr>
          <p:cNvPr id="6" name="Image 0" descr="/home/assunnah/ai.bigosofts.com/uploads/img_sess-mswl3os9-s4cnt7h_b3dbc7da-d855-40f3-b7cd-6783ba5c4da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3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জাত: এ্যাংলো নোবিয়ান (Anglo-Nubian)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সংকর জাত: নোবিয়ান ও ইংলিশ জাতের ছাগলের মধ্যে সফল সংকরায়ণের মাধ্যমে এ জাত সৃষ্টি করা হয়েছে।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দ্বিমুখী উৎপাদন: এ জাতের ছাগল থেকে উচ্চমানের দুধ ও সুস্বাদু মাংস উভয়ই প্রচুর পরিমাণে পাওয়া যায়।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শারীরিক বৈশিষ্ট্য: শরীরের রং সাদা, কালো, বাদামি বা মিশ্র। পা বেশ লম্বা এবং ওলান সুগঠিত ও বড়। এদের কোনো শিং থাকে না।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দুগ্ধ উৎপাদন: দৈনিক গড়ে ৫-৬ লিটার দুধ দিয়ে থাকে।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দুধের গুণমান: এদের দুধে চর্বির বা ফ্যাটের পরিমাণ প্রায় ৪.৫%, যা অত্যন্ত পুষ্টিকর।</a:t>
            </a:r>
            <a:endParaRPr lang="en-US" sz="1800" dirty="0"/>
          </a:p>
        </p:txBody>
      </p:sp>
      <p:pic>
        <p:nvPicPr>
          <p:cNvPr id="6" name="Image 0" descr="/home/assunnah/ai.bigosofts.com/uploads/img_sess-mswl3os9-s4cnt7h_692761b3-6500-43ed-846b-7434ff7ca29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7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জাত: যমুনাপাড়ি বা রাম ছাগল (Jamunapari)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উৎপত্তিস্থল: ভারতের যমুনা ও চম্বল নদীর মধ্যবর্তী অববাহিকা অঞ্চলে এদের মূল আদি নিবাস।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দৈহিক গঠন: পা বেশ লম্বাটে, পেছনের পায়ে লম্বা ঘন লোম থাকে। কান লম্বা, চ্যাপ্টা, বাঁকা ও ঝুলন্ত। শিং খাটো ও চ্যাপ্টা।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দৈহিক ওজন: পূর্ণবয়স্ক ছাগল ৬৫-৯০ কেজি এবং ছাগী ৪০-৬০ কেজি পর্যন্ত ভারী হয়ে থাকে।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বাচ্চা প্রসব: বছরে সাধারণত একবার বাচ্চা দেয় এবং প্রতিবারে ১টি করে বাচ্চা প্রসব করে।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উৎপাদন: এই জাতের ছাগী প্রতিদিন গড়ে ২-৩ লিটার সুস্বাদু দুধ দেয়।</a:t>
            </a:r>
            <a:endParaRPr lang="en-US" sz="1800" dirty="0"/>
          </a:p>
        </p:txBody>
      </p:sp>
      <p:pic>
        <p:nvPicPr>
          <p:cNvPr id="6" name="Image 0" descr="/home/assunnah/ai.bigosofts.com/uploads/img_sess-mswl3os9-s4cnt7h_62bc8775-4e87-46ab-a129-0a8dd6f2de0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3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জাত: সানেন ছাগল (Saanen)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আদি নিবাস: ইউরোপের সুইজারল্যান্ড সানেন জাতের ছাগলের মূল উৎপত্তিস্থল।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দৈহিক রূপ: মুখ চিকন ও লম্বাটে। গায়ের রং সাদা বা গাঢ় বাদামি। কান খাড়া এবং গলা, কান ও ওলানে কালো দাগ থাকে।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দুগ্ধবতী: এদের দুধের রানি বলা হয়; ওলান বেশ বড় এবং প্রতিদিন প্রায় ৩-৫ লিটার দুধ দেয়। দুধে চর্বি ৪%।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শারীরিক গঠন: গলা লম্বা ও সরু, দেহ সুঠাম ও আকর্ষণীয় গড়নের।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ওজন সীমা: পূর্ণবয়স্ক পুরুষ ছাগলের ওজন ৭০-৭৫ কেজি এবং ছাগীর ওজন ৬০-৭০ কেজি হয়ে থাকে।</a:t>
            </a:r>
            <a:endParaRPr lang="en-US" sz="1800" dirty="0"/>
          </a:p>
        </p:txBody>
      </p:sp>
      <p:pic>
        <p:nvPicPr>
          <p:cNvPr id="6" name="Image 0" descr="/home/assunnah/ai.bigosofts.com/uploads/img_sess-mswl3os9-s4cnt7h_d647c7e5-9e0b-4732-a450-98426fbdc14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6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জাত: বিটল ছাগল (Beetal)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অঞ্চল: ভারতের পাঞ্জাব এবং পাকিস্তানের বিভিন্ন অঞ্চলে এই জাতের উৎপত্তি ও বিস্তার।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চেহারা ও কান: নাক রোমান বা বাঁকানো এবং শিং পেছনের দিকে বাঁকানো থাকে। কান বেশ লম্বা ও নিচের দিকে ঝুলানো।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দেহের বর্ণ ও আকার: আকারে বেশ বড়, পা লম্বা। গায়ের রং সাধারণত সাদা, কালো বা উজ্জ্বল বাদামি হতে পারে।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ওজন: পূর্ণবয়স্ক পুরুষ ছাগল প্রায় ৬৫ কেজি এবং স্ত্রী ছাগী গড়ে ৪৫ কেজি ওজনের হয়।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উৎপাদন ক্ষমতা: এই জাতের ছাগী দৈনিক গড়ে ৩-৪ লিটার উৎকৃষ্ট দুধ দেয়।</a:t>
            </a:r>
            <a:endParaRPr lang="en-US" sz="1800" dirty="0"/>
          </a:p>
        </p:txBody>
      </p:sp>
      <p:pic>
        <p:nvPicPr>
          <p:cNvPr id="6" name="Image 0" descr="/home/assunnah/ai.bigosofts.com/uploads/img_sess-mswl3os9-s4cnt7h_68434993-f95e-4726-994e-b6c78e73b15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5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ছাগলের প্রধান জাতসমূহের স্থিরচিত্র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/home/assunnah/ai.bigosofts.com/uploads/img_sess-7bf95bb9-8a59-45ea-abe5-6c87182_adf31b36-a083-47a8-ac01-57e9074c2dc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(বাংলাদেশ)</a:t>
            </a:r>
            <a:endParaRPr lang="en-US" sz="1000" dirty="0"/>
          </a:p>
        </p:txBody>
      </p:sp>
      <p:pic>
        <p:nvPicPr>
          <p:cNvPr id="7" name="Image 1" descr="/home/assunnah/ai.bigosofts.com/uploads/img_sess-7bf95bb9-8a59-45ea-abe5-6c87182_0290dff9-8dc3-4d96-8c81-97a8962f57c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যমুনাপাড়ি / রাম ছাগল (ভারত)</a:t>
            </a:r>
            <a:endParaRPr lang="en-US" sz="1000" dirty="0"/>
          </a:p>
        </p:txBody>
      </p:sp>
      <p:pic>
        <p:nvPicPr>
          <p:cNvPr id="9" name="Image 2" descr="/home/assunnah/ai.bigosofts.com/uploads/img_sess-7bf95bb9-8a59-45ea-abe5-6c87182_2a3f410e-a6a3-4464-9c02-4e72ca7dadec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অ্যাংলো নোবিয়ান (যুক্তরাজ্য সংকর)</a:t>
            </a:r>
            <a:endParaRPr lang="en-US" sz="1000" dirty="0"/>
          </a:p>
        </p:txBody>
      </p:sp>
      <p:pic>
        <p:nvPicPr>
          <p:cNvPr id="11" name="Image 3" descr="/home/assunnah/ai.bigosofts.com/uploads/img_sess-7bf95bb9-8a59-45ea-abe5-6c87182_27b3be08-5205-410c-b874-ab770a66baf5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সানেন ছাগল (সুইজারল্যান্ড)</a:t>
            </a:r>
            <a:endParaRPr lang="en-US" sz="1000" dirty="0"/>
          </a:p>
        </p:txBody>
      </p:sp>
      <p:pic>
        <p:nvPicPr>
          <p:cNvPr id="13" name="Image 4" descr="/home/assunnah/ai.bigosofts.com/uploads/img_sess-7bf95bb9-8a59-45ea-abe5-6c87182_c456b860-3834-4c8b-b582-34899788dfea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06240" y="3840480"/>
            <a:ext cx="3474720" cy="2926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বিটল ছাগল (পাঞ্জাব)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429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ও যমুনাপাড়ি (রাম ছাগল) এর তুলনামূলক পার্থক্য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তুলনার বিষয়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ছাগল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যমুনাপাড়ি (রাম ছাগল)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ও শিং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5384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খাটো, শিং কালো ও সরু।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লম্বা, শিং চ্যাপ্টা-খাটো এবং পায়ে লম্বা লোম থাকে।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কানের গঠন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5384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খাটো এবং সোজা ওপরের দিকে খাড়া থাকে।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73568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বেশ লম্বা, চ্যাপ্টা ও নিচের দিকে ঝুলানো থাকে।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ও বাট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5384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ছোট এবং বাট আকারে খাটো হয়।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সুগঠিত বড় এবং বাট অপেক্ষাকৃত লম্বা।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বাচ্চা প্রসব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5384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দু'বার এবং প্রতিবারে ২-৪টি বাচ্চা দেয়।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73568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একবার এবং প্রতিবারে সাধারণত ১টি বাচ্চা দেয়।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লোমের প্রকৃতি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5384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52544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অত্যন্ত মসৃণ, ছোট ও মোলায়েম।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73568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লম্বা প্রকৃতির, খসখসে ও ঘন।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দুধের উৎপাদন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15384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52544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তুলনামূলকভাবে কম দুধ দেয় (০.৫-১ লিটার)।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73568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0728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তুলনামূলকভাবে বেশি দুধ দেয় (২-৩ লিটার)।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মাংসের স্বাদ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384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মাংস অত্যন্ত সুস্বাদু ও উন্নতমানের।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973568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মাংস ততটা সুস্বাদু নয়।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4245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০২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পাঠ-৬: গরুর আবাসস্থল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আবাসস্থল ও গোশালা স্থাপনের নিয়মাবলি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স্থান নির্বাচন: উঁচু, শুষ্ক ও খোলামেলা স্থান নির্বাচন করতে হবে যাতে বৃষ্টির পানি না জমে।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বায়ু চলাচল ও পরিবেশ: ঘর যেন স্যাঁতসেঁতে না থাকে, পর্যাপ্ত আলো-বাতাস নিশ্চিত করতে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কাঠামো ও দেয়াল: নিচে ৯০ সেমি দেয়াল এবং ওপরে জালের বেড়া দেওয়া ভালো। বাঁশ, খড় বা টিনের চালা ব্যবহার্য।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জায়গার পরিমাপ: প্রতিটি গাভির জন্য ৫ বর্গমিটার স্থান এবং ঘরের উচ্চতা ২.৫-৩ মিটার হতে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বর্জ্য নিষ্কাশন: মেঝে পেছনের দিকে ঢালু রাখা প্রয়োজন যেন গোবর ও মূত্র সহজে ড্রেনে চলে যায়।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94efebce-e081-4f7a-b5de-1725136c152d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বাসস্থান পদ্ধতি ১: খোলা ঘর পদ্ধতি (Open Housing)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পদ্ধতির বিবরণ ও স্থান বণ্টন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প্রসব ও দুধ দোহন ছাড়া দিন-রাত পশুকে দেয়ালবেষ্টিত খোলা জায়গায় রাখা হয়।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প্রতিকূল আবহাওয়ায় আশ্রয়ের জন্য সংলগ্ন আচ্ছাদিত ঘর থাকে।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প্রতি গাভির জন্য মেঝেতে ৩.৫ বর্গমিটার আবৃত এবং ৭.০ বর্গমিটার খোলা জায়গা প্রয়োজন।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খাদ্য পাত্র ২-২.৫ ফুট এবং সংলগ্ন ১ ফুট চওড়া পানির পাত্র তৈরি করা হয়।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সব প্রজাতির পশুর জন্য উপযোগী ও বাংলাদেশে বহুল প্রচলিত।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সুবিধা ও সীমাবদ্ধতা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সুবিধা: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বয়স্ক বাছুর ও দুধহীন গাভির জন্য অত্যন্ত উপযোগী।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ওলান ও পায়ে আঘাত পাওয়ার ঝুঁকি কম থাকে।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নির্মাণ ব্যয় কম এবং সহজে সম্প্রসারণযোগ্য।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বাঁধা ঘর অপেক্ষা গাভি ৫-১০% বেশি দুধ দেয় এবং গরম হওয়া পশু সহজে শনাক্ত করা যায়।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অসুবিধা: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দুর্বল পশু সবল পশুর সাথে খাদ্যে প্রতিযোগিতা করতে পারে না এবং আক্রমণের ঝুঁকি থাকে।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930397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বাসস্থান পদ্ধতি ২: বাঁধা ঘর ও দ্বি-তল আবাস (RDA) পদ্ধতি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blurRad="1016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🏠  একসারি বিশিষ্ট গোশালা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অল্প সংখ্যক গবাদিপশুর জন্য পারিবারিক পর্যায়ে লম্বা এক সারিতে গাভি বেঁধে রাখা হয়। দাঁড়াবার জন্য ২ মিটার, পাশে ১২০ সেমি ও খাবারের জন্য ৬০ সেমি জায়গা লাগে। জিআই পাইপের পার্টিশন দেওয়া উত্তম।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064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blurRad="1016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🏢  দ্বি-সারি বিশিষ্ট গোশালা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9224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অধিক পশুর জন্য উপযোগী। মুখোমুখি পদ্ধতিতে দুই সারির মাঝে ১ মিটার রাস্তা থাকে। বাহির মুখ (লেজের দিকে লেজ) পদ্ধতিতে পশুর লেজ সামনাসামনি ও মাথা বাইরের দিকে থাকে, যা দুধ দোহনে সুবিধাজনক।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6928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blurRad="1016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🏗️  দ্বি-তল আবাস (RDA পদ্ধতি)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4088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পল্লী উন্নয়ন একাডেমি (RDA) বগুড়া উদ্ভাবিত আধুনিক পদ্ধতি। পাকা দালানের নিচতলায় বায়োগ্যাস প্লান্ট ও পয়ঃনিষ্কাশন থাকে। উপরের তলায় যাওয়ার জন্য কম ঢালু ও ধাপবিহীন খসখসে সিঁড়ি তৈরি করতে হয়।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5025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গোশালার বিন্যাস ও প্রকারভেদ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F:\Commercial Project\pptx generator\pptx generator\uploads\img_sess-msxx5sog-8qty6is_232bb2b1-e586-4c00-b736-108beab2cfd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মুক্ত চারণ ও স্বল্প ব্যয়ের শেড</a:t>
            </a:r>
            <a:endParaRPr lang="en-US" sz="1000" dirty="0"/>
          </a:p>
        </p:txBody>
      </p:sp>
      <p:pic>
        <p:nvPicPr>
          <p:cNvPr id="7" name="Image 1" descr="F:\Commercial Project\pptx generator\pptx generator\uploads\img_sess-msxx5sog-8qty6is_c7d51f80-948d-485b-a30a-57fafc202ef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নিয়ন্ত্রিত ও নিরাপদ গোশালা</a:t>
            </a:r>
            <a:endParaRPr lang="en-US" sz="1000" dirty="0"/>
          </a:p>
        </p:txBody>
      </p:sp>
      <p:pic>
        <p:nvPicPr>
          <p:cNvPr id="9" name="Image 2" descr="F:\Commercial Project\pptx generator\pptx generator\uploads\img_sess-msxx5sog-8qty6is_2d24f991-4f83-45af-844a-5054ee0e012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অল্প সংখ্যক গবাদিপশুর জন্য উপযুক্ত</a:t>
            </a:r>
            <a:endParaRPr lang="en-US" sz="1000" dirty="0"/>
          </a:p>
        </p:txBody>
      </p:sp>
      <p:pic>
        <p:nvPicPr>
          <p:cNvPr id="11" name="Image 3" descr="F:\Commercial Project\pptx generator\pptx generator\uploads\img_sess-msxx5sog-8qty6is_b13aa4f8-968f-4c6b-bc0f-f6d2983aeaf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মুখোমুখি বা বহির্মুখী পদ্ধতি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০৩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পাঠ-৭: গরুর খাদ্য ব্যবস্থাপনা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খাদ্যের শ্রেণিবিভাগ ও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🌾  আঁশ জাতীয় খাদ্য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 ও শুকনো ঘাস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কাঁচা সবুজ ঘাস (নেপিয়ার, পারা)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গাছের সবুজ পাতা ও লতাগুল্ম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ও সাইলেজ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4904" y="1097280"/>
            <a:ext cx="3819144" cy="5486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🥣  দানাদার খাদ্য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67784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বিভিন্ন খৈল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চিটাগুড় ও প্রোটিন সম্পূরক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6928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⚖️  সুষম খাদ্যের উপাদান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9808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(Proteins)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শর্করা (Carbohydrates)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স্নেহপদার্থ (Fats)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ভিটামিন ও প্রয়োজনীয় খনিজ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আঁশযুক্ত খাদ্য ও সবুজ ঘাসের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খড়: দৈনিক ২-৩ কেজি শুকনো খড় খাওয়াতে হয়। চিটাগুড় বা ইউরিয়া মিশিয়ে পুষ্টিমান বহুগুণ বাড়ানো যায়।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কাঁচা ঘাস: গবাদিপশুর প্রধান খাদ্য। দেশি গরুর জন্য দৈনিক ৮-১০ কেজি এবং উন্নত জাতের জন্য ১২-১৫ কেজি প্রয়োজন।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উন্নত জাতের ঘাস: নেপিয়ার, পারা, জার্মান, ভুট্টা, ওটস, কাউপি ইত্যাদি অত্যন্ত পুষ্টিকর।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পাতা: ইপিল-ইপিল, কাঁঠাল, ধইঞ্চার পাতা এবং কচুরিপানা পুষ্টিকর খাদ্য হিসেবে ব্যবহৃত হয়।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4269844d-133b-4310-9cac-5ed371705a6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দানাদার খাদ্যের দৈনিক চাহিদা ও আদর্শ মিশ্রণ তালিকা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পশুর ধরন / উপাদান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দৈনিক পরিমাণ / ১০ কেজির মিশ্রণ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গুরুত্বপূর্ণ নির্দেশনা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বাড়ন্ত বাছুর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5384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০.৫০ - ০.৮ কেজি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হাড় ও মাংসপেশির বৃদ্ধির জন্য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দেশি দুগ্ধবতী গাভি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5384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১.৫ - ২.০ কেজি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73568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প্রতিদিন দুধ উৎপাদনের অনুপাতে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 উন্নত দুগ্ধবতী গাভি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5384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৪.৫ কেজি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দুধ ও শারীরিক সক্ষমতা রক্ষায়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৪. প্রজনন ষাঁড়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5384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৩.৫ কেজি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73568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বীর্য উৎপাদন ও বীর্যমান বজায় রাখতে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5384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52544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৫.০ কেজি + ২.০ কেজি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73568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প্রধান শক্তির উৎস (কার্বোহাইড্রেট)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সরিষার খৈল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15384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52544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১.৬ কেজি + ১.২ কেজি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73568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0728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বা প্রোটিনের প্রধান উৎস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384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১০০ গ্রাম + ১০০ গ্রাম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973568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হরমোন, এনজাইম ও শারীরিক ভারসাম্য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পানি সরবরাহ নিয়ম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15384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 লিটার দুধে ৪ লিটার পানি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73568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পর্যাপ্ত পানি দিলে ২০% দুধ বৃদ্ধি পায়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০৪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পাঠ-৮: কাঁচা ঘাস সংরক্ষণ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কাঁচা ঘাসের প্রকারভেদ ও সংরক্ষণ পদ্ধতি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☀️  গ্রীষ্ম ও শীতকালীন ঘাস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গ্রীষ্মকালীন স্থায়ী ঘাস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নেপিয়ার, প্যারা, জার্মান, গিনি, সিগনাল, পেঙ্গোলা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350520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0520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গ্রীষ্মকালীন অস্থায়ী ঘাস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সরগম, ভুট্টা, বাকশা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504444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504444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শীতকালীন ঘাস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কাউপি, মাসকলাই, বারশিম, খেসারি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4904" y="1097280"/>
            <a:ext cx="3819144" cy="5486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🌱  শিম্বীজাতীয় (Legume) ঘাস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22064" y="196596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3504" y="196596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সেন্ট্রোসিমা ও স্টাইলো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প্রোটিনযুক্ত লতানো ও ঝোপালো ঘাস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2064" y="350520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3504" y="350520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ডেসমোডিয়াম ও কাউপি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নাইট্রোজেন সংবন্ধনকারী পুষ্টিকর ঘাস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22064" y="504444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3504" y="504444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পুষ্টিমান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সাধারণ ঘাসের চেয়ে দ্বিগুণের বেশি প্রোটিন সমৃদ্ধ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86928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🌾  সংরক্ষণের প্রধান ৩টি পদ্ধতি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324088" y="196596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5528" y="196596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শুকনো খড় তৈরি (Straw)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ধানের খড় রোদে শুকিয়ে চিটাগুড় বা ইউরিয়া মিশিয়ে সংরক্ষণ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24088" y="350520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5528" y="350520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তৈরি (Hay Making)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ফুল আসার সময় কেটে শুকিয়ে আর্দ্রতা ১৫-২০% এ নামানো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24088" y="5044440"/>
            <a:ext cx="3544824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5528" y="5044440"/>
            <a:ext cx="3361944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সাইলেজ তৈরি (Silage)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বায়ুরোধী গর্তে ফারমেন্টেশন প্রক্রিয়ায় কাঁচা ঘাস সংরক্ষণ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09439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 সংরক্ষণ প্রযুক্তি: হে বনাম সাইলেজ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হে (Hay) তৈরির নিয়ম ও সাবধানতা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সবুজ ঘাসে ফুল আসার সময় কেটে রোদে শুকিয়ে প্রস্তুতকৃত খাদ্য (আর্দ্রতা ১৫-২০%, শুষ্ক পদার্থ ৮০-৮৫%)।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বারশিম, লুসার্ন, খেসারি, ওটস, যব, কাউপি।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রোদ ওঠার পর ঘাস কেটে ২-৩ দিন রোদে শুকিয়ে আর্দ্রতা ১৫%-এ নামিয়ে শুষ্ক স্থানে গাঁট বেঁধে সংরক্ষণ করা হয়।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সতর্কতা: ঘাসের পাতা যেন ঝরে না পড়ে, বৃষ্টিতে ভেজানো যাবে না।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সাইলেজ (Silage) তৈরির নিয়ম ও সাবধানতা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বায়ুরোধী সাইলোপিটে গাঁজন প্রক্রিয়ায় সংরক্ষিত রসালো সবুজ ঘাস। এতে উদ্বায়ী ফ্যাটি অ্যাসিড উৎপন্ন হয়ে ঘাসকে পচন থেকে রক্ষা করে।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ভুট্টা, জোয়ার, নেপিয়ার, গিনি (শর্করাযুক্ত)।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ফুল আসার আগে নরম অবস্থায় ঘাস কেটে টুকরো করে চিটাগুড় মিশিয়ে স্তরে স্তরে ঠেসে বায়ুহীন করে পলিথিনে ঢেকে রাখা হয়।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(Hay) প্রস্তুত প্রণালি ও সংরক্ষণ কৌশল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সংজ্ঞা ও উপযোগী ঘাস: কাঁচা ঘাসে ফুল আসার সময় কেটে রোদে শুকিয়ে আর্দ্রতা ১৫-২০% এ নামিয়ে তৈরি করা শুকনো সংরক্ষিত ঘাসকে 'হে' বলে। উপযোগী: ওটস, লুপার্ন, বারশিম, মাসকলাই, খেসারি, মটর।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কাটার সময়: সকালে কুয়াশা বা শিশির শুকিয়ে যাওয়ার পর ঘাস কাটতে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শুকানো পদ্ধতি: ২-৩ দিন রোদে ভালো করে উল্টিয়ে শুকাতে হবে যেন সমানভাবে আর্দ্রতা কমে।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সংরক্ষক ব্যবহার: আর্দ্রতা ১৫% এর বেশি থাকলে সোডিয়াম অ্যাসিটেট বা অ্যাসিটিক অ্যাসিড প্রিজারভেটিভ হিসেবে ব্যবহার্য।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প্রধান সতর্কতা: পাতা যেন ঝরে না যায় (পাতায় প্রোটিন বেশি থাকে) এবং আর্দ্রতা কোনোভাবেই ২০% এর বেশি রাখা যাবে না।</a:t>
            </a:r>
            <a:endParaRPr lang="en-US" sz="1800" dirty="0"/>
          </a:p>
        </p:txBody>
      </p:sp>
      <p:pic>
        <p:nvPicPr>
          <p:cNvPr id="6" name="Image 0" descr="/home/assunnah/ai.bigosofts.com/uploads/img_sess-7bf95bb9-8a59-45ea-abe5-6c87182_57f74908-ebfd-487d-9fa8-274f3294a33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00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(Hay) তৈরির ৫টি ধারাবাহিক ধাপ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57400"/>
            <a:ext cx="1933042" cy="2606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2203704"/>
            <a:ext cx="384048" cy="38404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2715768"/>
            <a:ext cx="1603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5216" y="3291840"/>
            <a:ext cx="167701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 নির্বাচন ও কর্তন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4050792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ফুল আসার সময় শিশির শুকানোর পর ঘাস কাটা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90242" y="308152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792578" y="2057400"/>
            <a:ext cx="1933042" cy="2606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8882" y="2203704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93888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57170" y="2715768"/>
            <a:ext cx="1603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20594" y="3291840"/>
            <a:ext cx="167701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রোদে শুকানো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38882" y="4050792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২-৩ দিন সমানভাবে উল্টিয়ে রোদ লাগানো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5619" y="308152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127955" y="2057400"/>
            <a:ext cx="1933042" cy="2606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1B5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74259" y="2203704"/>
            <a:ext cx="384048" cy="38404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5274259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92547" y="2715768"/>
            <a:ext cx="1603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55971" y="3291840"/>
            <a:ext cx="167701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আর্দ্রতা নিয়ন্ত্রণ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74259" y="4050792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আর্দ্রতা ১৫-২০% এ নামিয়ে আনা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60997" y="308152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7463333" y="2057400"/>
            <a:ext cx="1933042" cy="2606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09637" y="2203704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7609637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27925" y="2715768"/>
            <a:ext cx="1603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591349" y="3291840"/>
            <a:ext cx="167701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প্রিজারভেটিভ প্রয়োগ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09637" y="4050792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প্রয়োজনে সোডিয়াম অ্যাসিটেট ছিটানো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96374" y="308152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9798710" y="2057400"/>
            <a:ext cx="1933042" cy="2606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1B5E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45014" y="2203704"/>
            <a:ext cx="384048" cy="38404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014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963302" y="2715768"/>
            <a:ext cx="1603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926726" y="3291840"/>
            <a:ext cx="167701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বান্ডিল তৈরি ও গুদামজাত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45014" y="4050792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শুকনো বাতাসযুক্ত স্থানে প্যাক করে সংরক্ষণ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8893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০৫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পাঠ-৯ ও ১০: গরুর সংক্রামক রোগ ব্যবস্থাপনা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ভাইরাসজনিত সংক্রামক রোগ ও লক্ষণ-প্রতিকার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B5E2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ক্ষুরারোগ (FMD)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1B5E20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2c70b1ec-6911-4432-b204-514fba4677b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B5E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১০৩°-১০৭° ফারেনহাইট তীব্র জ্বর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ও নাক দিয়ে লালা ঝরা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জিহ্বা, মুখ ও ক্ষুরে ফোস্কা ও ঘা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ওলান ফুলে যাওয়া ও দুধ কমে যাওয়া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পশুকে নিয়মিত এফএমডি টিকা দেওয়া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৩% আইওসান দ্রবণ দিয়ে ক্ষত ধৌত করা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আক্রান্ত পশুকে নরম খাদ্য সরবরাহ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ফার্মে কঠোর বায়োসিকিউরিটি বজায় রাখা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গোবসন্ত / রিন্ডারপেস্ট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efacf8f3-aa3c-4e16-9647-8e45f348149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১০৫°-১০৭° ফারেনহাইট উচ্চ জ্বর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 ও চোখ দিয়ে পুঁজমিশ্রিত স্রাব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মুখে ঘা ও দুর্গন্ধযুক্ত রক্তমিশ্রিত ডায়রিয়া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পানিশূন্যতায় ৭-১২ দিনে মৃত্যু হতে পারে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প্রতিষেধক টিকা সময়মতো প্রদান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পটাশ পারম্যাঙ্গানেট দিয়ে মুখ পরিষ্কার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অ্যান্টিবায়োটিক ও তরল স্যালাইন দেওয়া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 পশু মাটিতে চুনসহ পুঁতে ফেলা</a:t>
            </a:r>
            <a:endParaRPr lang="en-US" sz="930" dirty="0"/>
          </a:p>
        </p:txBody>
      </p:sp>
      <p:sp>
        <p:nvSpPr>
          <p:cNvPr id="40" name="Shape 36"/>
          <p:cNvSpPr/>
          <p:nvPr/>
        </p:nvSpPr>
        <p:spPr>
          <a:xfrm>
            <a:off x="8110728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8110728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42" name="Shape 38"/>
          <p:cNvSpPr/>
          <p:nvPr/>
        </p:nvSpPr>
        <p:spPr>
          <a:xfrm>
            <a:off x="8110728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39"/>
          <p:cNvSpPr/>
          <p:nvPr/>
        </p:nvSpPr>
        <p:spPr>
          <a:xfrm>
            <a:off x="8257032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জলাতঙ্ক রোগ (Rabies)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229600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45" name="Image 2" descr="F:\Commercial Project\pptx generator\pptx generator\uploads\img_sess-msxx5sog-8qty6is_9b56267d-1c51-45d2-81a2-6e41fb545b39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47888" y="1636776"/>
            <a:ext cx="3346704" cy="1882521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8330184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330184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8293608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311896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5"/>
          <p:cNvSpPr/>
          <p:nvPr/>
        </p:nvSpPr>
        <p:spPr>
          <a:xfrm>
            <a:off x="8439912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85048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পাগলাটে আচরণ ও অন্যকে আক্রমণ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গলার পক্ষাঘাত ও নিচের চোয়াল ঝুলে পড়া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প্রচণ্ড পানির পিপাসা কিন্তু গিলতে অক্ষমতা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দিয়ে অবিরাম ফেনা ও লালা ঝরা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8293608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311896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4" name="Text 49"/>
          <p:cNvSpPr/>
          <p:nvPr/>
        </p:nvSpPr>
        <p:spPr>
          <a:xfrm>
            <a:off x="8439912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8385048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কামড়ের ৭ দিনের মধ্যে অ্যান্টি-রেবিজ ভ্যাকসিন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ক্ষতস্থান দ্রুত সাবান ও পানি দিয়ে ধোয়া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বন্যপ্রাণী ও বেওয়ারিশ কুকুর থেকে দূরে রাখা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 পরীক্ষা করার সময় গ্লাভস পরা</a:t>
            </a:r>
            <a:endParaRPr lang="en-US" sz="9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ব্যাকটেরিয়াজনিত রোগ ও নিয়ন্ত্রণ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B5E2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তড়কা রোগ (Anthrax)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1B5E20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c01a694a-cb10-4edb-bf6d-d390cd30a21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B5E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১০৪°-১০৬° ফা. জ্বর ও দ্রুত শ্বাস-প্রশ্বাস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নাক, মুখ ও মলদ্বার দিয়ে কালো আলকাতরার মতো রক্তপাত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খিঁচুনি, দাঁত কটমট করা ও তীব্র পেট ফাঁপা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রক্ত জমাট বাঁধে না ও দ্রুত মৃত্যু ঘটে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অবস্থায় অ্যানথ্রাক্স টিকা প্রদান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পেনিসিলিন ও ডিপোমাইসিন ইনজেকশন প্রয়োগ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মৃতদেহ না কেটে ২ মিটার গভীর গর্তে চুন দিয়ে পোঁতা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১০% NaOH দ্রবণ দ্বারা গোশালা জীবাণুমুক্তকরণ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162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গলাফুলা (Hemorrhagic Septicemia)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2efe17a1-0ebd-4d72-94c0-f1b7e9231504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শরীরের তাপমাত্রা অত্যধিক বৃদ্ধি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মাথা, ঘাড় ও গলা ফুলে শক্ত ও গরম হওয়া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শ্বাসনালিতে ঘড় ঘড় শব্দ ও তীব্র শ্বাসকষ্ট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পেটে ব্যথা, উদরাময় ও বিষণ্নতা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নিয়মিত গলাফুলা প্রতিষেধক টিকা দেওয়া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প্রাথমিক অবস্থায় সালফোনামাইড বা অ্যান্টিবায়োটিক প্রয়োগ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পশুকে নরম পুষ্টিকর খাদ্য দেওয়া</a:t>
            </a:r>
            <a:endParaRPr lang="en-US" sz="9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 থেকে আক্রান্ত পশুকে পৃথক রাখা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সংক্রামক রোগ প্রতিরোধ ও স্বাস্থ্যবিধি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খামারের সার্বিক বায়োসিকিউরিটি ও রোগ ব্যবস্থাপনার জন্য অবশ্য পালনীয় পদক্ষেপসমূহ: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645920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পশুকে তাৎক্ষণিকভাবে সুস্থ পশু থেকে আলাদা শেডে কোয়ারেন্টাইন করা।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450592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মারাত্মক সংক্রামক রোগে মারা যাওয়া পশুর মৃতদেহ না কেটে চুন সহযোগে মাটিতে পুঁতে ফেলা।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3255264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5526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55264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প্রাণী কোনো অবস্থাতেই হাট-বাজারে বিক্রি না করা।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059936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599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059936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গোয়ালঘরের ব্যবহৃত খড়-কুটা পুড়িয়ে ফেলা এবং স্যাভলন বা ব্লিচিং দিয়ে ঘর জীবাণুমুক্ত করা।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4864608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6460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86460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নির্দিষ্ট বয়সে প্রতিটি সংক্রামক রোগের টিকাদান কর্মসূচি কঠোরভাবে বাস্তবায়ন করা।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5669280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69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56692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বহিরাগত মানুষ ও অনিবন্ধিত পশুর অবাধ প্রবেশ সম্পূর্ণ নিষিদ্ধ করা।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blurRad="1524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০৬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পাঠ-১১ ও ১২: পরজীবী ও পরিপাকতন্ত্রের রোগ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পরজীবী ও প্রোটোজোয়াজনিত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🪱  গোলকৃমি (Roundworm)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ক্ষুধামন্দা, পুষ্টিহীনতা, ত্বক শুষ্ক হওয়া। প্রতিকার: ৩ মাস বয়সে বাছুরকে ফেনবেন্ডাজল বা লিভামিসোল সেবন।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🎗️  ফিতাকৃমি (Tapeworm)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অন্ত্রে বিষক্রিয়া, বদহজম, পেট ফোলা ও উদরাময়। প্রতিকার: বেনাজল বা হেলমেক্স কৃমিনাশক ওষুধ খাওয়ানো।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6448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🍃  পাতাকৃমি (Flukes)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রক্তশূন্যতা, দুর্গন্ধযুক্ত পাতলা মল, যকৃতে প্রদাহ। প্রতিকার: ফ্যাসিনেক্স বা অ্যালবেন্ডাজল নিয়মিত প্রয়োগ।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🩸  ব্যাবেসিওসিস (রক্তপ্রস্রাব)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আটালি বাহিত রোগ। কালচে লাল প্রস্রাব, উচ্চ জ্বর ও রক্তশূন্যতা। প্রতিকার: নিওসিডল স্প্রে ও বেবেনসিন ইনজেকশন।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06824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9976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🦠  কক্সিডিওসিস (রক্ত আমাশয়)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পায়খানার সাথে দলা রক্ত ও বিজল বের হওয়া। প্রতিকার: পরিষ্কার পরিবেশ ও সালফাডিমিডিন বড়ি সেবন।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6448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35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🧼  পরজীবী দমন কৌশল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66176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নিয়মিত ৩-৪ মাস পর পর কৃমিনাশক প্রদান এবং গোয়ালঘরের মেঝে শুকনো ও পরিচ্ছন্ন রাখা অপরিহার্য।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অপুষ্টিজনিত সমস্যা ও পরিপাকতন্ত্রের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অপুষ্টি ও ভিটামিনের অভাবজনিত সমস্যা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'এ' ঘাটতি: রাতকানা রোগ হয়। প্রতিকার: শালদুধ ও সবুজ কাঁচা ঘাস খাওয়ানো।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'ডি' ঘাটতি: হাড়ের বৃদ্ধি ব্যাহত ও রিকেটস হয়। প্রতিকার: খাদ্য মিশ্রণে সামুদ্রিক মাছের তেল প্রয়োগ।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খনিজ ঘাটতি: হাড় চিবানো ও ক্যালসিয়ামের অভাবে মিল্ক ফিভার (Milk Fever)। প্রতিকার: সুষম দানাদার খাদ্য, হাড়ের গুঁড়া ও খনিজ মিশ্রণ খাওয়ানো।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পরিপাকতন্ত্রের রোগ (পেটফাঁপা ও উদরাময়)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পেটফাঁপা (Tympanosis/Bloat): পেটের বাম পাশ অস্বাভাবিক ফুলে যাওয়া ও হাঁপিয়ে নিঃশ্বাস নেওয়া। প্রতিকার: ট্রোকার ও ক্যানুলা দিয়ে গ্যাস বের করা এবং ফরমালিন মিশ্রিত পানি খাওয়ানো।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উদরাময় (Diarrhoea): পচা খাদ্য বা জীবাণুর আক্রমণে পাতলা পায়খানা। প্রতিকার: পরিষ্কার পানি, বার্লি পানি, স্যালাইন ও ট্যানিক অ্যাসিড সেবন করানো।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4CAF5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1B5E2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10360152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ধন্যবাদ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0"/>
            <a:ext cx="3044952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46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সুস্থ ব্যবস্থাপনা ও সমৃদ্ধ বাংলাদেশ গড়ায় আমাদের অঙ্গীকার।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 | রাজেন্দ্রপুর ক্যান্টনমেন্ট পাবলিক কলেজ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2852</Words>
  <Application>Microsoft Office PowerPoint</Application>
  <PresentationFormat>Widescreen</PresentationFormat>
  <Paragraphs>375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Century Gothic</vt:lpstr>
      <vt:lpstr>Kalpurush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Presentation Generator</dc:creator>
  <cp:lastModifiedBy>Abdullah Limon</cp:lastModifiedBy>
  <cp:revision>2</cp:revision>
  <dcterms:created xsi:type="dcterms:W3CDTF">2026-08-18T00:32:41Z</dcterms:created>
  <dcterms:modified xsi:type="dcterms:W3CDTF">2026-08-18T00:53:30Z</dcterms:modified>
</cp:coreProperties>
</file>