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8"/>
  </p:notesMasterIdLst>
  <p:sldIdLst>
    <p:sldId id="256" r:id="rId2"/>
    <p:sldId id="323" r:id="rId3"/>
    <p:sldId id="269" r:id="rId4"/>
    <p:sldId id="324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dullah Limon" initials="AL" lastIdx="1" clrIdx="0">
    <p:extLst>
      <p:ext uri="{19B8F6BF-5375-455C-9EA6-DF929625EA0E}">
        <p15:presenceInfo xmlns:p15="http://schemas.microsoft.com/office/powerpoint/2012/main" userId="ccbb95a3173f64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0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D23A4-7872-4EDC-8B4E-B4F3D4C19AD5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1B3B5-C2E7-47F5-9B09-DD092E763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73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1B3B5-C2E7-47F5-9B09-DD092E7638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58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1B3B5-C2E7-47F5-9B09-DD092E7638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52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1B3B5-C2E7-47F5-9B09-DD092E76384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36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1B3B5-C2E7-47F5-9B09-DD092E76384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04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1B3B5-C2E7-47F5-9B09-DD092E76384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70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7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4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9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7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4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5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1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5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48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0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30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4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B33026C-CD84-4AB1-B98C-25DBADB9748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239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EDFE-A3E1-49FE-B561-0608A1CB1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মাঠ</a:t>
            </a:r>
            <a:r>
              <a:rPr lang="en-US" dirty="0"/>
              <a:t> ও </a:t>
            </a:r>
            <a:r>
              <a:rPr lang="en-US" dirty="0" err="1"/>
              <a:t>উদ্যান</a:t>
            </a:r>
            <a:r>
              <a:rPr lang="en-US" dirty="0"/>
              <a:t> </a:t>
            </a:r>
            <a:r>
              <a:rPr lang="en-US" dirty="0" err="1"/>
              <a:t>ফসল</a:t>
            </a:r>
            <a:r>
              <a:rPr lang="en-US" dirty="0"/>
              <a:t> </a:t>
            </a:r>
            <a:r>
              <a:rPr lang="en-US" dirty="0" err="1"/>
              <a:t>উৎপাদন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DD907-26D8-40C1-AEC7-C34E7C270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414244"/>
          </a:xfrm>
        </p:spPr>
        <p:txBody>
          <a:bodyPr>
            <a:normAutofit/>
          </a:bodyPr>
          <a:lstStyle/>
          <a:p>
            <a:r>
              <a:rPr lang="bn-IN" sz="2400" dirty="0"/>
              <a:t>কৃষিবিদ আব্দুল্লাহ–</a:t>
            </a:r>
            <a:r>
              <a:rPr lang="en-US" sz="2400" dirty="0"/>
              <a:t> </a:t>
            </a:r>
            <a:r>
              <a:rPr lang="bn-IN" sz="2400" dirty="0"/>
              <a:t>আল- আমিন,</a:t>
            </a:r>
          </a:p>
          <a:p>
            <a:r>
              <a:rPr lang="bn-IN" sz="2400" dirty="0"/>
              <a:t>প্রভাষক, রাজেন্দ্রপুর ক্যান্টনমেন্ট পাবলিক কলেজ, গাজীপুর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557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দানা</a:t>
            </a:r>
            <a:r>
              <a:rPr lang="en-US" dirty="0"/>
              <a:t> </a:t>
            </a:r>
            <a:r>
              <a:rPr lang="en-US" dirty="0" err="1"/>
              <a:t>জাতীয়</a:t>
            </a:r>
            <a:r>
              <a:rPr lang="en-US" dirty="0"/>
              <a:t> </a:t>
            </a:r>
            <a:r>
              <a:rPr lang="en-US" dirty="0" err="1"/>
              <a:t>ফসল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50" y="2493898"/>
            <a:ext cx="60024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/>
              <a:t>Gramineae </a:t>
            </a:r>
            <a:r>
              <a:rPr lang="en-US" sz="2800" dirty="0" err="1"/>
              <a:t>বা</a:t>
            </a:r>
            <a:r>
              <a:rPr lang="en-US" sz="2800" dirty="0"/>
              <a:t> </a:t>
            </a:r>
            <a:r>
              <a:rPr lang="en-US" sz="2800" dirty="0" err="1"/>
              <a:t>Poaceae</a:t>
            </a:r>
            <a:r>
              <a:rPr lang="en-US" sz="2800" dirty="0"/>
              <a:t> </a:t>
            </a:r>
            <a:r>
              <a:rPr lang="en-US" sz="2800" dirty="0" err="1"/>
              <a:t>পরিবারের</a:t>
            </a:r>
            <a:r>
              <a:rPr lang="en-US" sz="2800" dirty="0"/>
              <a:t> </a:t>
            </a:r>
            <a:r>
              <a:rPr lang="en-US" sz="2800" dirty="0" err="1"/>
              <a:t>ফসল</a:t>
            </a:r>
            <a:r>
              <a:rPr lang="en-US" sz="2800" dirty="0"/>
              <a:t> </a:t>
            </a:r>
            <a:r>
              <a:rPr lang="en-US" sz="2800" dirty="0" err="1"/>
              <a:t>যারা</a:t>
            </a:r>
            <a:r>
              <a:rPr lang="en-US" sz="2800" dirty="0"/>
              <a:t> </a:t>
            </a:r>
            <a:r>
              <a:rPr lang="en-US" sz="2800" dirty="0" err="1"/>
              <a:t>শ্বেতসার</a:t>
            </a:r>
            <a:r>
              <a:rPr lang="en-US" sz="2800" dirty="0"/>
              <a:t> </a:t>
            </a:r>
            <a:r>
              <a:rPr lang="en-US" sz="2800" dirty="0" err="1"/>
              <a:t>খাদ্য</a:t>
            </a:r>
            <a:r>
              <a:rPr lang="en-US" sz="2800" dirty="0"/>
              <a:t> </a:t>
            </a:r>
            <a:r>
              <a:rPr lang="en-US" sz="2800" dirty="0" err="1"/>
              <a:t>হিসেবে</a:t>
            </a:r>
            <a:r>
              <a:rPr lang="en-US" sz="2800" dirty="0"/>
              <a:t> </a:t>
            </a:r>
            <a:r>
              <a:rPr lang="en-US" sz="2800" dirty="0" err="1"/>
              <a:t>ব্যাবহৃত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 </a:t>
            </a:r>
            <a:r>
              <a:rPr lang="en-US" sz="2800" dirty="0" err="1"/>
              <a:t>তাদের</a:t>
            </a:r>
            <a:r>
              <a:rPr lang="en-US" sz="2800" dirty="0"/>
              <a:t> </a:t>
            </a:r>
            <a:r>
              <a:rPr lang="en-US" sz="2800" dirty="0" err="1"/>
              <a:t>দানা</a:t>
            </a:r>
            <a:r>
              <a:rPr lang="en-US" sz="2800" dirty="0"/>
              <a:t> </a:t>
            </a:r>
            <a:r>
              <a:rPr lang="en-US" sz="2800" dirty="0" err="1"/>
              <a:t>জাতীয়</a:t>
            </a:r>
            <a:r>
              <a:rPr lang="en-US" sz="2800" dirty="0"/>
              <a:t> </a:t>
            </a:r>
            <a:r>
              <a:rPr lang="en-US" sz="2800" dirty="0" err="1"/>
              <a:t>ফসল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। </a:t>
            </a:r>
            <a:r>
              <a:rPr lang="en-US" sz="2800" dirty="0" err="1"/>
              <a:t>যেমনঃ</a:t>
            </a:r>
            <a:r>
              <a:rPr lang="en-US" sz="2800" dirty="0"/>
              <a:t> </a:t>
            </a:r>
            <a:r>
              <a:rPr lang="en-US" sz="2800" dirty="0" err="1"/>
              <a:t>ধান</a:t>
            </a:r>
            <a:r>
              <a:rPr lang="en-US" sz="2800" dirty="0"/>
              <a:t>, </a:t>
            </a:r>
            <a:r>
              <a:rPr lang="en-US" sz="2800" dirty="0" err="1"/>
              <a:t>গম</a:t>
            </a:r>
            <a:r>
              <a:rPr lang="en-US" sz="2800" dirty="0"/>
              <a:t>, </a:t>
            </a:r>
            <a:r>
              <a:rPr lang="en-US" sz="2800" dirty="0" err="1"/>
              <a:t>ভুট্টা</a:t>
            </a:r>
            <a:r>
              <a:rPr lang="en-US" sz="2800" dirty="0"/>
              <a:t>।</a:t>
            </a:r>
          </a:p>
          <a:p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অতি</a:t>
            </a:r>
            <a:r>
              <a:rPr lang="en-US" sz="2800" dirty="0"/>
              <a:t> </a:t>
            </a:r>
            <a:r>
              <a:rPr lang="en-US" sz="2800" dirty="0" err="1"/>
              <a:t>ক্ষুদ্র</a:t>
            </a:r>
            <a:r>
              <a:rPr lang="en-US" sz="2800" dirty="0"/>
              <a:t> </a:t>
            </a:r>
            <a:r>
              <a:rPr lang="en-US" sz="2800" dirty="0" err="1"/>
              <a:t>দানা</a:t>
            </a:r>
            <a:r>
              <a:rPr lang="en-US" sz="2800" dirty="0"/>
              <a:t> </a:t>
            </a:r>
            <a:r>
              <a:rPr lang="en-US" sz="2800" dirty="0" err="1"/>
              <a:t>বিশিষ্ট</a:t>
            </a:r>
            <a:r>
              <a:rPr lang="en-US" sz="2800" dirty="0"/>
              <a:t> </a:t>
            </a:r>
            <a:r>
              <a:rPr lang="en-US" sz="2800" dirty="0" err="1"/>
              <a:t>ফসলকে</a:t>
            </a:r>
            <a:r>
              <a:rPr lang="en-US" sz="2800" dirty="0"/>
              <a:t> </a:t>
            </a:r>
            <a:r>
              <a:rPr lang="en-US" sz="2800" dirty="0" err="1"/>
              <a:t>মিলেট</a:t>
            </a:r>
            <a:r>
              <a:rPr lang="en-US" sz="2800" dirty="0"/>
              <a:t> </a:t>
            </a:r>
            <a:r>
              <a:rPr lang="en-US" sz="2800" dirty="0" err="1"/>
              <a:t>বলে</a:t>
            </a:r>
            <a:r>
              <a:rPr lang="en-US" sz="2800" dirty="0"/>
              <a:t>। </a:t>
            </a:r>
            <a:r>
              <a:rPr lang="en-US" sz="2800" dirty="0" err="1"/>
              <a:t>যেমনঃ</a:t>
            </a:r>
            <a:r>
              <a:rPr lang="en-US" sz="2800" dirty="0"/>
              <a:t> </a:t>
            </a:r>
            <a:r>
              <a:rPr lang="en-US" sz="2800" dirty="0" err="1"/>
              <a:t>কাউন</a:t>
            </a:r>
            <a:r>
              <a:rPr lang="en-US" sz="2800" dirty="0"/>
              <a:t>, </a:t>
            </a:r>
            <a:r>
              <a:rPr lang="en-US" sz="2800" dirty="0" err="1"/>
              <a:t>চীনা</a:t>
            </a:r>
            <a:r>
              <a:rPr lang="en-US" sz="2800" dirty="0"/>
              <a:t>, </a:t>
            </a:r>
            <a:r>
              <a:rPr lang="en-US" sz="2800" dirty="0" err="1"/>
              <a:t>জোয়ার</a:t>
            </a:r>
            <a:r>
              <a:rPr lang="en-US" sz="2800" dirty="0"/>
              <a:t>।</a:t>
            </a:r>
          </a:p>
        </p:txBody>
      </p:sp>
      <p:pic>
        <p:nvPicPr>
          <p:cNvPr id="1026" name="Picture 2" descr="What is the difference between a grain crop and a food crop? - Quora">
            <a:extLst>
              <a:ext uri="{FF2B5EF4-FFF2-40B4-BE49-F238E27FC236}">
                <a16:creationId xmlns:a16="http://schemas.microsoft.com/office/drawing/2014/main" id="{F4FCD9F3-4B6D-C07A-5D1F-D97EFB52F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287" y="2575375"/>
            <a:ext cx="2013017" cy="146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rop Today, Grain Tomorrow | Dry Bulk">
            <a:extLst>
              <a:ext uri="{FF2B5EF4-FFF2-40B4-BE49-F238E27FC236}">
                <a16:creationId xmlns:a16="http://schemas.microsoft.com/office/drawing/2014/main" id="{C227C2E6-F9CF-A49B-5B37-C5171F52C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287" y="4179226"/>
            <a:ext cx="2013017" cy="154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ome field photographs of different cropping patterns: (a) winter... |  Download Scientific Diagram">
            <a:extLst>
              <a:ext uri="{FF2B5EF4-FFF2-40B4-BE49-F238E27FC236}">
                <a16:creationId xmlns:a16="http://schemas.microsoft.com/office/drawing/2014/main" id="{57C2A89E-5DBC-2C74-DC85-1DACCE1BA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822" y="2558314"/>
            <a:ext cx="3383628" cy="316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10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দানা</a:t>
            </a:r>
            <a:r>
              <a:rPr lang="en-US" dirty="0"/>
              <a:t> </a:t>
            </a:r>
            <a:r>
              <a:rPr lang="en-US" dirty="0" err="1"/>
              <a:t>জাতীয়</a:t>
            </a:r>
            <a:r>
              <a:rPr lang="en-US" dirty="0"/>
              <a:t> </a:t>
            </a:r>
            <a:r>
              <a:rPr lang="en-US" dirty="0" err="1"/>
              <a:t>ফসলের</a:t>
            </a:r>
            <a:r>
              <a:rPr lang="en-US" dirty="0"/>
              <a:t> </a:t>
            </a:r>
            <a:r>
              <a:rPr lang="en-US" dirty="0" err="1"/>
              <a:t>বৈশিষ্ট্য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33D66-1832-4BAC-8528-25F031BDF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996446"/>
            <a:ext cx="4393973" cy="2147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ধানঃ</a:t>
            </a:r>
            <a:r>
              <a:rPr lang="en-US" sz="2400" dirty="0"/>
              <a:t> </a:t>
            </a:r>
            <a:r>
              <a:rPr lang="en-US" sz="2400" i="1" dirty="0"/>
              <a:t>Oryza sativa</a:t>
            </a:r>
          </a:p>
          <a:p>
            <a:pPr marL="0" indent="0">
              <a:buNone/>
            </a:pPr>
            <a:r>
              <a:rPr lang="en-US" sz="2400" dirty="0" err="1"/>
              <a:t>গমঃ</a:t>
            </a:r>
            <a:r>
              <a:rPr lang="en-US" sz="2400" dirty="0"/>
              <a:t> </a:t>
            </a:r>
            <a:r>
              <a:rPr lang="en-US" sz="2400" i="1" dirty="0"/>
              <a:t>Triticum aestivum</a:t>
            </a:r>
          </a:p>
          <a:p>
            <a:pPr marL="0" indent="0">
              <a:buNone/>
            </a:pPr>
            <a:r>
              <a:rPr lang="en-US" sz="2400" dirty="0" err="1"/>
              <a:t>ভুট্টাঃ</a:t>
            </a:r>
            <a:r>
              <a:rPr lang="en-US" sz="2400" dirty="0"/>
              <a:t> </a:t>
            </a:r>
            <a:r>
              <a:rPr lang="en-US" sz="2400" i="1" dirty="0" err="1"/>
              <a:t>Zea</a:t>
            </a:r>
            <a:r>
              <a:rPr lang="en-US" sz="2400" i="1" dirty="0"/>
              <a:t> mays</a:t>
            </a:r>
            <a:endParaRPr lang="bn-IN" sz="2400" i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B88C44-EB64-EA8B-EDF0-B39198418B1A}"/>
              </a:ext>
            </a:extLst>
          </p:cNvPr>
          <p:cNvSpPr txBox="1">
            <a:spLocks/>
          </p:cNvSpPr>
          <p:nvPr/>
        </p:nvSpPr>
        <p:spPr>
          <a:xfrm>
            <a:off x="810000" y="3841844"/>
            <a:ext cx="4393973" cy="280340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2400" dirty="0"/>
              <a:t>Gramineae </a:t>
            </a:r>
            <a:r>
              <a:rPr lang="en-US" sz="2400" dirty="0" err="1"/>
              <a:t>ফ্যামিলির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মাঠ</a:t>
            </a:r>
            <a:r>
              <a:rPr lang="en-US" sz="2400" dirty="0"/>
              <a:t> </a:t>
            </a:r>
            <a:r>
              <a:rPr lang="en-US" sz="2400" dirty="0" err="1"/>
              <a:t>ফসল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অগভীর</a:t>
            </a:r>
            <a:r>
              <a:rPr lang="en-US" sz="2400" dirty="0"/>
              <a:t> </a:t>
            </a:r>
            <a:r>
              <a:rPr lang="en-US" sz="2400" dirty="0" err="1"/>
              <a:t>গুচ্ছ</a:t>
            </a:r>
            <a:r>
              <a:rPr lang="en-US" sz="2400" dirty="0"/>
              <a:t> </a:t>
            </a:r>
            <a:r>
              <a:rPr lang="en-US" sz="2400" dirty="0" err="1"/>
              <a:t>মূল</a:t>
            </a:r>
            <a:r>
              <a:rPr lang="en-US" sz="2400" dirty="0"/>
              <a:t> </a:t>
            </a:r>
            <a:r>
              <a:rPr lang="en-US" sz="2400" dirty="0" err="1"/>
              <a:t>থাকে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কান্ড</a:t>
            </a:r>
            <a:r>
              <a:rPr lang="en-US" sz="2400" dirty="0"/>
              <a:t> </a:t>
            </a:r>
            <a:r>
              <a:rPr lang="en-US" sz="2400" dirty="0" err="1"/>
              <a:t>ফাপা</a:t>
            </a:r>
            <a:r>
              <a:rPr lang="en-US" sz="2400" dirty="0"/>
              <a:t> ও </a:t>
            </a:r>
            <a:r>
              <a:rPr lang="en-US" sz="2400" dirty="0" err="1"/>
              <a:t>গিটযুক্ত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একবর্ষজীবী</a:t>
            </a:r>
            <a:r>
              <a:rPr lang="en-US" sz="2400" dirty="0"/>
              <a:t> </a:t>
            </a:r>
            <a:r>
              <a:rPr lang="en-US" sz="2400" dirty="0" err="1"/>
              <a:t>বিরুত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দানায়</a:t>
            </a:r>
            <a:r>
              <a:rPr lang="en-US" sz="2400" dirty="0"/>
              <a:t> </a:t>
            </a:r>
            <a:r>
              <a:rPr lang="en-US" sz="2400" dirty="0" err="1"/>
              <a:t>শর্করা</a:t>
            </a:r>
            <a:r>
              <a:rPr lang="en-US" sz="2400" dirty="0"/>
              <a:t> </a:t>
            </a:r>
            <a:r>
              <a:rPr lang="en-US" sz="2400" dirty="0" err="1"/>
              <a:t>বেশী</a:t>
            </a:r>
            <a:endParaRPr lang="bn-IN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996ECD-82DA-0145-75F6-D65C3BB70D6A}"/>
              </a:ext>
            </a:extLst>
          </p:cNvPr>
          <p:cNvSpPr txBox="1">
            <a:spLocks/>
          </p:cNvSpPr>
          <p:nvPr/>
        </p:nvSpPr>
        <p:spPr>
          <a:xfrm>
            <a:off x="5796950" y="2283138"/>
            <a:ext cx="4393973" cy="40452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/>
              <a:t>দানাজাতীয়</a:t>
            </a:r>
            <a:r>
              <a:rPr lang="en-US" sz="2400" dirty="0"/>
              <a:t> </a:t>
            </a:r>
            <a:r>
              <a:rPr lang="en-US" sz="2400" dirty="0" err="1"/>
              <a:t>ফসলের</a:t>
            </a:r>
            <a:r>
              <a:rPr lang="en-US" sz="2400" dirty="0"/>
              <a:t> </a:t>
            </a:r>
            <a:r>
              <a:rPr lang="en-US" sz="2400" dirty="0" err="1"/>
              <a:t>গুরত্বঃ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 err="1"/>
              <a:t>প্রোটিন</a:t>
            </a:r>
            <a:r>
              <a:rPr lang="en-US" sz="2400" dirty="0"/>
              <a:t> , </a:t>
            </a:r>
            <a:r>
              <a:rPr lang="en-US" sz="2400" dirty="0" err="1"/>
              <a:t>আয়রন</a:t>
            </a:r>
            <a:r>
              <a:rPr lang="en-US" sz="2400" dirty="0"/>
              <a:t> ,</a:t>
            </a:r>
            <a:r>
              <a:rPr lang="en-US" sz="2400" dirty="0" err="1"/>
              <a:t>ভিটামিন</a:t>
            </a:r>
            <a:r>
              <a:rPr lang="en-US" sz="2400" dirty="0"/>
              <a:t> </a:t>
            </a:r>
            <a:r>
              <a:rPr lang="en-US" sz="2400" dirty="0" err="1"/>
              <a:t>বি</a:t>
            </a:r>
            <a:r>
              <a:rPr lang="en-US" sz="2400" dirty="0"/>
              <a:t>, </a:t>
            </a:r>
            <a:r>
              <a:rPr lang="en-US" sz="2400" dirty="0" err="1"/>
              <a:t>ফাইবার</a:t>
            </a:r>
            <a:r>
              <a:rPr lang="en-US" sz="2400" dirty="0"/>
              <a:t> </a:t>
            </a:r>
            <a:r>
              <a:rPr lang="en-US" sz="2400" dirty="0" err="1"/>
              <a:t>থাকে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 err="1"/>
              <a:t>আদ্রতা</a:t>
            </a:r>
            <a:r>
              <a:rPr lang="en-US" sz="2400" dirty="0"/>
              <a:t> কম </a:t>
            </a:r>
            <a:r>
              <a:rPr lang="en-US" sz="2400" dirty="0" err="1"/>
              <a:t>বিধায়</a:t>
            </a:r>
            <a:r>
              <a:rPr lang="en-US" sz="2400" dirty="0"/>
              <a:t> </a:t>
            </a:r>
            <a:r>
              <a:rPr lang="en-US" sz="2400" dirty="0" err="1"/>
              <a:t>গুদামে</a:t>
            </a:r>
            <a:r>
              <a:rPr lang="en-US" sz="2400" dirty="0"/>
              <a:t> </a:t>
            </a:r>
            <a:r>
              <a:rPr lang="en-US" sz="2400" dirty="0" err="1"/>
              <a:t>রাখা</a:t>
            </a:r>
            <a:r>
              <a:rPr lang="en-US" sz="2400" dirty="0"/>
              <a:t> </a:t>
            </a:r>
            <a:r>
              <a:rPr lang="en-US" sz="2400" dirty="0" err="1"/>
              <a:t>যায়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 err="1"/>
              <a:t>কোলেষ্টেরল</a:t>
            </a:r>
            <a:r>
              <a:rPr lang="en-US" sz="2400" dirty="0"/>
              <a:t> </a:t>
            </a:r>
            <a:r>
              <a:rPr lang="en-US" sz="2400" dirty="0" err="1"/>
              <a:t>কমায়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 err="1"/>
              <a:t>ক্যান্সার</a:t>
            </a:r>
            <a:r>
              <a:rPr lang="en-US" sz="2400" dirty="0"/>
              <a:t>, </a:t>
            </a:r>
            <a:r>
              <a:rPr lang="en-US" sz="2400" dirty="0" err="1"/>
              <a:t>কোষ্ট্যকাঠিন্য</a:t>
            </a:r>
            <a:r>
              <a:rPr lang="en-US" sz="2400" dirty="0"/>
              <a:t>, </a:t>
            </a:r>
            <a:r>
              <a:rPr lang="en-US" sz="2400" dirty="0" err="1"/>
              <a:t>উচ্চ</a:t>
            </a:r>
            <a:r>
              <a:rPr lang="en-US" sz="2400" dirty="0"/>
              <a:t> </a:t>
            </a:r>
            <a:r>
              <a:rPr lang="en-US" sz="2400" dirty="0" err="1"/>
              <a:t>রক্তচাপ</a:t>
            </a:r>
            <a:r>
              <a:rPr lang="en-US" sz="2400" dirty="0"/>
              <a:t> </a:t>
            </a:r>
            <a:r>
              <a:rPr lang="en-US" sz="2400" dirty="0" err="1"/>
              <a:t>রোধ</a:t>
            </a:r>
            <a:r>
              <a:rPr lang="en-US" sz="2400" dirty="0"/>
              <a:t> </a:t>
            </a:r>
            <a:r>
              <a:rPr lang="en-US" sz="2400" dirty="0" err="1"/>
              <a:t>করে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 err="1"/>
              <a:t>খড়</a:t>
            </a:r>
            <a:r>
              <a:rPr lang="en-US" sz="2400" dirty="0"/>
              <a:t> </a:t>
            </a:r>
            <a:r>
              <a:rPr lang="en-US" sz="2400" dirty="0" err="1"/>
              <a:t>উত্তম</a:t>
            </a:r>
            <a:r>
              <a:rPr lang="en-US" sz="2400" dirty="0"/>
              <a:t> </a:t>
            </a:r>
            <a:r>
              <a:rPr lang="en-US" sz="2400" dirty="0" err="1"/>
              <a:t>পশু</a:t>
            </a:r>
            <a:r>
              <a:rPr lang="en-US" sz="2400" dirty="0"/>
              <a:t> </a:t>
            </a:r>
            <a:r>
              <a:rPr lang="en-US" sz="2400" dirty="0" err="1"/>
              <a:t>খাদ্য</a:t>
            </a:r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 err="1"/>
              <a:t>সবজির</a:t>
            </a:r>
            <a:r>
              <a:rPr lang="en-US" sz="2400" dirty="0"/>
              <a:t> </a:t>
            </a:r>
            <a:r>
              <a:rPr lang="en-US" sz="2400" dirty="0" err="1"/>
              <a:t>থেকে</a:t>
            </a:r>
            <a:r>
              <a:rPr lang="en-US" sz="2400" dirty="0"/>
              <a:t> ১৫-২০ </a:t>
            </a:r>
            <a:r>
              <a:rPr lang="en-US" sz="2400" dirty="0" err="1"/>
              <a:t>গুণ</a:t>
            </a:r>
            <a:r>
              <a:rPr lang="en-US" sz="2400" dirty="0"/>
              <a:t> </a:t>
            </a:r>
            <a:r>
              <a:rPr lang="en-US" sz="2400" dirty="0" err="1"/>
              <a:t>বেশী</a:t>
            </a:r>
            <a:r>
              <a:rPr lang="en-US" sz="2400" dirty="0"/>
              <a:t> </a:t>
            </a:r>
            <a:r>
              <a:rPr lang="en-US" sz="2400" dirty="0" err="1"/>
              <a:t>পুষ্টি</a:t>
            </a:r>
            <a:r>
              <a:rPr lang="en-US" sz="2400" dirty="0"/>
              <a:t> </a:t>
            </a:r>
            <a:r>
              <a:rPr lang="en-US" sz="2400" dirty="0" err="1"/>
              <a:t>যোগায়</a:t>
            </a:r>
            <a:endParaRPr lang="bn-IN" sz="2400" dirty="0"/>
          </a:p>
        </p:txBody>
      </p:sp>
    </p:spTree>
    <p:extLst>
      <p:ext uri="{BB962C8B-B14F-4D97-AF65-F5344CB8AC3E}">
        <p14:creationId xmlns:p14="http://schemas.microsoft.com/office/powerpoint/2010/main" val="303946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টাইপ</a:t>
            </a:r>
            <a:r>
              <a:rPr lang="en-US" dirty="0"/>
              <a:t> ও </a:t>
            </a:r>
            <a:r>
              <a:rPr lang="en-US" dirty="0" err="1"/>
              <a:t>জাত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443619" y="2165390"/>
            <a:ext cx="1093837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ইন্ডিকা</a:t>
            </a:r>
            <a:r>
              <a:rPr lang="en-US" sz="2400" dirty="0"/>
              <a:t> </a:t>
            </a:r>
            <a:r>
              <a:rPr lang="en-US" sz="2400" dirty="0" err="1"/>
              <a:t>টাইপ</a:t>
            </a: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জাপোনিকা</a:t>
            </a:r>
            <a:r>
              <a:rPr lang="en-US" sz="2400" dirty="0"/>
              <a:t> </a:t>
            </a:r>
            <a:r>
              <a:rPr lang="en-US" sz="2400" dirty="0" err="1"/>
              <a:t>টাইপ</a:t>
            </a: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জাভানিকা</a:t>
            </a:r>
            <a:r>
              <a:rPr lang="en-US" sz="2400" dirty="0"/>
              <a:t> </a:t>
            </a:r>
            <a:r>
              <a:rPr lang="en-US" sz="2400" dirty="0" err="1"/>
              <a:t>টাইপ</a:t>
            </a: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/>
          </a:p>
          <a:p>
            <a:r>
              <a:rPr lang="en-US" sz="2400" dirty="0" err="1"/>
              <a:t>উফশী</a:t>
            </a:r>
            <a:r>
              <a:rPr lang="en-US" sz="2400" dirty="0"/>
              <a:t> </a:t>
            </a:r>
            <a:r>
              <a:rPr lang="en-US" sz="2400" dirty="0" err="1"/>
              <a:t>ধানঃ</a:t>
            </a:r>
            <a:r>
              <a:rPr lang="en-US" sz="2400" dirty="0"/>
              <a:t> </a:t>
            </a:r>
            <a:r>
              <a:rPr lang="en-US" sz="2400" dirty="0" err="1"/>
              <a:t>যে</a:t>
            </a:r>
            <a:r>
              <a:rPr lang="en-US" sz="2400" dirty="0"/>
              <a:t> </a:t>
            </a:r>
            <a:r>
              <a:rPr lang="en-US" sz="2400" dirty="0" err="1"/>
              <a:t>ধানের</a:t>
            </a:r>
            <a:r>
              <a:rPr lang="en-US" sz="2400" dirty="0"/>
              <a:t> </a:t>
            </a:r>
            <a:r>
              <a:rPr lang="en-US" sz="2400" dirty="0" err="1"/>
              <a:t>পুষ্টি</a:t>
            </a:r>
            <a:r>
              <a:rPr lang="en-US" sz="2400" dirty="0"/>
              <a:t> </a:t>
            </a:r>
            <a:r>
              <a:rPr lang="en-US" sz="2400" dirty="0" err="1"/>
              <a:t>গ্রহণ</a:t>
            </a:r>
            <a:r>
              <a:rPr lang="en-US" sz="2400" dirty="0"/>
              <a:t> </a:t>
            </a:r>
            <a:r>
              <a:rPr lang="en-US" sz="2400" dirty="0" err="1"/>
              <a:t>ক্ষমতা</a:t>
            </a:r>
            <a:r>
              <a:rPr lang="en-US" sz="2400" dirty="0"/>
              <a:t> </a:t>
            </a:r>
            <a:r>
              <a:rPr lang="en-US" sz="2400" dirty="0" err="1"/>
              <a:t>অধিক</a:t>
            </a:r>
            <a:r>
              <a:rPr lang="en-US" sz="2400" dirty="0"/>
              <a:t> </a:t>
            </a:r>
            <a:r>
              <a:rPr lang="en-US" sz="2400" dirty="0" err="1"/>
              <a:t>এবং</a:t>
            </a:r>
            <a:r>
              <a:rPr lang="en-US" sz="2400" dirty="0"/>
              <a:t> </a:t>
            </a:r>
            <a:r>
              <a:rPr lang="en-US" sz="2400" dirty="0" err="1"/>
              <a:t>ফলনও</a:t>
            </a:r>
            <a:r>
              <a:rPr lang="en-US" sz="2400" dirty="0"/>
              <a:t> </a:t>
            </a:r>
            <a:r>
              <a:rPr lang="en-US" sz="2400" dirty="0" err="1"/>
              <a:t>বেশী</a:t>
            </a:r>
            <a:r>
              <a:rPr lang="en-US" sz="2400" dirty="0"/>
              <a:t> </a:t>
            </a:r>
            <a:r>
              <a:rPr lang="en-US" sz="2400" dirty="0" err="1"/>
              <a:t>থাকে</a:t>
            </a:r>
            <a:r>
              <a:rPr lang="en-US" sz="2400" dirty="0"/>
              <a:t> </a:t>
            </a:r>
            <a:r>
              <a:rPr lang="en-US" sz="2400" dirty="0" err="1"/>
              <a:t>উফশী</a:t>
            </a:r>
            <a:r>
              <a:rPr lang="en-US" sz="2400" dirty="0"/>
              <a:t> </a:t>
            </a:r>
            <a:r>
              <a:rPr lang="en-US" sz="2400" dirty="0" err="1"/>
              <a:t>ধান</a:t>
            </a:r>
            <a:r>
              <a:rPr lang="en-US" sz="2400" dirty="0"/>
              <a:t> </a:t>
            </a:r>
            <a:r>
              <a:rPr lang="en-US" sz="2400" dirty="0" err="1"/>
              <a:t>বলে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আধুনিক</a:t>
            </a:r>
            <a:r>
              <a:rPr lang="en-US" sz="2400" dirty="0"/>
              <a:t> </a:t>
            </a:r>
            <a:r>
              <a:rPr lang="en-US" sz="2400" dirty="0" err="1"/>
              <a:t>ধানঃ</a:t>
            </a:r>
            <a:r>
              <a:rPr lang="en-US" sz="2400" dirty="0"/>
              <a:t> </a:t>
            </a:r>
            <a:r>
              <a:rPr lang="en-US" sz="2400" dirty="0" err="1"/>
              <a:t>উফশী</a:t>
            </a:r>
            <a:r>
              <a:rPr lang="en-US" sz="2400" dirty="0"/>
              <a:t> </a:t>
            </a:r>
            <a:r>
              <a:rPr lang="en-US" sz="2400" dirty="0" err="1"/>
              <a:t>ধানে</a:t>
            </a:r>
            <a:r>
              <a:rPr lang="en-US" sz="2400" dirty="0"/>
              <a:t> </a:t>
            </a:r>
            <a:r>
              <a:rPr lang="en-US" sz="2400" dirty="0" err="1"/>
              <a:t>বিশেষ</a:t>
            </a:r>
            <a:r>
              <a:rPr lang="en-US" sz="2400" dirty="0"/>
              <a:t> </a:t>
            </a:r>
            <a:r>
              <a:rPr lang="en-US" sz="2400" dirty="0" err="1"/>
              <a:t>গুণ</a:t>
            </a:r>
            <a:r>
              <a:rPr lang="en-US" sz="2400" dirty="0"/>
              <a:t> </a:t>
            </a:r>
            <a:r>
              <a:rPr lang="en-US" sz="2400" dirty="0" err="1"/>
              <a:t>থাকলে</a:t>
            </a:r>
            <a:r>
              <a:rPr lang="en-US" sz="2400" dirty="0"/>
              <a:t> </a:t>
            </a:r>
            <a:r>
              <a:rPr lang="en-US" sz="2400" dirty="0" err="1"/>
              <a:t>তাকে</a:t>
            </a:r>
            <a:r>
              <a:rPr lang="en-US" sz="2400" dirty="0"/>
              <a:t> </a:t>
            </a:r>
            <a:r>
              <a:rPr lang="en-US" sz="2400" dirty="0" err="1"/>
              <a:t>আধুনিক</a:t>
            </a:r>
            <a:r>
              <a:rPr lang="en-US" sz="2400" dirty="0"/>
              <a:t> </a:t>
            </a:r>
            <a:r>
              <a:rPr lang="en-US" sz="2400" dirty="0" err="1"/>
              <a:t>ধান</a:t>
            </a:r>
            <a:r>
              <a:rPr lang="en-US" sz="2400" dirty="0"/>
              <a:t> </a:t>
            </a:r>
            <a:r>
              <a:rPr lang="en-US" sz="2400" dirty="0" err="1"/>
              <a:t>বলে</a:t>
            </a:r>
            <a:r>
              <a:rPr lang="en-US" sz="2400" dirty="0"/>
              <a:t>। </a:t>
            </a:r>
            <a:r>
              <a:rPr lang="en-US" sz="2400" dirty="0" err="1"/>
              <a:t>যেমনঃ</a:t>
            </a:r>
            <a:r>
              <a:rPr lang="en-US" sz="2400" dirty="0"/>
              <a:t> </a:t>
            </a:r>
            <a:r>
              <a:rPr lang="en-US" sz="2400" dirty="0" err="1"/>
              <a:t>ক্ষরা</a:t>
            </a:r>
            <a:r>
              <a:rPr lang="en-US" sz="2400" dirty="0"/>
              <a:t> </a:t>
            </a:r>
            <a:r>
              <a:rPr lang="en-US" sz="2400" dirty="0" err="1"/>
              <a:t>সহিষ্ণু</a:t>
            </a:r>
            <a:r>
              <a:rPr lang="en-US" sz="2400" dirty="0"/>
              <a:t>, </a:t>
            </a:r>
            <a:r>
              <a:rPr lang="en-US" sz="2400" dirty="0" err="1"/>
              <a:t>লবণাক্ততা</a:t>
            </a:r>
            <a:r>
              <a:rPr lang="en-US" sz="2400" dirty="0"/>
              <a:t> </a:t>
            </a:r>
            <a:r>
              <a:rPr lang="en-US" sz="2400" dirty="0" err="1"/>
              <a:t>সহিষ্ণুতা</a:t>
            </a:r>
            <a:r>
              <a:rPr lang="en-US" sz="2400" dirty="0"/>
              <a:t>, </a:t>
            </a:r>
            <a:r>
              <a:rPr lang="en-US" sz="2400" dirty="0" err="1"/>
              <a:t>চিকন</a:t>
            </a:r>
            <a:r>
              <a:rPr lang="en-US" sz="2400" dirty="0"/>
              <a:t> </a:t>
            </a:r>
            <a:r>
              <a:rPr lang="en-US" sz="2400" dirty="0" err="1"/>
              <a:t>চাল</a:t>
            </a:r>
            <a:r>
              <a:rPr lang="en-US" sz="2400" dirty="0"/>
              <a:t> </a:t>
            </a:r>
            <a:r>
              <a:rPr lang="en-US" sz="2400" dirty="0" err="1"/>
              <a:t>ইত্যাদি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rgbClr val="FFFF00"/>
                </a:solidFill>
              </a:rPr>
              <a:t>সকল </a:t>
            </a:r>
            <a:r>
              <a:rPr lang="en-US" sz="2400" dirty="0" err="1">
                <a:solidFill>
                  <a:srgbClr val="FFFF00"/>
                </a:solidFill>
              </a:rPr>
              <a:t>আধুনিক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ধান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উফশী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কিন্তু</a:t>
            </a:r>
            <a:r>
              <a:rPr lang="en-US" sz="2400" dirty="0">
                <a:solidFill>
                  <a:srgbClr val="FFFF00"/>
                </a:solidFill>
              </a:rPr>
              <a:t> সকল </a:t>
            </a:r>
            <a:r>
              <a:rPr lang="en-US" sz="2400" dirty="0" err="1">
                <a:solidFill>
                  <a:srgbClr val="FFFF00"/>
                </a:solidFill>
              </a:rPr>
              <a:t>উফশী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ধান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আধুনিক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না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36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জাত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443619" y="2165390"/>
            <a:ext cx="1093837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ধানের</a:t>
            </a:r>
            <a:r>
              <a:rPr lang="en-US" sz="2400" dirty="0"/>
              <a:t> </a:t>
            </a:r>
            <a:r>
              <a:rPr lang="en-US" sz="2400" dirty="0" err="1"/>
              <a:t>স্থানীয়</a:t>
            </a:r>
            <a:r>
              <a:rPr lang="en-US" sz="2400" dirty="0"/>
              <a:t> </a:t>
            </a:r>
            <a:r>
              <a:rPr lang="en-US" sz="2400" dirty="0" err="1"/>
              <a:t>জাতঃ</a:t>
            </a:r>
            <a:r>
              <a:rPr lang="en-US" sz="2400" dirty="0"/>
              <a:t> </a:t>
            </a:r>
            <a:r>
              <a:rPr lang="en-US" sz="2400" dirty="0" err="1"/>
              <a:t>টেপি</a:t>
            </a:r>
            <a:r>
              <a:rPr lang="en-US" sz="2400" dirty="0"/>
              <a:t>, </a:t>
            </a:r>
            <a:r>
              <a:rPr lang="en-US" sz="2400" dirty="0" err="1"/>
              <a:t>গিরবি</a:t>
            </a:r>
            <a:r>
              <a:rPr lang="en-US" sz="2400" dirty="0"/>
              <a:t>, </a:t>
            </a:r>
            <a:r>
              <a:rPr lang="en-US" sz="2400" dirty="0" err="1"/>
              <a:t>লতিশাইল</a:t>
            </a:r>
            <a:endParaRPr lang="en-US" sz="2400" dirty="0">
              <a:solidFill>
                <a:srgbClr val="FFFF00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স্থানীয়</a:t>
            </a:r>
            <a:r>
              <a:rPr lang="en-US" sz="2400" dirty="0"/>
              <a:t> </a:t>
            </a:r>
            <a:r>
              <a:rPr lang="en-US" sz="2400" dirty="0" err="1"/>
              <a:t>উন্নত</a:t>
            </a:r>
            <a:r>
              <a:rPr lang="en-US" sz="2400" dirty="0"/>
              <a:t> </a:t>
            </a:r>
            <a:r>
              <a:rPr lang="en-US" sz="2400" dirty="0" err="1"/>
              <a:t>জাতঃ</a:t>
            </a:r>
            <a:r>
              <a:rPr lang="en-US" sz="2400" dirty="0"/>
              <a:t> </a:t>
            </a:r>
            <a:r>
              <a:rPr lang="en-US" sz="2400" dirty="0" err="1"/>
              <a:t>কটকতারা</a:t>
            </a:r>
            <a:r>
              <a:rPr lang="en-US" sz="2400" dirty="0"/>
              <a:t>, </a:t>
            </a:r>
            <a:r>
              <a:rPr lang="en-US" sz="2400" dirty="0" err="1"/>
              <a:t>কালিজিরা</a:t>
            </a:r>
            <a:r>
              <a:rPr lang="en-US" sz="2400" dirty="0"/>
              <a:t>, </a:t>
            </a:r>
            <a:r>
              <a:rPr lang="en-US" sz="2400" dirty="0" err="1"/>
              <a:t>হাসিকলমি</a:t>
            </a:r>
            <a:r>
              <a:rPr lang="en-US" sz="2400" dirty="0"/>
              <a:t>, </a:t>
            </a:r>
            <a:r>
              <a:rPr lang="en-US" sz="2400" dirty="0" err="1"/>
              <a:t>নাজিরশাইল</a:t>
            </a: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আধুনিক</a:t>
            </a:r>
            <a:r>
              <a:rPr lang="en-US" sz="2400" dirty="0"/>
              <a:t> </a:t>
            </a:r>
            <a:r>
              <a:rPr lang="en-US" sz="2400" dirty="0" err="1"/>
              <a:t>জাতঃ</a:t>
            </a:r>
            <a:r>
              <a:rPr lang="en-US" sz="2400" dirty="0"/>
              <a:t> </a:t>
            </a:r>
            <a:r>
              <a:rPr lang="en-US" sz="2400" dirty="0" err="1"/>
              <a:t>ব্রি</a:t>
            </a:r>
            <a:r>
              <a:rPr lang="en-US" sz="2400" dirty="0"/>
              <a:t> </a:t>
            </a:r>
            <a:r>
              <a:rPr lang="en-US" sz="2400" dirty="0" err="1"/>
              <a:t>ধান</a:t>
            </a:r>
            <a:r>
              <a:rPr lang="en-US" sz="2400" dirty="0"/>
              <a:t> ২৮, </a:t>
            </a:r>
            <a:r>
              <a:rPr lang="en-US" sz="2400" dirty="0" err="1"/>
              <a:t>ব্রি</a:t>
            </a:r>
            <a:r>
              <a:rPr lang="en-US" sz="2400" dirty="0"/>
              <a:t> </a:t>
            </a:r>
            <a:r>
              <a:rPr lang="en-US" sz="2400" dirty="0" err="1"/>
              <a:t>ধান</a:t>
            </a:r>
            <a:r>
              <a:rPr lang="en-US" sz="2400" dirty="0"/>
              <a:t> ২৯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/>
          </a:p>
          <a:p>
            <a:r>
              <a:rPr lang="en-US" sz="2400" dirty="0">
                <a:solidFill>
                  <a:srgbClr val="FFFF00"/>
                </a:solidFill>
              </a:rPr>
              <a:t>১-২৬ </a:t>
            </a:r>
            <a:r>
              <a:rPr lang="en-US" sz="2400" dirty="0" err="1">
                <a:solidFill>
                  <a:srgbClr val="FFFF00"/>
                </a:solidFill>
              </a:rPr>
              <a:t>পর্যন্ত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জাতের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নাম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বিআর</a:t>
            </a:r>
            <a:r>
              <a:rPr lang="en-US" sz="2400" dirty="0">
                <a:solidFill>
                  <a:srgbClr val="FFFF00"/>
                </a:solidFill>
              </a:rPr>
              <a:t> ১ – ২৬ </a:t>
            </a:r>
            <a:r>
              <a:rPr lang="en-US" sz="2400" dirty="0" err="1">
                <a:solidFill>
                  <a:srgbClr val="FFFF00"/>
                </a:solidFill>
              </a:rPr>
              <a:t>দিয়ে</a:t>
            </a:r>
            <a:r>
              <a:rPr lang="en-US" sz="2400" dirty="0">
                <a:solidFill>
                  <a:srgbClr val="FFFF00"/>
                </a:solidFill>
              </a:rPr>
              <a:t>, </a:t>
            </a:r>
            <a:r>
              <a:rPr lang="en-US" sz="2400" dirty="0" err="1">
                <a:solidFill>
                  <a:srgbClr val="FFFF00"/>
                </a:solidFill>
              </a:rPr>
              <a:t>এরপরের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জাতগুলার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নাম</a:t>
            </a:r>
            <a:r>
              <a:rPr lang="en-US" sz="2400" dirty="0">
                <a:solidFill>
                  <a:srgbClr val="FFFF00"/>
                </a:solidFill>
              </a:rPr>
              <a:t>, </a:t>
            </a:r>
            <a:r>
              <a:rPr lang="en-US" sz="2400" dirty="0" err="1">
                <a:solidFill>
                  <a:srgbClr val="FFFF00"/>
                </a:solidFill>
              </a:rPr>
              <a:t>ব্রি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ধান</a:t>
            </a:r>
            <a:r>
              <a:rPr lang="en-US" sz="2400" dirty="0">
                <a:solidFill>
                  <a:srgbClr val="FFFF00"/>
                </a:solidFill>
              </a:rPr>
              <a:t> ২৭ </a:t>
            </a:r>
            <a:r>
              <a:rPr lang="en-US" sz="2400" dirty="0" err="1">
                <a:solidFill>
                  <a:srgbClr val="FFFF00"/>
                </a:solidFill>
              </a:rPr>
              <a:t>থেকে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ব্রি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ধান</a:t>
            </a:r>
            <a:r>
              <a:rPr lang="en-US" sz="2400" dirty="0">
                <a:solidFill>
                  <a:srgbClr val="FFFF00"/>
                </a:solidFill>
              </a:rPr>
              <a:t> ১০৬ </a:t>
            </a:r>
            <a:r>
              <a:rPr lang="en-US" sz="2400" dirty="0" err="1">
                <a:solidFill>
                  <a:srgbClr val="FFFF00"/>
                </a:solidFill>
              </a:rPr>
              <a:t>পর্যন্ত</a:t>
            </a:r>
            <a:endParaRPr lang="en-US" sz="2400" dirty="0">
              <a:solidFill>
                <a:srgbClr val="FFFF00"/>
              </a:solidFill>
            </a:endParaRPr>
          </a:p>
          <a:p>
            <a:endParaRPr lang="en-US" sz="2400" dirty="0">
              <a:solidFill>
                <a:srgbClr val="FFFF00"/>
              </a:solidFill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2906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জাত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9641CA-2C58-63A7-A07F-64A8B5786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379341"/>
              </p:ext>
            </p:extLst>
          </p:nvPr>
        </p:nvGraphicFramePr>
        <p:xfrm>
          <a:off x="1131683" y="2657107"/>
          <a:ext cx="9650994" cy="35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5497">
                  <a:extLst>
                    <a:ext uri="{9D8B030D-6E8A-4147-A177-3AD203B41FA5}">
                      <a16:colId xmlns:a16="http://schemas.microsoft.com/office/drawing/2014/main" val="2849421224"/>
                    </a:ext>
                  </a:extLst>
                </a:gridCol>
                <a:gridCol w="4825497">
                  <a:extLst>
                    <a:ext uri="{9D8B030D-6E8A-4147-A177-3AD203B41FA5}">
                      <a16:colId xmlns:a16="http://schemas.microsoft.com/office/drawing/2014/main" val="419418663"/>
                    </a:ext>
                  </a:extLst>
                </a:gridCol>
              </a:tblGrid>
              <a:tr h="443065">
                <a:tc>
                  <a:txBody>
                    <a:bodyPr/>
                    <a:lstStyle/>
                    <a:p>
                      <a:r>
                        <a:rPr lang="en-US" dirty="0" err="1"/>
                        <a:t>বৈশিষ্ট্য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ধানের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জাত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582611"/>
                  </a:ext>
                </a:extLst>
              </a:tr>
              <a:tr h="443065">
                <a:tc>
                  <a:txBody>
                    <a:bodyPr/>
                    <a:lstStyle/>
                    <a:p>
                      <a:r>
                        <a:rPr lang="en-US" dirty="0" err="1"/>
                        <a:t>সুগন্ধী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চাল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বি</a:t>
                      </a:r>
                      <a:r>
                        <a:rPr lang="en-US" dirty="0"/>
                        <a:t> আর ৫,ব্রি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৩৪,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৫০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513852"/>
                  </a:ext>
                </a:extLst>
              </a:tr>
              <a:tr h="443065">
                <a:tc>
                  <a:txBody>
                    <a:bodyPr/>
                    <a:lstStyle/>
                    <a:p>
                      <a:r>
                        <a:rPr lang="en-US" dirty="0" err="1"/>
                        <a:t>লবণ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সহিষ্ণু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৪৭,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৭৩,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৭৮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89406"/>
                  </a:ext>
                </a:extLst>
              </a:tr>
              <a:tr h="443065">
                <a:tc>
                  <a:txBody>
                    <a:bodyPr/>
                    <a:lstStyle/>
                    <a:p>
                      <a:r>
                        <a:rPr lang="en-US" dirty="0" err="1"/>
                        <a:t>জিংক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সমৃদ্ধ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৬৩,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৭২,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৭৪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2488"/>
                  </a:ext>
                </a:extLst>
              </a:tr>
              <a:tr h="443065">
                <a:tc>
                  <a:txBody>
                    <a:bodyPr/>
                    <a:lstStyle/>
                    <a:p>
                      <a:r>
                        <a:rPr lang="en-US" dirty="0" err="1"/>
                        <a:t>খরা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সহিষ্ণু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৫৫,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৫৬,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৫৭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735996"/>
                  </a:ext>
                </a:extLst>
              </a:tr>
              <a:tr h="443065">
                <a:tc>
                  <a:txBody>
                    <a:bodyPr/>
                    <a:lstStyle/>
                    <a:p>
                      <a:r>
                        <a:rPr lang="en-US" dirty="0" err="1"/>
                        <a:t>আউশ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বি</a:t>
                      </a:r>
                      <a:r>
                        <a:rPr lang="en-US" dirty="0"/>
                        <a:t> আর ২৪, </a:t>
                      </a:r>
                      <a:r>
                        <a:rPr lang="en-US" dirty="0" err="1"/>
                        <a:t>বি</a:t>
                      </a:r>
                      <a:r>
                        <a:rPr lang="en-US" dirty="0"/>
                        <a:t> আর ২৬,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২৭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628910"/>
                  </a:ext>
                </a:extLst>
              </a:tr>
              <a:tr h="443065">
                <a:tc>
                  <a:txBody>
                    <a:bodyPr/>
                    <a:lstStyle/>
                    <a:p>
                      <a:r>
                        <a:rPr lang="en-US" dirty="0" err="1"/>
                        <a:t>আমন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৫১,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৫২,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৫৩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300161"/>
                  </a:ext>
                </a:extLst>
              </a:tr>
              <a:tr h="443065">
                <a:tc>
                  <a:txBody>
                    <a:bodyPr/>
                    <a:lstStyle/>
                    <a:p>
                      <a:r>
                        <a:rPr lang="en-US" dirty="0" err="1"/>
                        <a:t>বোরো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২৮,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২৯, </a:t>
                      </a:r>
                      <a:r>
                        <a:rPr lang="en-US" dirty="0" err="1"/>
                        <a:t>ব্রি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৭৪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787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695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ধান</a:t>
            </a:r>
            <a:r>
              <a:rPr lang="en-US" dirty="0"/>
              <a:t> </a:t>
            </a:r>
            <a:r>
              <a:rPr lang="en-US" dirty="0" err="1"/>
              <a:t>চাষ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016E0C-85A7-E71A-E070-5C482194A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867086"/>
              </p:ext>
            </p:extLst>
          </p:nvPr>
        </p:nvGraphicFramePr>
        <p:xfrm>
          <a:off x="0" y="1819747"/>
          <a:ext cx="12192000" cy="50425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4718305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8578974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3511081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45354831"/>
                    </a:ext>
                  </a:extLst>
                </a:gridCol>
              </a:tblGrid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চাষের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আউশ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 err="1"/>
                        <a:t>আমন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বোরো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392103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জমি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মাটি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মাঝারি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উচু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নিচু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পলি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দোয়াশ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এটেল</a:t>
                      </a:r>
                      <a:r>
                        <a:rPr lang="en-US" sz="1200" dirty="0"/>
                        <a:t> ও </a:t>
                      </a:r>
                      <a:r>
                        <a:rPr lang="en-US" sz="1200" dirty="0" err="1"/>
                        <a:t>পলি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দোয়াশ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মাঝারি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উচু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নিচু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নিকাশের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ব্যাবস্থা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করতে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কারন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বর্ষায়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প্রচুর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বৃষ্টি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মাঝারি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উচু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নিচু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369478"/>
                  </a:ext>
                </a:extLst>
              </a:tr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রোপনের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সময়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মধ্য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মার্চ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থেকে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এপ্রিল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জুলাই</a:t>
                      </a:r>
                      <a:r>
                        <a:rPr lang="en-US" sz="1200" dirty="0"/>
                        <a:t> -</a:t>
                      </a:r>
                      <a:r>
                        <a:rPr lang="en-US" sz="1200" dirty="0" err="1"/>
                        <a:t>আগষ্ট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মাসে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নভেম্বর</a:t>
                      </a:r>
                      <a:r>
                        <a:rPr lang="en-US" sz="1200" dirty="0"/>
                        <a:t> -</a:t>
                      </a:r>
                      <a:r>
                        <a:rPr lang="en-US" sz="1200" dirty="0" err="1"/>
                        <a:t>ডিসেম্বর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মাস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183633"/>
                  </a:ext>
                </a:extLst>
              </a:tr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ধানের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জাত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বিআর</a:t>
                      </a:r>
                      <a:r>
                        <a:rPr lang="en-US" sz="1200" dirty="0"/>
                        <a:t> ২৪, </a:t>
                      </a:r>
                      <a:r>
                        <a:rPr lang="en-US" sz="1200" dirty="0" err="1"/>
                        <a:t>বিআর</a:t>
                      </a:r>
                      <a:r>
                        <a:rPr lang="en-US" sz="1200" dirty="0"/>
                        <a:t> ২৬, </a:t>
                      </a:r>
                      <a:r>
                        <a:rPr lang="en-US" sz="1200" dirty="0" err="1"/>
                        <a:t>ব্রি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ধান</a:t>
                      </a:r>
                      <a:r>
                        <a:rPr lang="en-US" sz="1200" dirty="0"/>
                        <a:t> ২৭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ব্রি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ধান</a:t>
                      </a:r>
                      <a:r>
                        <a:rPr lang="en-US" sz="1200" dirty="0"/>
                        <a:t> ৫১, </a:t>
                      </a:r>
                      <a:r>
                        <a:rPr lang="en-US" sz="1200" dirty="0" err="1"/>
                        <a:t>ব্রি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ধান</a:t>
                      </a:r>
                      <a:r>
                        <a:rPr lang="en-US" sz="1200" dirty="0"/>
                        <a:t> ৫২, </a:t>
                      </a:r>
                      <a:r>
                        <a:rPr lang="en-US" sz="1200" dirty="0" err="1"/>
                        <a:t>ব্রি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ধান</a:t>
                      </a:r>
                      <a:r>
                        <a:rPr lang="en-US" sz="1200" dirty="0"/>
                        <a:t> ৫৩ 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ব্রি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ধান</a:t>
                      </a:r>
                      <a:r>
                        <a:rPr lang="en-US" sz="1200" dirty="0"/>
                        <a:t> ২৮, </a:t>
                      </a:r>
                      <a:r>
                        <a:rPr lang="en-US" sz="1200" dirty="0" err="1"/>
                        <a:t>ব্রি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ধান</a:t>
                      </a:r>
                      <a:r>
                        <a:rPr lang="en-US" sz="1200" dirty="0"/>
                        <a:t> ২৯, </a:t>
                      </a:r>
                      <a:r>
                        <a:rPr lang="en-US" sz="1200" dirty="0" err="1"/>
                        <a:t>ব্রি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ধান</a:t>
                      </a:r>
                      <a:r>
                        <a:rPr lang="en-US" sz="1200" dirty="0"/>
                        <a:t> ৭৪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733699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বীজ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শোধন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১-২% </a:t>
                      </a:r>
                      <a:r>
                        <a:rPr lang="en-US" sz="1200" dirty="0" err="1"/>
                        <a:t>কার্বেন্ডাজিম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ওষুধ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দিয়ে</a:t>
                      </a:r>
                      <a:r>
                        <a:rPr lang="en-US" sz="1200" dirty="0"/>
                        <a:t> ২৪ </a:t>
                      </a:r>
                      <a:r>
                        <a:rPr lang="en-US" sz="1200" dirty="0" err="1"/>
                        <a:t>ঘন্টা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ভিজিয়ে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রাখতে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হবে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১-২% </a:t>
                      </a:r>
                      <a:r>
                        <a:rPr lang="en-US" sz="1200" dirty="0" err="1"/>
                        <a:t>কার্বেন্ডাজিম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ওষুধ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দিয়ে</a:t>
                      </a:r>
                      <a:r>
                        <a:rPr lang="en-US" sz="1200" dirty="0"/>
                        <a:t> ২৪ </a:t>
                      </a:r>
                      <a:r>
                        <a:rPr lang="en-US" sz="1200" dirty="0" err="1"/>
                        <a:t>ঘন্টা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ভিজিয়ে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রাখতে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হবে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১-২% </a:t>
                      </a:r>
                      <a:r>
                        <a:rPr lang="en-US" sz="1200" dirty="0" err="1"/>
                        <a:t>কার্বেন্ডাজিম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ওষুধ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দিয়ে</a:t>
                      </a:r>
                      <a:r>
                        <a:rPr lang="en-US" sz="1200" dirty="0"/>
                        <a:t> ২৪ </a:t>
                      </a:r>
                      <a:r>
                        <a:rPr lang="en-US" sz="1200" dirty="0" err="1"/>
                        <a:t>ঘন্টা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ভিজিয়ে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রাখতে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হবে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57393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বীজতলা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তৈরী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শুকানো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কাদাময়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ভাসমান</a:t>
                      </a:r>
                      <a:r>
                        <a:rPr lang="en-US" sz="1200" dirty="0"/>
                        <a:t> ও </a:t>
                      </a:r>
                      <a:r>
                        <a:rPr lang="en-US" sz="1200" dirty="0" err="1"/>
                        <a:t>দাপোগ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বীজতলা</a:t>
                      </a:r>
                      <a:r>
                        <a:rPr lang="en-US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৯.৫ x ১.৫ </a:t>
                      </a:r>
                      <a:r>
                        <a:rPr lang="en-US" sz="1200" dirty="0" err="1"/>
                        <a:t>মিটার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বীজতলা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মাঝে</a:t>
                      </a:r>
                      <a:r>
                        <a:rPr lang="en-US" sz="1200" dirty="0"/>
                        <a:t> ৫০ </a:t>
                      </a:r>
                      <a:r>
                        <a:rPr lang="en-US" sz="1200" dirty="0" err="1"/>
                        <a:t>সেমি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ফাকা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৯.৫ x ১.৫ </a:t>
                      </a:r>
                      <a:r>
                        <a:rPr lang="en-US" sz="1200" dirty="0" err="1"/>
                        <a:t>মিটার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বীজতলা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মাঝে</a:t>
                      </a:r>
                      <a:r>
                        <a:rPr lang="en-US" sz="1200" dirty="0"/>
                        <a:t> ৫০ </a:t>
                      </a:r>
                      <a:r>
                        <a:rPr lang="en-US" sz="1200" dirty="0" err="1"/>
                        <a:t>সেমি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ফাকা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42114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চারা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রোপন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২০-২৫ x ১৫-২০ </a:t>
                      </a:r>
                      <a:r>
                        <a:rPr lang="en-US" sz="1200" dirty="0" err="1"/>
                        <a:t>সেমি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বপন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দুরুত্ব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বীজ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ছিটানো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অথবা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চারা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ডিবলিং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পদ্ধতিতে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রোপন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২০-২৫ x ১৫-২০ </a:t>
                      </a:r>
                      <a:r>
                        <a:rPr lang="en-US" sz="1200" dirty="0" err="1"/>
                        <a:t>সেমি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বপন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দুরুত্ব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২০-২৫ x ১৫-২০ </a:t>
                      </a:r>
                      <a:r>
                        <a:rPr lang="en-US" sz="1200" dirty="0" err="1"/>
                        <a:t>সেমি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বপন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দুরুত্ব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477935"/>
                  </a:ext>
                </a:extLst>
              </a:tr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আগাছা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দমন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আগাছা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দমন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আগাছানাশক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প্রয়োগ</a:t>
                      </a:r>
                      <a:r>
                        <a:rPr lang="en-US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আগাছা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দমন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আগাছানাশক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প্রয়োগ</a:t>
                      </a:r>
                      <a:r>
                        <a:rPr lang="en-US" sz="1200" dirty="0"/>
                        <a:t> 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আগাছা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দমন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আগাছানাশক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প্রয়োগ</a:t>
                      </a:r>
                      <a:r>
                        <a:rPr lang="en-US" sz="1200" dirty="0"/>
                        <a:t> 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161141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সেচ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স্যার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প্রয়োগ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সবসময়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পানির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দরকার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নেই</a:t>
                      </a:r>
                      <a:r>
                        <a:rPr lang="en-US" sz="1200" dirty="0"/>
                        <a:t>। ৯০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TSP, ৭০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MOP, ৪৫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Urea </a:t>
                      </a:r>
                      <a:r>
                        <a:rPr lang="en-US" sz="1200" dirty="0" err="1"/>
                        <a:t>সার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০৮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TSP, ১৪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MOP, ২৬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Urea </a:t>
                      </a:r>
                      <a:r>
                        <a:rPr lang="en-US" sz="1200" dirty="0" err="1"/>
                        <a:t>সার</a:t>
                      </a:r>
                      <a:r>
                        <a:rPr lang="en-US" sz="1200" dirty="0"/>
                        <a:t> (</a:t>
                      </a:r>
                      <a:r>
                        <a:rPr lang="en-US" sz="1200" dirty="0" err="1"/>
                        <a:t>তিন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কিস্তিতে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তিন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ভাগে</a:t>
                      </a:r>
                      <a:r>
                        <a:rPr lang="en-US" sz="1200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১৩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TSP, ২২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MOP, ৪০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Urea </a:t>
                      </a:r>
                      <a:r>
                        <a:rPr lang="en-US" sz="1200" dirty="0" err="1"/>
                        <a:t>সার</a:t>
                      </a:r>
                      <a:r>
                        <a:rPr lang="en-US" sz="1200" dirty="0"/>
                        <a:t> (</a:t>
                      </a:r>
                      <a:r>
                        <a:rPr lang="en-US" sz="1200" dirty="0" err="1"/>
                        <a:t>তিন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কিস্তিতে</a:t>
                      </a:r>
                      <a:r>
                        <a:rPr lang="en-US" sz="1200" dirty="0"/>
                        <a:t>), </a:t>
                      </a:r>
                      <a:r>
                        <a:rPr lang="en-US" sz="1200" dirty="0" err="1"/>
                        <a:t>সেচ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বাধ্যতামূলক</a:t>
                      </a:r>
                      <a:r>
                        <a:rPr lang="en-US" sz="1200" dirty="0"/>
                        <a:t>।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565267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ফসল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সংগ্রহ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৮০ </a:t>
                      </a:r>
                      <a:r>
                        <a:rPr lang="en-US" sz="1200" dirty="0" err="1"/>
                        <a:t>ভাগ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চাল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শক্ত</a:t>
                      </a:r>
                      <a:r>
                        <a:rPr lang="en-US" sz="1200" dirty="0"/>
                        <a:t> ও </a:t>
                      </a:r>
                      <a:r>
                        <a:rPr lang="en-US" sz="1200" dirty="0" err="1"/>
                        <a:t>স্বচ্ছ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তুষের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সোনালী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হলে</a:t>
                      </a:r>
                      <a:r>
                        <a:rPr lang="en-US" sz="1200" dirty="0"/>
                        <a:t> । ৪-৪.৫ </a:t>
                      </a:r>
                      <a:r>
                        <a:rPr lang="en-US" sz="1200" dirty="0" err="1"/>
                        <a:t>টন।হেক্টর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ফলন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৮০ </a:t>
                      </a:r>
                      <a:r>
                        <a:rPr lang="en-US" sz="1200" dirty="0" err="1"/>
                        <a:t>ভাগ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চাল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শক্ত</a:t>
                      </a:r>
                      <a:r>
                        <a:rPr lang="en-US" sz="1200" dirty="0"/>
                        <a:t> ও </a:t>
                      </a:r>
                      <a:r>
                        <a:rPr lang="en-US" sz="1200" dirty="0" err="1"/>
                        <a:t>স্বচ্ছ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তুষের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সোনালী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হলে</a:t>
                      </a:r>
                      <a:r>
                        <a:rPr lang="en-US" sz="1200" dirty="0"/>
                        <a:t> । ৩.৫-৫.৫ </a:t>
                      </a:r>
                      <a:r>
                        <a:rPr lang="en-US" sz="1200" dirty="0" err="1"/>
                        <a:t>টন</a:t>
                      </a:r>
                      <a:r>
                        <a:rPr lang="en-US" sz="1200" dirty="0"/>
                        <a:t>/</a:t>
                      </a:r>
                      <a:r>
                        <a:rPr lang="en-US" sz="1200" dirty="0" err="1"/>
                        <a:t>হেক্টর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ফলন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৮০ </a:t>
                      </a:r>
                      <a:r>
                        <a:rPr lang="en-US" sz="1200" dirty="0" err="1"/>
                        <a:t>ভাগ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চাল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শক্ত</a:t>
                      </a:r>
                      <a:r>
                        <a:rPr lang="en-US" sz="1200" dirty="0"/>
                        <a:t> ও </a:t>
                      </a:r>
                      <a:r>
                        <a:rPr lang="en-US" sz="1200" dirty="0" err="1"/>
                        <a:t>স্বচ্ছ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তুষের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সোনালী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রঙ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হলে</a:t>
                      </a:r>
                      <a:r>
                        <a:rPr lang="en-US" sz="1200" dirty="0"/>
                        <a:t> । ৫-৬ </a:t>
                      </a:r>
                      <a:r>
                        <a:rPr lang="en-US" sz="1200" dirty="0" err="1"/>
                        <a:t>টন</a:t>
                      </a:r>
                      <a:r>
                        <a:rPr lang="en-US" sz="1200" dirty="0"/>
                        <a:t>/</a:t>
                      </a:r>
                      <a:r>
                        <a:rPr lang="en-US" sz="1200" dirty="0" err="1"/>
                        <a:t>হেক্টর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ফলন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862419"/>
                  </a:ext>
                </a:extLst>
              </a:tr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সংরক্ষন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১২% </a:t>
                      </a:r>
                      <a:r>
                        <a:rPr lang="en-US" sz="1200" dirty="0" err="1"/>
                        <a:t>আদ্রতাতে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নামিয়ে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পাত্র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টিন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ড্রামে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সংরক্ষণ</a:t>
                      </a:r>
                      <a:r>
                        <a:rPr lang="en-US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১২% </a:t>
                      </a:r>
                      <a:r>
                        <a:rPr lang="en-US" sz="1200" dirty="0" err="1"/>
                        <a:t>আদ্রতাতে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নামিয়ে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পাত্র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টিন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ড্রামে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সংরক্ষণ</a:t>
                      </a:r>
                      <a:r>
                        <a:rPr lang="en-US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১২% </a:t>
                      </a:r>
                      <a:r>
                        <a:rPr lang="en-US" sz="1200" dirty="0" err="1"/>
                        <a:t>আদ্রতাতে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নামিয়ে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পাত্র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টিন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ড্রামে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সংরক্ষণ</a:t>
                      </a:r>
                      <a:r>
                        <a:rPr lang="en-US" sz="12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479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679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বালাই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89026" y="3985629"/>
            <a:ext cx="120139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  </a:t>
            </a:r>
            <a:r>
              <a:rPr lang="en-US" sz="2000" dirty="0" err="1">
                <a:solidFill>
                  <a:srgbClr val="FFFF00"/>
                </a:solidFill>
              </a:rPr>
              <a:t>মাজরা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পোকা</a:t>
            </a:r>
            <a:r>
              <a:rPr lang="en-US" sz="2000" dirty="0">
                <a:solidFill>
                  <a:srgbClr val="FFFF00"/>
                </a:solidFill>
              </a:rPr>
              <a:t>          </a:t>
            </a:r>
            <a:r>
              <a:rPr lang="en-US" sz="2000" dirty="0" err="1">
                <a:solidFill>
                  <a:srgbClr val="FFFF00"/>
                </a:solidFill>
              </a:rPr>
              <a:t>নলী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মাছি</a:t>
            </a:r>
            <a:r>
              <a:rPr lang="en-US" sz="2000" dirty="0">
                <a:solidFill>
                  <a:srgbClr val="FFFF00"/>
                </a:solidFill>
              </a:rPr>
              <a:t>                </a:t>
            </a:r>
            <a:r>
              <a:rPr lang="en-US" sz="2000" dirty="0" err="1">
                <a:solidFill>
                  <a:srgbClr val="FFFF00"/>
                </a:solidFill>
              </a:rPr>
              <a:t>বাদামী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ঘাস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ফড়িং</a:t>
            </a:r>
            <a:r>
              <a:rPr lang="en-US" sz="2000" dirty="0">
                <a:solidFill>
                  <a:srgbClr val="FFFF00"/>
                </a:solidFill>
              </a:rPr>
              <a:t>       </a:t>
            </a:r>
            <a:r>
              <a:rPr lang="en-US" sz="2000" dirty="0" err="1">
                <a:solidFill>
                  <a:srgbClr val="FFFF00"/>
                </a:solidFill>
              </a:rPr>
              <a:t>পাতা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মোড়ানো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পোকা</a:t>
            </a:r>
            <a:r>
              <a:rPr lang="en-US" sz="2000" dirty="0">
                <a:solidFill>
                  <a:srgbClr val="FFFF00"/>
                </a:solidFill>
              </a:rPr>
              <a:t>        </a:t>
            </a:r>
            <a:r>
              <a:rPr lang="en-US" sz="2000" dirty="0" err="1">
                <a:solidFill>
                  <a:srgbClr val="FFFF00"/>
                </a:solidFill>
              </a:rPr>
              <a:t>গান্ধী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পোকা</a:t>
            </a:r>
            <a:r>
              <a:rPr lang="en-US" sz="2000" dirty="0">
                <a:solidFill>
                  <a:srgbClr val="FFFF00"/>
                </a:solidFill>
              </a:rPr>
              <a:t>    </a:t>
            </a:r>
          </a:p>
          <a:p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A4BED6-9B3F-754D-9B8A-7B3F2035F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13" y="1907646"/>
            <a:ext cx="1956303" cy="195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sian Rice Gall Midge | Pests &amp; Diseases">
            <a:extLst>
              <a:ext uri="{FF2B5EF4-FFF2-40B4-BE49-F238E27FC236}">
                <a16:creationId xmlns:a16="http://schemas.microsoft.com/office/drawing/2014/main" id="{D26A9AC8-82D7-DA12-89D6-E32A7AC2D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316" y="1893009"/>
            <a:ext cx="2222437" cy="1956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F33D757C-2556-596D-0CDB-399602AE8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52" y="1899645"/>
            <a:ext cx="2222438" cy="194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JADAM 모바일 사이트, Rice leafroller">
            <a:extLst>
              <a:ext uri="{FF2B5EF4-FFF2-40B4-BE49-F238E27FC236}">
                <a16:creationId xmlns:a16="http://schemas.microsoft.com/office/drawing/2014/main" id="{C5A578F1-BE20-8545-1632-9E418F045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789" y="1869319"/>
            <a:ext cx="2628900" cy="194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ive yield-threatening pests and diseases of rice – PlantwisePlus Blog">
            <a:extLst>
              <a:ext uri="{FF2B5EF4-FFF2-40B4-BE49-F238E27FC236}">
                <a16:creationId xmlns:a16="http://schemas.microsoft.com/office/drawing/2014/main" id="{5F50F3D0-C318-4E90-DE11-2CFD88359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488" y="1869319"/>
            <a:ext cx="2705100" cy="194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984DE4-35A2-E654-E87A-CF339381C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869320"/>
              </p:ext>
            </p:extLst>
          </p:nvPr>
        </p:nvGraphicFramePr>
        <p:xfrm>
          <a:off x="89026" y="4528954"/>
          <a:ext cx="12013950" cy="20202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02790">
                  <a:extLst>
                    <a:ext uri="{9D8B030D-6E8A-4147-A177-3AD203B41FA5}">
                      <a16:colId xmlns:a16="http://schemas.microsoft.com/office/drawing/2014/main" val="2161637400"/>
                    </a:ext>
                  </a:extLst>
                </a:gridCol>
                <a:gridCol w="2402790">
                  <a:extLst>
                    <a:ext uri="{9D8B030D-6E8A-4147-A177-3AD203B41FA5}">
                      <a16:colId xmlns:a16="http://schemas.microsoft.com/office/drawing/2014/main" val="404279326"/>
                    </a:ext>
                  </a:extLst>
                </a:gridCol>
                <a:gridCol w="2402790">
                  <a:extLst>
                    <a:ext uri="{9D8B030D-6E8A-4147-A177-3AD203B41FA5}">
                      <a16:colId xmlns:a16="http://schemas.microsoft.com/office/drawing/2014/main" val="732598660"/>
                    </a:ext>
                  </a:extLst>
                </a:gridCol>
                <a:gridCol w="2402790">
                  <a:extLst>
                    <a:ext uri="{9D8B030D-6E8A-4147-A177-3AD203B41FA5}">
                      <a16:colId xmlns:a16="http://schemas.microsoft.com/office/drawing/2014/main" val="3398001849"/>
                    </a:ext>
                  </a:extLst>
                </a:gridCol>
                <a:gridCol w="2402790">
                  <a:extLst>
                    <a:ext uri="{9D8B030D-6E8A-4147-A177-3AD203B41FA5}">
                      <a16:colId xmlns:a16="http://schemas.microsoft.com/office/drawing/2014/main" val="2727406587"/>
                    </a:ext>
                  </a:extLst>
                </a:gridCol>
              </a:tblGrid>
              <a:tr h="2020260">
                <a:tc>
                  <a:txBody>
                    <a:bodyPr/>
                    <a:lstStyle/>
                    <a:p>
                      <a:r>
                        <a:rPr lang="en-US" sz="1600" dirty="0" err="1"/>
                        <a:t>কীড়া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অবস্থায়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গাছের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কান্ডের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ভিতরে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খায়</a:t>
                      </a:r>
                      <a:r>
                        <a:rPr lang="en-US" sz="1600" dirty="0"/>
                        <a:t>। </a:t>
                      </a:r>
                      <a:r>
                        <a:rPr lang="en-US" sz="1600" dirty="0" err="1"/>
                        <a:t>ফলে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ডিগপাতা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মরে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মরা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ডিগ</a:t>
                      </a:r>
                      <a:r>
                        <a:rPr lang="en-US" sz="1600" dirty="0"/>
                        <a:t> “Dead Heart”, </a:t>
                      </a:r>
                      <a:r>
                        <a:rPr lang="en-US" sz="1600" dirty="0" err="1"/>
                        <a:t>বাড়ন্ত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অবস্থায়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হলে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সাদা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শীষ</a:t>
                      </a:r>
                      <a:r>
                        <a:rPr lang="en-US" sz="1600" dirty="0"/>
                        <a:t> “White Head” Symptom </a:t>
                      </a:r>
                      <a:r>
                        <a:rPr lang="en-US" sz="1600" dirty="0" err="1"/>
                        <a:t>বলে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আক্রমনের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ফলে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মাঝখানের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পাতাটি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পেয়াজের</a:t>
                      </a:r>
                      <a:r>
                        <a:rPr lang="en-US" dirty="0"/>
                        <a:t> মত </a:t>
                      </a:r>
                      <a:r>
                        <a:rPr lang="en-US" dirty="0" err="1"/>
                        <a:t>নলাকার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আক্রান্ত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গাছের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শীষ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গোড়ায়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বসে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চুসে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খায়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আগুনে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পুড়ে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যাওয়ার</a:t>
                      </a:r>
                      <a:r>
                        <a:rPr lang="en-US" dirty="0"/>
                        <a:t> মত </a:t>
                      </a:r>
                      <a:r>
                        <a:rPr lang="en-US" dirty="0" err="1"/>
                        <a:t>লক্ষণ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দেখা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গাছে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একে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হপার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বার্ন</a:t>
                      </a:r>
                      <a:r>
                        <a:rPr lang="en-US" dirty="0"/>
                        <a:t> “Hopper burn” </a:t>
                      </a:r>
                      <a:r>
                        <a:rPr lang="en-US" dirty="0" err="1"/>
                        <a:t>লক্ষন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বলে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ধানের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পাতাকে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লম্বালম্বিভাবে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মুড়িয়ে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ফেলে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ভিতরে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পাতার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সবুজ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অংশ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খায়</a:t>
                      </a:r>
                      <a:r>
                        <a:rPr lang="en-US" dirty="0"/>
                        <a:t> । </a:t>
                      </a:r>
                      <a:r>
                        <a:rPr lang="en-US" dirty="0" err="1"/>
                        <a:t>থোড়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আসার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সময়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আক্রান্ত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চিটা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ধানের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দুধ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স্টেইজে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চুষে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খায়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ফলে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চিটা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যায়,ধানের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খারাপ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চাল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মাড়ানোর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সময়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ভেংগে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637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426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রোগ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89026" y="3985629"/>
            <a:ext cx="120139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  </a:t>
            </a:r>
            <a:r>
              <a:rPr lang="en-US" sz="2000" dirty="0" err="1">
                <a:solidFill>
                  <a:srgbClr val="FFFF00"/>
                </a:solidFill>
              </a:rPr>
              <a:t>ব্লাস্ট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রোগ</a:t>
            </a:r>
            <a:r>
              <a:rPr lang="en-US" sz="2000" dirty="0">
                <a:solidFill>
                  <a:srgbClr val="FFFF00"/>
                </a:solidFill>
              </a:rPr>
              <a:t>                    </a:t>
            </a:r>
            <a:r>
              <a:rPr lang="en-US" sz="2000" dirty="0" err="1">
                <a:solidFill>
                  <a:srgbClr val="FFFF00"/>
                </a:solidFill>
              </a:rPr>
              <a:t>পাতা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পোড়া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রোগ</a:t>
            </a:r>
            <a:r>
              <a:rPr lang="en-US" sz="2000" dirty="0">
                <a:solidFill>
                  <a:srgbClr val="FFFF00"/>
                </a:solidFill>
              </a:rPr>
              <a:t>            </a:t>
            </a:r>
            <a:r>
              <a:rPr lang="en-US" sz="2000" dirty="0" err="1">
                <a:solidFill>
                  <a:srgbClr val="FFFF00"/>
                </a:solidFill>
              </a:rPr>
              <a:t>বাকানী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রোগ</a:t>
            </a:r>
            <a:r>
              <a:rPr lang="en-US" sz="2000" dirty="0">
                <a:solidFill>
                  <a:srgbClr val="FFFF00"/>
                </a:solidFill>
              </a:rPr>
              <a:t>          </a:t>
            </a:r>
            <a:r>
              <a:rPr lang="en-US" sz="2000" dirty="0" err="1">
                <a:solidFill>
                  <a:srgbClr val="FFFF00"/>
                </a:solidFill>
              </a:rPr>
              <a:t>কান্ড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পচা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রোগ</a:t>
            </a:r>
            <a:r>
              <a:rPr lang="en-US" sz="2000" dirty="0">
                <a:solidFill>
                  <a:srgbClr val="FFFF00"/>
                </a:solidFill>
              </a:rPr>
              <a:t>          </a:t>
            </a:r>
            <a:r>
              <a:rPr lang="en-US" sz="2000" dirty="0" err="1">
                <a:solidFill>
                  <a:srgbClr val="FFFF00"/>
                </a:solidFill>
              </a:rPr>
              <a:t>পাতার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বাদামী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দাগ</a:t>
            </a:r>
            <a:r>
              <a:rPr lang="en-US" sz="2000" dirty="0">
                <a:solidFill>
                  <a:srgbClr val="FFFF00"/>
                </a:solidFill>
              </a:rPr>
              <a:t>    </a:t>
            </a:r>
          </a:p>
          <a:p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984DE4-35A2-E654-E87A-CF339381C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953566"/>
              </p:ext>
            </p:extLst>
          </p:nvPr>
        </p:nvGraphicFramePr>
        <p:xfrm>
          <a:off x="89026" y="4528954"/>
          <a:ext cx="12013950" cy="20202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02790">
                  <a:extLst>
                    <a:ext uri="{9D8B030D-6E8A-4147-A177-3AD203B41FA5}">
                      <a16:colId xmlns:a16="http://schemas.microsoft.com/office/drawing/2014/main" val="2161637400"/>
                    </a:ext>
                  </a:extLst>
                </a:gridCol>
                <a:gridCol w="2402790">
                  <a:extLst>
                    <a:ext uri="{9D8B030D-6E8A-4147-A177-3AD203B41FA5}">
                      <a16:colId xmlns:a16="http://schemas.microsoft.com/office/drawing/2014/main" val="404279326"/>
                    </a:ext>
                  </a:extLst>
                </a:gridCol>
                <a:gridCol w="2402790">
                  <a:extLst>
                    <a:ext uri="{9D8B030D-6E8A-4147-A177-3AD203B41FA5}">
                      <a16:colId xmlns:a16="http://schemas.microsoft.com/office/drawing/2014/main" val="732598660"/>
                    </a:ext>
                  </a:extLst>
                </a:gridCol>
                <a:gridCol w="2402790">
                  <a:extLst>
                    <a:ext uri="{9D8B030D-6E8A-4147-A177-3AD203B41FA5}">
                      <a16:colId xmlns:a16="http://schemas.microsoft.com/office/drawing/2014/main" val="3398001849"/>
                    </a:ext>
                  </a:extLst>
                </a:gridCol>
                <a:gridCol w="2402790">
                  <a:extLst>
                    <a:ext uri="{9D8B030D-6E8A-4147-A177-3AD203B41FA5}">
                      <a16:colId xmlns:a16="http://schemas.microsoft.com/office/drawing/2014/main" val="2727406587"/>
                    </a:ext>
                  </a:extLst>
                </a:gridCol>
              </a:tblGrid>
              <a:tr h="2020260">
                <a:tc>
                  <a:txBody>
                    <a:bodyPr/>
                    <a:lstStyle/>
                    <a:p>
                      <a:r>
                        <a:rPr lang="en-US" sz="1600" dirty="0" err="1"/>
                        <a:t>ছত্রাকের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আক্রমন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মাকু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আকৃতির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দাগ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দেখা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যায়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ব্লাস্ট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তিন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ধরনের</a:t>
                      </a:r>
                      <a:r>
                        <a:rPr lang="en-US" sz="1600" dirty="0"/>
                        <a:t>। </a:t>
                      </a:r>
                      <a:r>
                        <a:rPr lang="en-US" sz="1600" dirty="0" err="1"/>
                        <a:t>পাতায়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হলে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লীফ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ব্লাস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নোডে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হলে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নোড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ব্লাস</a:t>
                      </a:r>
                      <a:r>
                        <a:rPr lang="en-US" sz="1600" dirty="0"/>
                        <a:t> আর </a:t>
                      </a:r>
                      <a:r>
                        <a:rPr lang="en-US" sz="1600" dirty="0" err="1"/>
                        <a:t>ঘাড়ে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হলে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নেক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ব্লাস্ট</a:t>
                      </a:r>
                      <a:r>
                        <a:rPr lang="en-US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ব্যাক্টেরিয়ার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আক্রমনে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পাতা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নির্দিষ্ট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কোন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আকৃতির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দাগ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নয়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বরং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ঝলসানো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দাগ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দেখা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ছত্রাকের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আক্রমন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ধান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গাছের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পাতা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অস্বাভাবিক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বৃদ্ধি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বেকে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গোড়ার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উপরে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গুচ্ছ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মূল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ছত্রাকের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আক্রমণ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কান্ডে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শুরু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করে</a:t>
                      </a:r>
                      <a:r>
                        <a:rPr lang="en-US" dirty="0"/>
                        <a:t> ।</a:t>
                      </a:r>
                      <a:r>
                        <a:rPr lang="en-US" dirty="0" err="1"/>
                        <a:t>আস্তে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আস্তে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পূরো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কান্ডটিই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নষ্ট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ছত্রাকের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আক্রমন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পাতায়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শিরার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সমান্তরালে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দাগ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শুরুতে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আস্তে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আস্তে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দাগ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গুলা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পুরো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পাতায়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ছড়িয়ে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পরে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637156"/>
                  </a:ext>
                </a:extLst>
              </a:tr>
            </a:tbl>
          </a:graphicData>
        </a:graphic>
      </p:graphicFrame>
      <p:pic>
        <p:nvPicPr>
          <p:cNvPr id="3074" name="Picture 2" descr="Magnaporthe oryzae - Bugwoodwiki">
            <a:extLst>
              <a:ext uri="{FF2B5EF4-FFF2-40B4-BE49-F238E27FC236}">
                <a16:creationId xmlns:a16="http://schemas.microsoft.com/office/drawing/2014/main" id="{D6096413-0996-B0BB-DEDD-B4C2FD71F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69192"/>
            <a:ext cx="2473876" cy="199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acterial Blight of Rice: Symptoms, Causes, and Management - ToAgriculture">
            <a:extLst>
              <a:ext uri="{FF2B5EF4-FFF2-40B4-BE49-F238E27FC236}">
                <a16:creationId xmlns:a16="http://schemas.microsoft.com/office/drawing/2014/main" id="{3DE7DAE5-93C2-605C-A97A-4586A976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524" y="1871131"/>
            <a:ext cx="2376790" cy="198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akanae - IRRI Rice Knowledge Bank">
            <a:extLst>
              <a:ext uri="{FF2B5EF4-FFF2-40B4-BE49-F238E27FC236}">
                <a16:creationId xmlns:a16="http://schemas.microsoft.com/office/drawing/2014/main" id="{D4FC7768-B6BB-EE17-0671-F7D56D9CE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961" y="1860523"/>
            <a:ext cx="2370755" cy="200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lantwise Knowledge Bank">
            <a:extLst>
              <a:ext uri="{FF2B5EF4-FFF2-40B4-BE49-F238E27FC236}">
                <a16:creationId xmlns:a16="http://schemas.microsoft.com/office/drawing/2014/main" id="{14A6EB5A-49E7-C081-353F-0D9977374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040" y="1860523"/>
            <a:ext cx="2363466" cy="199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ice brown leaf spot (427)">
            <a:extLst>
              <a:ext uri="{FF2B5EF4-FFF2-40B4-BE49-F238E27FC236}">
                <a16:creationId xmlns:a16="http://schemas.microsoft.com/office/drawing/2014/main" id="{C3F2EE48-CEA5-D4FC-F219-B01F20A8A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8154" y="1876490"/>
            <a:ext cx="2513846" cy="199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815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রোগ</a:t>
            </a:r>
            <a:r>
              <a:rPr lang="en-US" dirty="0"/>
              <a:t> ও </a:t>
            </a:r>
            <a:r>
              <a:rPr lang="en-US" dirty="0" err="1"/>
              <a:t>বালাই</a:t>
            </a:r>
            <a:r>
              <a:rPr lang="en-US" dirty="0"/>
              <a:t> </a:t>
            </a:r>
            <a:r>
              <a:rPr lang="en-US" dirty="0" err="1"/>
              <a:t>প্রতিকার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89026" y="3985629"/>
            <a:ext cx="12013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FF00"/>
                </a:solidFill>
              </a:rPr>
              <a:t>স্পর্শক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মাকড়নাশক</a:t>
            </a:r>
            <a:r>
              <a:rPr lang="en-US" sz="1600" dirty="0">
                <a:solidFill>
                  <a:srgbClr val="FFFF00"/>
                </a:solidFill>
              </a:rPr>
              <a:t>                     </a:t>
            </a:r>
            <a:r>
              <a:rPr lang="en-US" sz="1600" dirty="0" err="1">
                <a:solidFill>
                  <a:srgbClr val="FFFF00"/>
                </a:solidFill>
              </a:rPr>
              <a:t>অন্তর্বাহী</a:t>
            </a:r>
            <a:r>
              <a:rPr lang="en-US" sz="1600" dirty="0">
                <a:solidFill>
                  <a:srgbClr val="FFFF00"/>
                </a:solidFill>
              </a:rPr>
              <a:t> ও </a:t>
            </a:r>
            <a:r>
              <a:rPr lang="en-US" sz="1600" dirty="0" err="1">
                <a:solidFill>
                  <a:srgbClr val="FFFF00"/>
                </a:solidFill>
              </a:rPr>
              <a:t>পাকস্থলীয়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মাকড়নাশক</a:t>
            </a: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অন্তর্বাহী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ছত্রাকনাশক</a:t>
            </a: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স্পর্শক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ছত্রাকনাশক</a:t>
            </a:r>
            <a:endParaRPr lang="en-US" sz="1600" dirty="0">
              <a:solidFill>
                <a:srgbClr val="FFFF00"/>
              </a:solidFill>
            </a:endParaRPr>
          </a:p>
          <a:p>
            <a:r>
              <a:rPr lang="en-US" sz="2400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26F23-CB20-273D-6E2B-8AF8076A5BE8}"/>
              </a:ext>
            </a:extLst>
          </p:cNvPr>
          <p:cNvSpPr txBox="1"/>
          <p:nvPr/>
        </p:nvSpPr>
        <p:spPr>
          <a:xfrm>
            <a:off x="181069" y="2129930"/>
            <a:ext cx="116880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পোকা-মাকড়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দুই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ধরনেরঃ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১)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স্পর্শক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মাকড়নাশক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পোকা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বাইরে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থাকে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২)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অন্তর্বাহী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মাকড়নাশক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পোকাকে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যারা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গাছের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ভিতরে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যায়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বা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রস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খায়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ছত্রাকনাশকও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দুই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ধরনেরঃ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১)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স্পর্শে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বাইরে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থাকে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২)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অন্তর্বাহী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যারা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দেহের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ভিতরে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থাকে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D90F49-61A7-7666-06F9-92D8591B9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794458"/>
              </p:ext>
            </p:extLst>
          </p:nvPr>
        </p:nvGraphicFramePr>
        <p:xfrm>
          <a:off x="181069" y="4403803"/>
          <a:ext cx="117604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113">
                  <a:extLst>
                    <a:ext uri="{9D8B030D-6E8A-4147-A177-3AD203B41FA5}">
                      <a16:colId xmlns:a16="http://schemas.microsoft.com/office/drawing/2014/main" val="3819468396"/>
                    </a:ext>
                  </a:extLst>
                </a:gridCol>
                <a:gridCol w="2940113">
                  <a:extLst>
                    <a:ext uri="{9D8B030D-6E8A-4147-A177-3AD203B41FA5}">
                      <a16:colId xmlns:a16="http://schemas.microsoft.com/office/drawing/2014/main" val="1252337825"/>
                    </a:ext>
                  </a:extLst>
                </a:gridCol>
                <a:gridCol w="2940113">
                  <a:extLst>
                    <a:ext uri="{9D8B030D-6E8A-4147-A177-3AD203B41FA5}">
                      <a16:colId xmlns:a16="http://schemas.microsoft.com/office/drawing/2014/main" val="3332271088"/>
                    </a:ext>
                  </a:extLst>
                </a:gridCol>
                <a:gridCol w="2940113">
                  <a:extLst>
                    <a:ext uri="{9D8B030D-6E8A-4147-A177-3AD203B41FA5}">
                      <a16:colId xmlns:a16="http://schemas.microsoft.com/office/drawing/2014/main" val="498262280"/>
                    </a:ext>
                  </a:extLst>
                </a:gridCol>
              </a:tblGrid>
              <a:tr h="2087531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কারটাপ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ও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সাইপারমেথ্রিন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ঔষধ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।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যেমনঃ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মাছি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ফড়িং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লেদা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পোকা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কাটুই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পোকা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মারতে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ব্যাবহৃত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হয়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অরগানোসালফেট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ক্লোরোপাইরিফস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ঔষধ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যেমনঃ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চুসে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খাওয়া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এফিড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জেসিড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বাদামী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ঘাস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ফড়িং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অন্তর্বাহী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যেমন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মাজরা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ছিদ্রকারী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ইত্যাদি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কার্বেন্ডাজিম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প্রোপিকনাজল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ঔষধ</a:t>
                      </a:r>
                      <a:r>
                        <a:rPr lang="en-US" dirty="0"/>
                        <a:t> । </a:t>
                      </a:r>
                      <a:r>
                        <a:rPr lang="en-US" dirty="0" err="1"/>
                        <a:t>যেমনঃ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কান্ড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গোড়া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পাতা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ব্লাস্ট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বাকানী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যাদের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জীবানু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দেহের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ভিতরে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তাদের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মারতে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পারে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কপার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হাইড্রক্সাইড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যেমনঃ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পাউডারি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মিলডিউ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মরীচা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এসকল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জীবানু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দেহের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বাইরে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থাকে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তাই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স্পর্শক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ছত্রাকনাশক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দিয়েই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9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70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আধুনিক</a:t>
            </a:r>
            <a:r>
              <a:rPr lang="en-US" dirty="0"/>
              <a:t> </a:t>
            </a:r>
            <a:r>
              <a:rPr lang="en-US" dirty="0" err="1"/>
              <a:t>চাষ</a:t>
            </a:r>
            <a:r>
              <a:rPr lang="en-US" dirty="0"/>
              <a:t> </a:t>
            </a:r>
            <a:r>
              <a:rPr lang="en-US" dirty="0" err="1"/>
              <a:t>পদ্ধতির</a:t>
            </a:r>
            <a:r>
              <a:rPr lang="en-US" dirty="0"/>
              <a:t> </a:t>
            </a:r>
            <a:r>
              <a:rPr lang="en-US" dirty="0" err="1"/>
              <a:t>ধারনা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26F23-CB20-273D-6E2B-8AF8076A5BE8}"/>
              </a:ext>
            </a:extLst>
          </p:cNvPr>
          <p:cNvSpPr txBox="1"/>
          <p:nvPr/>
        </p:nvSpPr>
        <p:spPr>
          <a:xfrm>
            <a:off x="181069" y="2129930"/>
            <a:ext cx="116880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দ্বিরোপন</a:t>
            </a:r>
            <a:r>
              <a:rPr lang="en-US" dirty="0"/>
              <a:t> </a:t>
            </a:r>
            <a:r>
              <a:rPr lang="en-US" dirty="0" err="1"/>
              <a:t>পদ্ধতিঃ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এক </a:t>
            </a:r>
            <a:r>
              <a:rPr lang="en-US" dirty="0" err="1"/>
              <a:t>ধান</a:t>
            </a:r>
            <a:r>
              <a:rPr lang="en-US" dirty="0"/>
              <a:t> </a:t>
            </a:r>
            <a:r>
              <a:rPr lang="en-US" dirty="0" err="1"/>
              <a:t>মাঠে</a:t>
            </a:r>
            <a:r>
              <a:rPr lang="en-US" dirty="0"/>
              <a:t> </a:t>
            </a:r>
            <a:r>
              <a:rPr lang="en-US" dirty="0" err="1"/>
              <a:t>থাকা</a:t>
            </a:r>
            <a:r>
              <a:rPr lang="en-US" dirty="0"/>
              <a:t> </a:t>
            </a:r>
            <a:r>
              <a:rPr lang="en-US" dirty="0" err="1"/>
              <a:t>অবস্থাতেই</a:t>
            </a:r>
            <a:r>
              <a:rPr lang="en-US" dirty="0"/>
              <a:t> </a:t>
            </a:r>
            <a:r>
              <a:rPr lang="en-US" dirty="0" err="1"/>
              <a:t>পরবর্তী</a:t>
            </a:r>
            <a:r>
              <a:rPr lang="en-US" dirty="0"/>
              <a:t> </a:t>
            </a:r>
            <a:r>
              <a:rPr lang="en-US" dirty="0" err="1"/>
              <a:t>সিজনের</a:t>
            </a:r>
            <a:r>
              <a:rPr lang="en-US" dirty="0"/>
              <a:t> </a:t>
            </a:r>
            <a:r>
              <a:rPr lang="en-US" dirty="0" err="1"/>
              <a:t>চারাধান</a:t>
            </a:r>
            <a:r>
              <a:rPr lang="en-US" dirty="0"/>
              <a:t> </a:t>
            </a:r>
            <a:r>
              <a:rPr lang="en-US" dirty="0" err="1"/>
              <a:t>মাঠের</a:t>
            </a:r>
            <a:r>
              <a:rPr lang="en-US" dirty="0"/>
              <a:t> </a:t>
            </a:r>
            <a:r>
              <a:rPr lang="en-US" dirty="0" err="1"/>
              <a:t>মাঝে</a:t>
            </a:r>
            <a:r>
              <a:rPr lang="en-US" dirty="0"/>
              <a:t> </a:t>
            </a:r>
            <a:r>
              <a:rPr lang="en-US" dirty="0" err="1"/>
              <a:t>রোপন</a:t>
            </a:r>
            <a:r>
              <a:rPr lang="en-US" dirty="0"/>
              <a:t> </a:t>
            </a:r>
            <a:r>
              <a:rPr lang="en-US" dirty="0" err="1"/>
              <a:t>করাকে</a:t>
            </a:r>
            <a:r>
              <a:rPr lang="en-US" dirty="0"/>
              <a:t> </a:t>
            </a:r>
            <a:r>
              <a:rPr lang="en-US" dirty="0" err="1"/>
              <a:t>দ্বিরোপন</a:t>
            </a:r>
            <a:r>
              <a:rPr lang="en-US" dirty="0"/>
              <a:t> </a:t>
            </a:r>
            <a:r>
              <a:rPr lang="en-US" dirty="0" err="1"/>
              <a:t>পদ্ধতি</a:t>
            </a:r>
            <a:r>
              <a:rPr lang="en-US" dirty="0"/>
              <a:t> </a:t>
            </a:r>
            <a:r>
              <a:rPr lang="en-US" dirty="0" err="1"/>
              <a:t>বলে</a:t>
            </a:r>
            <a:r>
              <a:rPr lang="en-US" dirty="0"/>
              <a:t> , </a:t>
            </a:r>
            <a:r>
              <a:rPr lang="en-US" dirty="0" err="1"/>
              <a:t>সাধারনত</a:t>
            </a:r>
            <a:r>
              <a:rPr lang="en-US" dirty="0"/>
              <a:t> </a:t>
            </a:r>
            <a:r>
              <a:rPr lang="en-US" dirty="0" err="1"/>
              <a:t>আমন</a:t>
            </a:r>
            <a:r>
              <a:rPr lang="en-US" dirty="0"/>
              <a:t> </a:t>
            </a:r>
            <a:r>
              <a:rPr lang="en-US" dirty="0" err="1"/>
              <a:t>ধান</a:t>
            </a:r>
            <a:r>
              <a:rPr lang="en-US" dirty="0"/>
              <a:t> </a:t>
            </a:r>
            <a:r>
              <a:rPr lang="en-US" dirty="0" err="1"/>
              <a:t>পাকার</a:t>
            </a:r>
            <a:r>
              <a:rPr lang="en-US" dirty="0"/>
              <a:t> </a:t>
            </a:r>
            <a:r>
              <a:rPr lang="en-US" dirty="0" err="1"/>
              <a:t>আগেই</a:t>
            </a:r>
            <a:r>
              <a:rPr lang="en-US" dirty="0"/>
              <a:t> , </a:t>
            </a:r>
            <a:r>
              <a:rPr lang="en-US" dirty="0" err="1"/>
              <a:t>ধান</a:t>
            </a:r>
            <a:r>
              <a:rPr lang="en-US" dirty="0"/>
              <a:t> </a:t>
            </a:r>
            <a:r>
              <a:rPr lang="en-US" dirty="0" err="1"/>
              <a:t>ঘাছের</a:t>
            </a:r>
            <a:r>
              <a:rPr lang="en-US" dirty="0"/>
              <a:t> </a:t>
            </a:r>
            <a:r>
              <a:rPr lang="en-US" dirty="0" err="1"/>
              <a:t>ফাকে</a:t>
            </a:r>
            <a:r>
              <a:rPr lang="en-US" dirty="0"/>
              <a:t> </a:t>
            </a:r>
            <a:r>
              <a:rPr lang="en-US" dirty="0" err="1"/>
              <a:t>বোরো</a:t>
            </a:r>
            <a:r>
              <a:rPr lang="en-US" dirty="0"/>
              <a:t> </a:t>
            </a:r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চারা</a:t>
            </a:r>
            <a:r>
              <a:rPr lang="en-US" dirty="0"/>
              <a:t> </a:t>
            </a:r>
            <a:r>
              <a:rPr lang="en-US" dirty="0" err="1"/>
              <a:t>লাগানো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 ।</a:t>
            </a:r>
            <a:r>
              <a:rPr lang="en-US" dirty="0" err="1"/>
              <a:t>পরে</a:t>
            </a:r>
            <a:r>
              <a:rPr lang="en-US" dirty="0"/>
              <a:t> </a:t>
            </a:r>
            <a:r>
              <a:rPr lang="en-US" dirty="0" err="1"/>
              <a:t>যখন</a:t>
            </a:r>
            <a:r>
              <a:rPr lang="en-US" dirty="0"/>
              <a:t> </a:t>
            </a:r>
            <a:r>
              <a:rPr lang="en-US" dirty="0" err="1"/>
              <a:t>আমন</a:t>
            </a:r>
            <a:r>
              <a:rPr lang="en-US" dirty="0"/>
              <a:t> </a:t>
            </a:r>
            <a:r>
              <a:rPr lang="en-US" dirty="0" err="1"/>
              <a:t>ধান</a:t>
            </a:r>
            <a:r>
              <a:rPr lang="en-US" dirty="0"/>
              <a:t> </a:t>
            </a:r>
            <a:r>
              <a:rPr lang="en-US" dirty="0" err="1"/>
              <a:t>কাটা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 </a:t>
            </a:r>
            <a:r>
              <a:rPr lang="en-US" dirty="0" err="1"/>
              <a:t>জমিতে</a:t>
            </a:r>
            <a:r>
              <a:rPr lang="en-US" dirty="0"/>
              <a:t> </a:t>
            </a:r>
            <a:r>
              <a:rPr lang="en-US" dirty="0" err="1"/>
              <a:t>বোরো</a:t>
            </a:r>
            <a:r>
              <a:rPr lang="en-US" dirty="0"/>
              <a:t> </a:t>
            </a:r>
            <a:r>
              <a:rPr lang="en-US" dirty="0" err="1"/>
              <a:t>ধান</a:t>
            </a:r>
            <a:r>
              <a:rPr lang="en-US" dirty="0"/>
              <a:t> </a:t>
            </a:r>
            <a:r>
              <a:rPr lang="en-US" dirty="0" err="1"/>
              <a:t>রয়ে</a:t>
            </a:r>
            <a:r>
              <a:rPr lang="en-US" dirty="0"/>
              <a:t> </a:t>
            </a:r>
            <a:r>
              <a:rPr lang="en-US" dirty="0" err="1"/>
              <a:t>যায়</a:t>
            </a:r>
            <a:r>
              <a:rPr lang="en-US" dirty="0"/>
              <a:t>।</a:t>
            </a:r>
          </a:p>
          <a:p>
            <a:pPr lvl="1"/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গুটি</a:t>
            </a:r>
            <a:r>
              <a:rPr lang="en-US" dirty="0"/>
              <a:t> </a:t>
            </a:r>
            <a:r>
              <a:rPr lang="en-US" dirty="0" err="1"/>
              <a:t>ইউরিয়াঃ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সাধারনত</a:t>
            </a:r>
            <a:r>
              <a:rPr lang="en-US" dirty="0"/>
              <a:t> </a:t>
            </a:r>
            <a:r>
              <a:rPr lang="en-US" dirty="0" err="1"/>
              <a:t>ধানের</a:t>
            </a:r>
            <a:r>
              <a:rPr lang="en-US" dirty="0"/>
              <a:t> </a:t>
            </a:r>
            <a:r>
              <a:rPr lang="en-US" dirty="0" err="1"/>
              <a:t>সেচের</a:t>
            </a:r>
            <a:r>
              <a:rPr lang="en-US" dirty="0"/>
              <a:t> </a:t>
            </a:r>
            <a:r>
              <a:rPr lang="en-US" dirty="0" err="1"/>
              <a:t>কারনে</a:t>
            </a:r>
            <a:r>
              <a:rPr lang="en-US" dirty="0"/>
              <a:t> </a:t>
            </a:r>
            <a:r>
              <a:rPr lang="en-US" dirty="0" err="1"/>
              <a:t>ইউরিয়া</a:t>
            </a:r>
            <a:r>
              <a:rPr lang="en-US" dirty="0"/>
              <a:t> </a:t>
            </a:r>
            <a:r>
              <a:rPr lang="en-US" dirty="0" err="1"/>
              <a:t>সার</a:t>
            </a:r>
            <a:r>
              <a:rPr lang="en-US" dirty="0"/>
              <a:t> </a:t>
            </a:r>
            <a:r>
              <a:rPr lang="en-US" dirty="0" err="1"/>
              <a:t>পানিতে</a:t>
            </a:r>
            <a:r>
              <a:rPr lang="en-US" dirty="0"/>
              <a:t> </a:t>
            </a:r>
            <a:r>
              <a:rPr lang="en-US" dirty="0" err="1"/>
              <a:t>দ্রুভীভুত</a:t>
            </a:r>
            <a:r>
              <a:rPr lang="en-US" dirty="0"/>
              <a:t> </a:t>
            </a:r>
            <a:r>
              <a:rPr lang="en-US" dirty="0" err="1"/>
              <a:t>হয়ে</a:t>
            </a:r>
            <a:r>
              <a:rPr lang="en-US" dirty="0"/>
              <a:t> </a:t>
            </a:r>
            <a:r>
              <a:rPr lang="en-US" dirty="0" err="1"/>
              <a:t>অপচয়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 ।এই </a:t>
            </a:r>
            <a:r>
              <a:rPr lang="en-US" dirty="0" err="1"/>
              <a:t>কারনে</a:t>
            </a:r>
            <a:r>
              <a:rPr lang="en-US" dirty="0"/>
              <a:t> </a:t>
            </a:r>
            <a:r>
              <a:rPr lang="en-US" dirty="0" err="1"/>
              <a:t>ইউরিয়া</a:t>
            </a:r>
            <a:r>
              <a:rPr lang="en-US" dirty="0"/>
              <a:t> </a:t>
            </a:r>
            <a:r>
              <a:rPr lang="en-US" dirty="0" err="1"/>
              <a:t>সার</a:t>
            </a:r>
            <a:r>
              <a:rPr lang="en-US" dirty="0"/>
              <a:t> </a:t>
            </a:r>
            <a:r>
              <a:rPr lang="en-US" dirty="0" err="1"/>
              <a:t>তিন</a:t>
            </a:r>
            <a:r>
              <a:rPr lang="en-US" dirty="0"/>
              <a:t> </a:t>
            </a:r>
            <a:r>
              <a:rPr lang="en-US" dirty="0" err="1"/>
              <a:t>কিস্তিতে</a:t>
            </a:r>
            <a:r>
              <a:rPr lang="en-US" dirty="0"/>
              <a:t> </a:t>
            </a:r>
            <a:r>
              <a:rPr lang="en-US" dirty="0" err="1"/>
              <a:t>দেয়া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 , </a:t>
            </a:r>
            <a:r>
              <a:rPr lang="en-US" dirty="0" err="1"/>
              <a:t>তারপরেও</a:t>
            </a:r>
            <a:r>
              <a:rPr lang="en-US" dirty="0"/>
              <a:t> </a:t>
            </a:r>
            <a:r>
              <a:rPr lang="en-US" dirty="0" err="1"/>
              <a:t>ইউরিয়ার</a:t>
            </a:r>
            <a:r>
              <a:rPr lang="en-US" dirty="0"/>
              <a:t> </a:t>
            </a:r>
            <a:r>
              <a:rPr lang="en-US" dirty="0" err="1"/>
              <a:t>অপচয়</a:t>
            </a:r>
            <a:r>
              <a:rPr lang="en-US" dirty="0"/>
              <a:t> </a:t>
            </a:r>
            <a:r>
              <a:rPr lang="en-US" dirty="0" err="1"/>
              <a:t>রোধে</a:t>
            </a:r>
            <a:r>
              <a:rPr lang="en-US" dirty="0"/>
              <a:t> </a:t>
            </a:r>
            <a:r>
              <a:rPr lang="en-US" dirty="0" err="1"/>
              <a:t>ইউরিয়া</a:t>
            </a:r>
            <a:r>
              <a:rPr lang="en-US" dirty="0"/>
              <a:t> </a:t>
            </a:r>
            <a:r>
              <a:rPr lang="en-US" dirty="0" err="1"/>
              <a:t>সার</a:t>
            </a:r>
            <a:r>
              <a:rPr lang="en-US" dirty="0"/>
              <a:t> </a:t>
            </a:r>
            <a:r>
              <a:rPr lang="en-US" dirty="0" err="1"/>
              <a:t>গুটি</a:t>
            </a:r>
            <a:r>
              <a:rPr lang="en-US" dirty="0"/>
              <a:t> </a:t>
            </a:r>
            <a:r>
              <a:rPr lang="en-US" dirty="0" err="1"/>
              <a:t>আকারে</a:t>
            </a:r>
            <a:r>
              <a:rPr lang="en-US" dirty="0"/>
              <a:t> </a:t>
            </a:r>
            <a:r>
              <a:rPr lang="en-US" dirty="0" err="1"/>
              <a:t>পাওয়া</a:t>
            </a:r>
            <a:r>
              <a:rPr lang="en-US" dirty="0"/>
              <a:t> </a:t>
            </a:r>
            <a:r>
              <a:rPr lang="en-US" dirty="0" err="1"/>
              <a:t>যায়</a:t>
            </a:r>
            <a:r>
              <a:rPr lang="en-US" dirty="0"/>
              <a:t> ।</a:t>
            </a:r>
            <a:r>
              <a:rPr lang="en-US" dirty="0" err="1"/>
              <a:t>যা</a:t>
            </a:r>
            <a:r>
              <a:rPr lang="en-US" dirty="0"/>
              <a:t> </a:t>
            </a:r>
            <a:r>
              <a:rPr lang="en-US" dirty="0" err="1"/>
              <a:t>তাড়াতাড়ি</a:t>
            </a:r>
            <a:r>
              <a:rPr lang="en-US" dirty="0"/>
              <a:t> </a:t>
            </a:r>
            <a:r>
              <a:rPr lang="en-US" dirty="0" err="1"/>
              <a:t>মাটিতে</a:t>
            </a:r>
            <a:r>
              <a:rPr lang="en-US" dirty="0"/>
              <a:t> </a:t>
            </a:r>
            <a:r>
              <a:rPr lang="en-US" dirty="0" err="1"/>
              <a:t>বা</a:t>
            </a:r>
            <a:r>
              <a:rPr lang="en-US" dirty="0"/>
              <a:t> </a:t>
            </a:r>
            <a:r>
              <a:rPr lang="en-US" dirty="0" err="1"/>
              <a:t>পানিতে</a:t>
            </a:r>
            <a:r>
              <a:rPr lang="en-US" dirty="0"/>
              <a:t> </a:t>
            </a:r>
            <a:r>
              <a:rPr lang="en-US" dirty="0" err="1"/>
              <a:t>মেশে</a:t>
            </a:r>
            <a:r>
              <a:rPr lang="en-US" dirty="0"/>
              <a:t> </a:t>
            </a:r>
            <a:r>
              <a:rPr lang="en-US" dirty="0" err="1"/>
              <a:t>না</a:t>
            </a:r>
            <a:r>
              <a:rPr lang="en-US" dirty="0"/>
              <a:t> ,</a:t>
            </a:r>
            <a:r>
              <a:rPr lang="en-US" dirty="0" err="1"/>
              <a:t>ধীরে</a:t>
            </a:r>
            <a:r>
              <a:rPr lang="en-US" dirty="0"/>
              <a:t> </a:t>
            </a:r>
            <a:r>
              <a:rPr lang="en-US" dirty="0" err="1"/>
              <a:t>ধীরে</a:t>
            </a:r>
            <a:r>
              <a:rPr lang="en-US" dirty="0"/>
              <a:t> </a:t>
            </a:r>
            <a:r>
              <a:rPr lang="en-US" dirty="0" err="1"/>
              <a:t>মাটিতে</a:t>
            </a:r>
            <a:r>
              <a:rPr lang="en-US" dirty="0"/>
              <a:t> </a:t>
            </a:r>
            <a:r>
              <a:rPr lang="en-US" dirty="0" err="1"/>
              <a:t>ইউরিয়া</a:t>
            </a:r>
            <a:r>
              <a:rPr lang="en-US" dirty="0"/>
              <a:t> </a:t>
            </a:r>
            <a:r>
              <a:rPr lang="en-US" dirty="0" err="1"/>
              <a:t>সার</a:t>
            </a:r>
            <a:r>
              <a:rPr lang="en-US" dirty="0"/>
              <a:t> </a:t>
            </a:r>
            <a:r>
              <a:rPr lang="en-US" dirty="0" err="1"/>
              <a:t>যুক্ত</a:t>
            </a:r>
            <a:r>
              <a:rPr lang="en-US" dirty="0"/>
              <a:t> </a:t>
            </a:r>
            <a:r>
              <a:rPr lang="en-US" dirty="0" err="1"/>
              <a:t>করে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ড্রাম</a:t>
            </a:r>
            <a:r>
              <a:rPr lang="en-US" dirty="0"/>
              <a:t> </a:t>
            </a:r>
            <a:r>
              <a:rPr lang="en-US" dirty="0" err="1"/>
              <a:t>সিডারঃ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ড্রামের</a:t>
            </a:r>
            <a:r>
              <a:rPr lang="en-US" dirty="0"/>
              <a:t> </a:t>
            </a:r>
            <a:r>
              <a:rPr lang="en-US" dirty="0" err="1"/>
              <a:t>মধ্যে</a:t>
            </a:r>
            <a:r>
              <a:rPr lang="en-US" dirty="0"/>
              <a:t> </a:t>
            </a:r>
            <a:r>
              <a:rPr lang="en-US" dirty="0" err="1"/>
              <a:t>সমান্তরালে</a:t>
            </a:r>
            <a:r>
              <a:rPr lang="en-US" dirty="0"/>
              <a:t> </a:t>
            </a:r>
            <a:r>
              <a:rPr lang="en-US" dirty="0" err="1"/>
              <a:t>ছিদ্র</a:t>
            </a:r>
            <a:r>
              <a:rPr lang="en-US" dirty="0"/>
              <a:t> </a:t>
            </a:r>
            <a:r>
              <a:rPr lang="en-US" dirty="0" err="1"/>
              <a:t>করে</a:t>
            </a:r>
            <a:r>
              <a:rPr lang="en-US" dirty="0"/>
              <a:t> </a:t>
            </a:r>
            <a:r>
              <a:rPr lang="en-US" dirty="0" err="1"/>
              <a:t>ভিতরে</a:t>
            </a:r>
            <a:r>
              <a:rPr lang="en-US" dirty="0"/>
              <a:t> </a:t>
            </a:r>
            <a:r>
              <a:rPr lang="en-US" dirty="0" err="1"/>
              <a:t>বীজ</a:t>
            </a:r>
            <a:r>
              <a:rPr lang="en-US" dirty="0"/>
              <a:t> </a:t>
            </a:r>
            <a:r>
              <a:rPr lang="en-US" dirty="0" err="1"/>
              <a:t>দিয়ে</a:t>
            </a:r>
            <a:r>
              <a:rPr lang="en-US" dirty="0"/>
              <a:t> </a:t>
            </a:r>
            <a:r>
              <a:rPr lang="en-US" dirty="0" err="1"/>
              <a:t>ড্রামকে</a:t>
            </a:r>
            <a:r>
              <a:rPr lang="en-US" dirty="0"/>
              <a:t> </a:t>
            </a:r>
            <a:r>
              <a:rPr lang="en-US" dirty="0" err="1"/>
              <a:t>জমিতে</a:t>
            </a:r>
            <a:r>
              <a:rPr lang="en-US" dirty="0"/>
              <a:t> </a:t>
            </a:r>
            <a:r>
              <a:rPr lang="en-US" dirty="0" err="1"/>
              <a:t>ঘুরালে</a:t>
            </a:r>
            <a:r>
              <a:rPr lang="en-US" dirty="0"/>
              <a:t> </a:t>
            </a:r>
            <a:r>
              <a:rPr lang="en-US" dirty="0" err="1"/>
              <a:t>সঠিক</a:t>
            </a:r>
            <a:r>
              <a:rPr lang="en-US" dirty="0"/>
              <a:t> </a:t>
            </a:r>
            <a:r>
              <a:rPr lang="en-US" dirty="0" err="1"/>
              <a:t>উপায়ে</a:t>
            </a:r>
            <a:r>
              <a:rPr lang="en-US" dirty="0"/>
              <a:t> </a:t>
            </a:r>
            <a:r>
              <a:rPr lang="en-US" dirty="0" err="1"/>
              <a:t>বীজ</a:t>
            </a:r>
            <a:r>
              <a:rPr lang="en-US" dirty="0"/>
              <a:t> </a:t>
            </a:r>
            <a:r>
              <a:rPr lang="en-US" dirty="0" err="1"/>
              <a:t>রোপন</a:t>
            </a:r>
            <a:r>
              <a:rPr lang="en-US" dirty="0"/>
              <a:t> </a:t>
            </a:r>
            <a:r>
              <a:rPr lang="en-US" dirty="0" err="1"/>
              <a:t>হয়</a:t>
            </a:r>
            <a:r>
              <a:rPr lang="en-US" dirty="0"/>
              <a:t>।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এল</a:t>
            </a:r>
            <a:r>
              <a:rPr lang="en-US" dirty="0"/>
              <a:t> </a:t>
            </a:r>
            <a:r>
              <a:rPr lang="en-US" dirty="0" err="1"/>
              <a:t>সিসির</a:t>
            </a:r>
            <a:r>
              <a:rPr lang="en-US" dirty="0"/>
              <a:t> (Leaf Color Chart)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 err="1"/>
              <a:t>গাছের</a:t>
            </a:r>
            <a:r>
              <a:rPr lang="en-US" dirty="0"/>
              <a:t> </a:t>
            </a:r>
            <a:r>
              <a:rPr lang="en-US" dirty="0" err="1"/>
              <a:t>পাতার</a:t>
            </a:r>
            <a:r>
              <a:rPr lang="en-US" dirty="0"/>
              <a:t> </a:t>
            </a:r>
            <a:r>
              <a:rPr lang="en-US" dirty="0" err="1"/>
              <a:t>রঙ</a:t>
            </a:r>
            <a:r>
              <a:rPr lang="en-US" dirty="0"/>
              <a:t>, </a:t>
            </a:r>
            <a:r>
              <a:rPr lang="en-US" dirty="0" err="1"/>
              <a:t>চার্টের</a:t>
            </a:r>
            <a:r>
              <a:rPr lang="en-US" dirty="0"/>
              <a:t> </a:t>
            </a:r>
            <a:r>
              <a:rPr lang="en-US" dirty="0" err="1"/>
              <a:t>রঙ্গের</a:t>
            </a:r>
            <a:r>
              <a:rPr lang="en-US" dirty="0"/>
              <a:t> </a:t>
            </a:r>
            <a:r>
              <a:rPr lang="en-US" dirty="0" err="1"/>
              <a:t>সাথে</a:t>
            </a:r>
            <a:r>
              <a:rPr lang="en-US" dirty="0"/>
              <a:t> </a:t>
            </a:r>
            <a:r>
              <a:rPr lang="en-US" dirty="0" err="1"/>
              <a:t>মিলিয়ে</a:t>
            </a:r>
            <a:r>
              <a:rPr lang="en-US" dirty="0"/>
              <a:t> </a:t>
            </a:r>
            <a:r>
              <a:rPr lang="en-US" dirty="0" err="1"/>
              <a:t>কতটুকু</a:t>
            </a:r>
            <a:r>
              <a:rPr lang="en-US" dirty="0"/>
              <a:t> </a:t>
            </a:r>
            <a:r>
              <a:rPr lang="en-US" dirty="0" err="1"/>
              <a:t>ইউরিয়া</a:t>
            </a:r>
            <a:r>
              <a:rPr lang="en-US" dirty="0"/>
              <a:t> </a:t>
            </a:r>
            <a:r>
              <a:rPr lang="en-US" dirty="0" err="1"/>
              <a:t>সার</a:t>
            </a:r>
            <a:r>
              <a:rPr lang="en-US" dirty="0"/>
              <a:t> </a:t>
            </a:r>
            <a:r>
              <a:rPr lang="en-US" dirty="0" err="1"/>
              <a:t>লাগবে</a:t>
            </a:r>
            <a:r>
              <a:rPr lang="en-US" dirty="0"/>
              <a:t> </a:t>
            </a:r>
            <a:r>
              <a:rPr lang="en-US" dirty="0" err="1"/>
              <a:t>তা</a:t>
            </a:r>
            <a:r>
              <a:rPr lang="en-US" dirty="0"/>
              <a:t> </a:t>
            </a:r>
            <a:r>
              <a:rPr lang="en-US" dirty="0" err="1"/>
              <a:t>নির্নয়</a:t>
            </a:r>
            <a:r>
              <a:rPr lang="en-US" dirty="0"/>
              <a:t> </a:t>
            </a:r>
            <a:r>
              <a:rPr lang="en-US" dirty="0" err="1"/>
              <a:t>করা</a:t>
            </a:r>
            <a:r>
              <a:rPr lang="en-US" dirty="0"/>
              <a:t> </a:t>
            </a:r>
            <a:r>
              <a:rPr lang="en-US" dirty="0" err="1"/>
              <a:t>যায়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794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চিনি</a:t>
            </a:r>
            <a:r>
              <a:rPr lang="en-US" dirty="0"/>
              <a:t> </a:t>
            </a:r>
            <a:r>
              <a:rPr lang="en-US" dirty="0" err="1"/>
              <a:t>জাতীয়</a:t>
            </a:r>
            <a:r>
              <a:rPr lang="en-US" dirty="0"/>
              <a:t> </a:t>
            </a:r>
            <a:r>
              <a:rPr lang="en-US" dirty="0" err="1"/>
              <a:t>ফসল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50" y="2493898"/>
            <a:ext cx="60024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/>
              <a:t>এই </a:t>
            </a:r>
            <a:r>
              <a:rPr lang="en-US" sz="2400" dirty="0" err="1"/>
              <a:t>ফসল</a:t>
            </a:r>
            <a:r>
              <a:rPr lang="en-US" sz="2400" dirty="0"/>
              <a:t> </a:t>
            </a:r>
            <a:r>
              <a:rPr lang="en-US" sz="2400" dirty="0" err="1"/>
              <a:t>সালোকসংশ্লেষণ</a:t>
            </a:r>
            <a:r>
              <a:rPr lang="en-US" sz="2400" dirty="0"/>
              <a:t> </a:t>
            </a:r>
            <a:r>
              <a:rPr lang="en-US" sz="2400" dirty="0" err="1"/>
              <a:t>প্রক্রিয়ায়</a:t>
            </a:r>
            <a:r>
              <a:rPr lang="en-US" sz="2400" dirty="0"/>
              <a:t> </a:t>
            </a:r>
            <a:r>
              <a:rPr lang="en-US" sz="2400" dirty="0" err="1"/>
              <a:t>তৈরীকৃত</a:t>
            </a:r>
            <a:r>
              <a:rPr lang="en-US" sz="2400" dirty="0"/>
              <a:t> </a:t>
            </a:r>
            <a:r>
              <a:rPr lang="en-US" sz="2400" dirty="0" err="1"/>
              <a:t>শর্করাকে</a:t>
            </a:r>
            <a:r>
              <a:rPr lang="en-US" sz="2400" dirty="0"/>
              <a:t> </a:t>
            </a:r>
            <a:r>
              <a:rPr lang="en-US" sz="2400" dirty="0" err="1"/>
              <a:t>নিজের</a:t>
            </a:r>
            <a:r>
              <a:rPr lang="en-US" sz="2400" dirty="0"/>
              <a:t> </a:t>
            </a:r>
            <a:r>
              <a:rPr lang="en-US" sz="2400" dirty="0" err="1"/>
              <a:t>দেহে</a:t>
            </a:r>
            <a:r>
              <a:rPr lang="en-US" sz="2400" dirty="0"/>
              <a:t> </a:t>
            </a:r>
            <a:r>
              <a:rPr lang="en-US" sz="2400" dirty="0" err="1"/>
              <a:t>সুক্রোজ</a:t>
            </a:r>
            <a:r>
              <a:rPr lang="en-US" sz="2400" dirty="0"/>
              <a:t> </a:t>
            </a:r>
            <a:r>
              <a:rPr lang="en-US" sz="2400" dirty="0" err="1"/>
              <a:t>আকারে</a:t>
            </a:r>
            <a:r>
              <a:rPr lang="en-US" sz="2400" dirty="0"/>
              <a:t>/ </a:t>
            </a:r>
            <a:r>
              <a:rPr lang="en-US" sz="2400" dirty="0" err="1"/>
              <a:t>চিনি</a:t>
            </a:r>
            <a:r>
              <a:rPr lang="en-US" sz="2400" dirty="0"/>
              <a:t> </a:t>
            </a:r>
            <a:r>
              <a:rPr lang="en-US" sz="2400" dirty="0" err="1"/>
              <a:t>আকারে</a:t>
            </a:r>
            <a:r>
              <a:rPr lang="en-US" sz="2400" dirty="0"/>
              <a:t> </a:t>
            </a:r>
            <a:r>
              <a:rPr lang="en-US" sz="2400" dirty="0" err="1"/>
              <a:t>জমা</a:t>
            </a:r>
            <a:r>
              <a:rPr lang="en-US" sz="2400" dirty="0"/>
              <a:t> </a:t>
            </a:r>
            <a:r>
              <a:rPr lang="en-US" sz="2400" dirty="0" err="1"/>
              <a:t>রাখতে</a:t>
            </a:r>
            <a:r>
              <a:rPr lang="en-US" sz="2400" dirty="0"/>
              <a:t> </a:t>
            </a:r>
            <a:r>
              <a:rPr lang="en-US" sz="2400" dirty="0" err="1"/>
              <a:t>পারে</a:t>
            </a:r>
            <a:r>
              <a:rPr lang="en-US" sz="2400" dirty="0"/>
              <a:t>। এই </a:t>
            </a:r>
            <a:r>
              <a:rPr lang="en-US" sz="2400" dirty="0" err="1"/>
              <a:t>ধরনের</a:t>
            </a:r>
            <a:r>
              <a:rPr lang="en-US" sz="2400" dirty="0"/>
              <a:t> </a:t>
            </a:r>
            <a:r>
              <a:rPr lang="en-US" sz="2400" dirty="0" err="1"/>
              <a:t>ফসলকে</a:t>
            </a:r>
            <a:r>
              <a:rPr lang="en-US" sz="2400" dirty="0"/>
              <a:t> </a:t>
            </a:r>
            <a:r>
              <a:rPr lang="en-US" sz="2400" dirty="0" err="1"/>
              <a:t>চিনি</a:t>
            </a:r>
            <a:r>
              <a:rPr lang="en-US" sz="2400" dirty="0"/>
              <a:t> </a:t>
            </a:r>
            <a:r>
              <a:rPr lang="en-US" sz="2400" dirty="0" err="1"/>
              <a:t>জাতীয়</a:t>
            </a:r>
            <a:r>
              <a:rPr lang="en-US" sz="2400" dirty="0"/>
              <a:t> </a:t>
            </a:r>
            <a:r>
              <a:rPr lang="en-US" sz="2400" dirty="0" err="1"/>
              <a:t>ফসল</a:t>
            </a:r>
            <a:r>
              <a:rPr lang="en-US" sz="2400" dirty="0"/>
              <a:t> </a:t>
            </a:r>
            <a:r>
              <a:rPr lang="en-US" sz="2400" dirty="0" err="1"/>
              <a:t>বলে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আখঃ</a:t>
            </a:r>
            <a:r>
              <a:rPr lang="en-US" sz="2400" dirty="0"/>
              <a:t> </a:t>
            </a:r>
            <a:r>
              <a:rPr lang="en-US" sz="2400" i="1" dirty="0"/>
              <a:t>Saccharum officinarum</a:t>
            </a:r>
          </a:p>
          <a:p>
            <a:r>
              <a:rPr lang="en-US" sz="2400" dirty="0" err="1"/>
              <a:t>সুগারবীটঃ</a:t>
            </a:r>
            <a:r>
              <a:rPr lang="en-US" sz="2400" dirty="0"/>
              <a:t> </a:t>
            </a:r>
            <a:r>
              <a:rPr lang="en-US" sz="2400" i="1" dirty="0"/>
              <a:t>Beta vulgaris</a:t>
            </a:r>
          </a:p>
          <a:p>
            <a:r>
              <a:rPr lang="en-US" sz="2400" dirty="0" err="1"/>
              <a:t>খেজুরঃ</a:t>
            </a:r>
            <a:r>
              <a:rPr lang="en-US" sz="2400" dirty="0"/>
              <a:t> </a:t>
            </a:r>
            <a:r>
              <a:rPr lang="en-US" sz="2400" i="1" dirty="0"/>
              <a:t>Phoenix sylvestris</a:t>
            </a:r>
          </a:p>
          <a:p>
            <a:r>
              <a:rPr lang="en-US" sz="2400" dirty="0" err="1"/>
              <a:t>তালঃ</a:t>
            </a:r>
            <a:r>
              <a:rPr lang="en-US" sz="2400" dirty="0"/>
              <a:t> </a:t>
            </a:r>
            <a:r>
              <a:rPr lang="en-US" sz="2400" i="1" dirty="0"/>
              <a:t>Borassus flabellifer</a:t>
            </a:r>
          </a:p>
        </p:txBody>
      </p:sp>
      <p:pic>
        <p:nvPicPr>
          <p:cNvPr id="4098" name="Picture 2" descr="Sugar: a killer crop? | Natural History Museum">
            <a:extLst>
              <a:ext uri="{FF2B5EF4-FFF2-40B4-BE49-F238E27FC236}">
                <a16:creationId xmlns:a16="http://schemas.microsoft.com/office/drawing/2014/main" id="{3C020E3E-BBBF-C971-A384-0E8C96BDB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401" y="2339095"/>
            <a:ext cx="2708298" cy="179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ugar Beet - Overview, History, Benefits, Precaution, Dosage – Bhumija  Lifesciences">
            <a:extLst>
              <a:ext uri="{FF2B5EF4-FFF2-40B4-BE49-F238E27FC236}">
                <a16:creationId xmlns:a16="http://schemas.microsoft.com/office/drawing/2014/main" id="{30538015-9639-FBD4-DB39-886E3945F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699" y="2339095"/>
            <a:ext cx="2697509" cy="179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Date palm - Wikipedia">
            <a:extLst>
              <a:ext uri="{FF2B5EF4-FFF2-40B4-BE49-F238E27FC236}">
                <a16:creationId xmlns:a16="http://schemas.microsoft.com/office/drawing/2014/main" id="{CFD025AB-AF27-542A-031D-113873F2A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401" y="4137434"/>
            <a:ext cx="2697509" cy="175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alm Fruit Images – Browse 417,513 Stock Photos, Vectors, and Video | Adobe  Stock">
            <a:extLst>
              <a:ext uri="{FF2B5EF4-FFF2-40B4-BE49-F238E27FC236}">
                <a16:creationId xmlns:a16="http://schemas.microsoft.com/office/drawing/2014/main" id="{21B76E49-5742-AA49-98B9-0B531688E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488" y="4137434"/>
            <a:ext cx="2686720" cy="1791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796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চিনি</a:t>
            </a:r>
            <a:r>
              <a:rPr lang="en-US" dirty="0"/>
              <a:t> </a:t>
            </a:r>
            <a:r>
              <a:rPr lang="en-US" dirty="0" err="1"/>
              <a:t>জাতীয়</a:t>
            </a:r>
            <a:r>
              <a:rPr lang="en-US" dirty="0"/>
              <a:t> </a:t>
            </a:r>
            <a:r>
              <a:rPr lang="en-US" dirty="0" err="1"/>
              <a:t>ফসলের</a:t>
            </a:r>
            <a:r>
              <a:rPr lang="en-US" dirty="0"/>
              <a:t> </a:t>
            </a:r>
            <a:r>
              <a:rPr lang="en-US" dirty="0" err="1"/>
              <a:t>গুরুত্ব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26F23-CB20-273D-6E2B-8AF8076A5BE8}"/>
              </a:ext>
            </a:extLst>
          </p:cNvPr>
          <p:cNvSpPr txBox="1"/>
          <p:nvPr/>
        </p:nvSpPr>
        <p:spPr>
          <a:xfrm>
            <a:off x="144855" y="2301946"/>
            <a:ext cx="116880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আখ</a:t>
            </a:r>
            <a:r>
              <a:rPr lang="en-US" sz="2800" dirty="0"/>
              <a:t> </a:t>
            </a:r>
            <a:r>
              <a:rPr lang="en-US" sz="2800" dirty="0" err="1"/>
              <a:t>এদেশের</a:t>
            </a:r>
            <a:r>
              <a:rPr lang="en-US" sz="2800" dirty="0"/>
              <a:t> ২য় </a:t>
            </a:r>
            <a:r>
              <a:rPr lang="en-US" sz="2800" dirty="0" err="1"/>
              <a:t>অর্থকারী</a:t>
            </a:r>
            <a:r>
              <a:rPr lang="en-US" sz="2800" dirty="0"/>
              <a:t> </a:t>
            </a:r>
            <a:r>
              <a:rPr lang="en-US" sz="2800" dirty="0" err="1"/>
              <a:t>ফসল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ফলন</a:t>
            </a:r>
            <a:r>
              <a:rPr lang="en-US" sz="2800" dirty="0"/>
              <a:t> </a:t>
            </a:r>
            <a:r>
              <a:rPr lang="en-US" sz="2800" dirty="0" err="1"/>
              <a:t>গড়প্রতি</a:t>
            </a:r>
            <a:r>
              <a:rPr lang="en-US" sz="2800" dirty="0"/>
              <a:t> ৪৫-৭৫ </a:t>
            </a:r>
            <a:r>
              <a:rPr lang="en-US" sz="2800" dirty="0" err="1"/>
              <a:t>টিন</a:t>
            </a:r>
            <a:r>
              <a:rPr lang="en-US" sz="2800" dirty="0"/>
              <a:t>/</a:t>
            </a:r>
            <a:r>
              <a:rPr lang="en-US" sz="2800" dirty="0" err="1"/>
              <a:t>হেক্টর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গুড়</a:t>
            </a:r>
            <a:r>
              <a:rPr lang="en-US" sz="2800" dirty="0"/>
              <a:t> , </a:t>
            </a:r>
            <a:r>
              <a:rPr lang="en-US" sz="2800" dirty="0" err="1"/>
              <a:t>চিনি</a:t>
            </a:r>
            <a:r>
              <a:rPr lang="en-US" sz="2800" dirty="0"/>
              <a:t>, </a:t>
            </a:r>
            <a:r>
              <a:rPr lang="en-US" sz="2800" dirty="0" err="1"/>
              <a:t>সিরাপ</a:t>
            </a:r>
            <a:r>
              <a:rPr lang="en-US" sz="2800" dirty="0"/>
              <a:t> </a:t>
            </a:r>
            <a:r>
              <a:rPr lang="en-US" sz="2800" dirty="0" err="1"/>
              <a:t>তৈরি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আখের</a:t>
            </a:r>
            <a:r>
              <a:rPr lang="en-US" sz="2800" dirty="0"/>
              <a:t> </a:t>
            </a:r>
            <a:r>
              <a:rPr lang="en-US" sz="2800" dirty="0" err="1"/>
              <a:t>রস</a:t>
            </a:r>
            <a:r>
              <a:rPr lang="en-US" sz="2800" dirty="0"/>
              <a:t> </a:t>
            </a:r>
            <a:r>
              <a:rPr lang="en-US" sz="2800" dirty="0" err="1"/>
              <a:t>থেকে</a:t>
            </a:r>
            <a:r>
              <a:rPr lang="en-US" sz="2800" dirty="0"/>
              <a:t> ৪% </a:t>
            </a:r>
            <a:r>
              <a:rPr lang="en-US" sz="2800" dirty="0" err="1"/>
              <a:t>মোলাসেস</a:t>
            </a:r>
            <a:r>
              <a:rPr lang="en-US" sz="2800" dirty="0"/>
              <a:t> </a:t>
            </a:r>
            <a:r>
              <a:rPr lang="en-US" sz="2800" dirty="0" err="1"/>
              <a:t>পাওয়া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বিভিন্ন</a:t>
            </a:r>
            <a:r>
              <a:rPr lang="en-US" sz="2800" dirty="0"/>
              <a:t> </a:t>
            </a:r>
            <a:r>
              <a:rPr lang="en-US" sz="2800" dirty="0" err="1"/>
              <a:t>এসিড</a:t>
            </a:r>
            <a:r>
              <a:rPr lang="en-US" sz="2800" dirty="0"/>
              <a:t> </a:t>
            </a:r>
            <a:r>
              <a:rPr lang="en-US" sz="2800" dirty="0" err="1"/>
              <a:t>তৈরীতে</a:t>
            </a:r>
            <a:r>
              <a:rPr lang="en-US" sz="2800" dirty="0"/>
              <a:t> </a:t>
            </a:r>
            <a:r>
              <a:rPr lang="en-US" sz="2800" dirty="0" err="1"/>
              <a:t>ব্যাবহৃত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জৈবসার</a:t>
            </a:r>
            <a:r>
              <a:rPr lang="en-US" sz="2800" dirty="0"/>
              <a:t> </a:t>
            </a:r>
            <a:r>
              <a:rPr lang="en-US" sz="2800" dirty="0" err="1"/>
              <a:t>হিসেবে</a:t>
            </a:r>
            <a:r>
              <a:rPr lang="en-US" sz="2800" dirty="0"/>
              <a:t> </a:t>
            </a:r>
            <a:r>
              <a:rPr lang="en-US" sz="2800" dirty="0" err="1"/>
              <a:t>ব্যাবহার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উপজাত</a:t>
            </a:r>
            <a:r>
              <a:rPr lang="en-US" sz="2800" dirty="0"/>
              <a:t> </a:t>
            </a:r>
            <a:r>
              <a:rPr lang="en-US" sz="2800" dirty="0" err="1"/>
              <a:t>দ্রব্য</a:t>
            </a:r>
            <a:r>
              <a:rPr lang="en-US" sz="2800" dirty="0"/>
              <a:t> </a:t>
            </a:r>
            <a:r>
              <a:rPr lang="en-US" sz="2800" dirty="0" err="1"/>
              <a:t>দিয়ে</a:t>
            </a:r>
            <a:r>
              <a:rPr lang="en-US" sz="2800" dirty="0"/>
              <a:t> </a:t>
            </a:r>
            <a:r>
              <a:rPr lang="en-US" sz="2800" dirty="0" err="1"/>
              <a:t>কাগজ</a:t>
            </a:r>
            <a:r>
              <a:rPr lang="en-US" sz="2800" dirty="0"/>
              <a:t> </a:t>
            </a:r>
            <a:r>
              <a:rPr lang="en-US" sz="2800" dirty="0" err="1"/>
              <a:t>তৈরী</a:t>
            </a:r>
            <a:r>
              <a:rPr lang="en-US" sz="2800" dirty="0"/>
              <a:t> ও </a:t>
            </a:r>
            <a:r>
              <a:rPr lang="en-US" sz="2800" dirty="0" err="1"/>
              <a:t>শিল্পের</a:t>
            </a:r>
            <a:r>
              <a:rPr lang="en-US" sz="2800" dirty="0"/>
              <a:t> </a:t>
            </a:r>
            <a:r>
              <a:rPr lang="en-US" sz="2800" dirty="0" err="1"/>
              <a:t>কাচামাল</a:t>
            </a:r>
            <a:r>
              <a:rPr lang="en-US" sz="2800" dirty="0"/>
              <a:t> </a:t>
            </a:r>
            <a:r>
              <a:rPr lang="en-US" sz="2800" dirty="0" err="1"/>
              <a:t>হিসেবে</a:t>
            </a:r>
            <a:r>
              <a:rPr lang="en-US" sz="2800" dirty="0"/>
              <a:t> </a:t>
            </a:r>
            <a:r>
              <a:rPr lang="en-US" sz="2800" dirty="0" err="1"/>
              <a:t>ব্যাবহৃত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ঘরের</a:t>
            </a:r>
            <a:r>
              <a:rPr lang="en-US" sz="2800" dirty="0"/>
              <a:t> </a:t>
            </a:r>
            <a:r>
              <a:rPr lang="en-US" sz="2800" dirty="0" err="1"/>
              <a:t>ছাউনি</a:t>
            </a:r>
            <a:r>
              <a:rPr lang="en-US" sz="2800" dirty="0"/>
              <a:t> ও </a:t>
            </a:r>
            <a:r>
              <a:rPr lang="en-US" sz="2800" dirty="0" err="1"/>
              <a:t>জ্বালনি</a:t>
            </a:r>
            <a:r>
              <a:rPr lang="en-US" sz="2800" dirty="0"/>
              <a:t> </a:t>
            </a:r>
            <a:r>
              <a:rPr lang="en-US" sz="2800" dirty="0" err="1"/>
              <a:t>হিসেবে</a:t>
            </a:r>
            <a:r>
              <a:rPr lang="en-US" sz="2800" dirty="0"/>
              <a:t> </a:t>
            </a:r>
            <a:r>
              <a:rPr lang="en-US" sz="2800" dirty="0" err="1"/>
              <a:t>ব্যাবহৃত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পশুখাদ্য</a:t>
            </a:r>
            <a:r>
              <a:rPr lang="en-US" sz="2800" dirty="0"/>
              <a:t> </a:t>
            </a:r>
            <a:r>
              <a:rPr lang="en-US" sz="2800" dirty="0" err="1"/>
              <a:t>হিসেবে</a:t>
            </a:r>
            <a:r>
              <a:rPr lang="en-US" sz="2800" dirty="0"/>
              <a:t> </a:t>
            </a:r>
            <a:r>
              <a:rPr lang="en-US" sz="2800" dirty="0" err="1"/>
              <a:t>ব্যাবহৃত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17843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আখ</a:t>
            </a:r>
            <a:r>
              <a:rPr lang="en-US" dirty="0"/>
              <a:t> </a:t>
            </a:r>
            <a:r>
              <a:rPr lang="en-US" dirty="0" err="1"/>
              <a:t>চাষ</a:t>
            </a:r>
            <a:r>
              <a:rPr lang="en-US" dirty="0"/>
              <a:t> </a:t>
            </a:r>
            <a:r>
              <a:rPr lang="en-US" dirty="0" err="1"/>
              <a:t>পদ্ধতি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E7BA7C-69A3-4A12-11E3-27EF7BE26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147172"/>
              </p:ext>
            </p:extLst>
          </p:nvPr>
        </p:nvGraphicFramePr>
        <p:xfrm>
          <a:off x="0" y="1896616"/>
          <a:ext cx="12192000" cy="50488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61719">
                  <a:extLst>
                    <a:ext uri="{9D8B030D-6E8A-4147-A177-3AD203B41FA5}">
                      <a16:colId xmlns:a16="http://schemas.microsoft.com/office/drawing/2014/main" val="2579149142"/>
                    </a:ext>
                  </a:extLst>
                </a:gridCol>
                <a:gridCol w="9530281">
                  <a:extLst>
                    <a:ext uri="{9D8B030D-6E8A-4147-A177-3AD203B41FA5}">
                      <a16:colId xmlns:a16="http://schemas.microsoft.com/office/drawing/2014/main" val="2806476655"/>
                    </a:ext>
                  </a:extLst>
                </a:gridCol>
              </a:tblGrid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চাষের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কার্যপদ্ধতি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42341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আখের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জাত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আগাম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পরিপক্ক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খরা</a:t>
                      </a:r>
                      <a:r>
                        <a:rPr lang="en-US" sz="1200" dirty="0"/>
                        <a:t> ও </a:t>
                      </a:r>
                      <a:r>
                        <a:rPr lang="en-US" sz="1200" dirty="0" err="1"/>
                        <a:t>বন্যা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সহিষ্ণু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জাত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যেমনঃ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ইশ্বরদী</a:t>
                      </a:r>
                      <a:r>
                        <a:rPr lang="en-US" sz="1200" dirty="0"/>
                        <a:t> ৩৩,৩৫,৩৬,৩৭,৩৮,৩৯, </a:t>
                      </a:r>
                      <a:r>
                        <a:rPr lang="en-US" sz="1200" dirty="0" err="1"/>
                        <a:t>বিএসআরআই</a:t>
                      </a:r>
                      <a:r>
                        <a:rPr lang="en-US" sz="1200" dirty="0"/>
                        <a:t> ৪১, </a:t>
                      </a:r>
                      <a:r>
                        <a:rPr lang="en-US" sz="1200" dirty="0" err="1"/>
                        <a:t>শ্রীপুরের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মিশ্রিমালা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628488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জমি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নির্বাচন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তৈরি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উচু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মাঝারী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উচু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যেখানে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পানি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নিষ্কাষনের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সুবিধা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আছে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এটেল-দো</a:t>
                      </a:r>
                      <a:r>
                        <a:rPr lang="en-US" sz="1200" dirty="0"/>
                        <a:t> আশ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দো</a:t>
                      </a:r>
                      <a:r>
                        <a:rPr lang="en-US" sz="1200" dirty="0"/>
                        <a:t> আশ </a:t>
                      </a:r>
                      <a:r>
                        <a:rPr lang="en-US" sz="1200" dirty="0" err="1"/>
                        <a:t>মাটিতে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ভালো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জন্মে</a:t>
                      </a:r>
                      <a:r>
                        <a:rPr lang="en-US" sz="1200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996772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রোপনকাল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আশ্বিন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থেকে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মধ্য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অগ্রহায়ন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শীতের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শুরুতে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বপন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করতে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77783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বীজ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বাছাই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সাধারনত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আখের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কান্ডের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উপরের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দিকের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অংশ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বীজ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হিসেবে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ব্যাবহৃত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। </a:t>
                      </a:r>
                      <a:r>
                        <a:rPr lang="en-US" sz="1200" dirty="0" err="1"/>
                        <a:t>কান্ডের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ছোট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বীজ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টিকরোকে</a:t>
                      </a:r>
                      <a:r>
                        <a:rPr lang="en-US" sz="1200" dirty="0"/>
                        <a:t> “</a:t>
                      </a:r>
                      <a:r>
                        <a:rPr lang="en-US" sz="1200" dirty="0" err="1"/>
                        <a:t>সেট</a:t>
                      </a:r>
                      <a:r>
                        <a:rPr lang="en-US" sz="1200" dirty="0"/>
                        <a:t>” </a:t>
                      </a:r>
                      <a:r>
                        <a:rPr lang="en-US" sz="1200" dirty="0" err="1"/>
                        <a:t>বলে</a:t>
                      </a:r>
                      <a:r>
                        <a:rPr lang="en-US" sz="1200" dirty="0"/>
                        <a:t> । </a:t>
                      </a:r>
                      <a:r>
                        <a:rPr lang="en-US" sz="1200" dirty="0" err="1"/>
                        <a:t>হেক্টরে</a:t>
                      </a:r>
                      <a:r>
                        <a:rPr lang="en-US" sz="1200" dirty="0"/>
                        <a:t> ৫-৬ </a:t>
                      </a:r>
                      <a:r>
                        <a:rPr lang="en-US" sz="1200" dirty="0" err="1"/>
                        <a:t>টিন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কাটিং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লাগে</a:t>
                      </a:r>
                      <a:r>
                        <a:rPr lang="en-US" sz="1200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024003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বীজ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শোধন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কার্বেন্ডাজিম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ছত্রাকনাশক</a:t>
                      </a:r>
                      <a:r>
                        <a:rPr lang="en-US" sz="1200" dirty="0"/>
                        <a:t> ২০ </a:t>
                      </a:r>
                      <a:r>
                        <a:rPr lang="en-US" sz="1200" dirty="0" err="1"/>
                        <a:t>লিটারে</a:t>
                      </a:r>
                      <a:r>
                        <a:rPr lang="en-US" sz="1200" dirty="0"/>
                        <a:t> ২০ </a:t>
                      </a:r>
                      <a:r>
                        <a:rPr lang="en-US" sz="1200" dirty="0" err="1"/>
                        <a:t>গ্রাম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হারে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মিশিয়ে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কাটিং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শোধন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করতে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। </a:t>
                      </a:r>
                      <a:r>
                        <a:rPr lang="en-US" sz="1200" dirty="0" err="1"/>
                        <a:t>অসুস্থ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কাটিং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আগেই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বাদ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হবে</a:t>
                      </a:r>
                      <a:r>
                        <a:rPr lang="en-US" sz="1200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23962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সার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প্রয়োগ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ইউরিয়া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সার</a:t>
                      </a:r>
                      <a:r>
                        <a:rPr lang="en-US" sz="1200" dirty="0"/>
                        <a:t> ১৫০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টিএস্পি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সার</a:t>
                      </a:r>
                      <a:r>
                        <a:rPr lang="en-US" sz="1200" dirty="0"/>
                        <a:t> ৮০-১১০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, এম ও </a:t>
                      </a:r>
                      <a:r>
                        <a:rPr lang="en-US" sz="1200" dirty="0" err="1"/>
                        <a:t>পি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সার</a:t>
                      </a:r>
                      <a:r>
                        <a:rPr lang="en-US" sz="1200" dirty="0"/>
                        <a:t> ১১০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এছাড়া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জিপ্সাম</a:t>
                      </a:r>
                      <a:r>
                        <a:rPr lang="en-US" sz="1200" dirty="0"/>
                        <a:t> ও </a:t>
                      </a:r>
                      <a:r>
                        <a:rPr lang="en-US" sz="1200" dirty="0" err="1"/>
                        <a:t>জিংক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দেয়া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। এম ও </a:t>
                      </a:r>
                      <a:r>
                        <a:rPr lang="en-US" sz="1200" dirty="0" err="1"/>
                        <a:t>পি</a:t>
                      </a:r>
                      <a:r>
                        <a:rPr lang="en-US" sz="1200" dirty="0"/>
                        <a:t> ও </a:t>
                      </a:r>
                      <a:r>
                        <a:rPr lang="en-US" sz="1200" dirty="0" err="1"/>
                        <a:t>ইউরিয়া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সারের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অর্ধেক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তৈরির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সময়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দেয়া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519904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আখের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রোপন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পদ্ধতি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সনাতনঃ</a:t>
                      </a:r>
                      <a:r>
                        <a:rPr lang="en-US" sz="1200" dirty="0"/>
                        <a:t> এক </a:t>
                      </a:r>
                      <a:r>
                        <a:rPr lang="en-US" sz="1200" dirty="0" err="1"/>
                        <a:t>সারি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দেড়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সারি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দুই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সারি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আকাবাকা</a:t>
                      </a:r>
                      <a:r>
                        <a:rPr lang="en-US" sz="1200" dirty="0"/>
                        <a:t> । </a:t>
                      </a:r>
                      <a:r>
                        <a:rPr lang="en-US" sz="1200" dirty="0" err="1"/>
                        <a:t>আধুনিকঃ</a:t>
                      </a:r>
                      <a:r>
                        <a:rPr lang="en-US" sz="1200" dirty="0"/>
                        <a:t> STP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624331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পরিচর্যা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চারাগাছ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মিটারখানেক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লম্বা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হলে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গোড়ার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দুই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পাশের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মাটি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উচু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করে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। </a:t>
                      </a:r>
                      <a:r>
                        <a:rPr lang="en-US" sz="1200" dirty="0" err="1"/>
                        <a:t>শুন্যস্থান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চারা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দ্বারা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পূর্ন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করতে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। ৫-৬ </a:t>
                      </a:r>
                      <a:r>
                        <a:rPr lang="en-US" sz="1200" dirty="0" err="1"/>
                        <a:t>টি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গাছ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একত্রে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বেধে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দিলে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ঝরে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হেলে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পরে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না</a:t>
                      </a:r>
                      <a:r>
                        <a:rPr lang="en-US" sz="1200" dirty="0"/>
                        <a:t>।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274866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আখের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পরিপক্কতা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মাঠে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রিফ্রাল্টোমিটার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যন্ত্রের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সাহায্যে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আখের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পরিপক্কতা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নির্নয়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করা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যায়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62389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ফসল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কাটা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আখ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পরিপক্কতা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হতে</a:t>
                      </a:r>
                      <a:r>
                        <a:rPr lang="en-US" sz="1200" dirty="0"/>
                        <a:t> ১২ </a:t>
                      </a:r>
                      <a:r>
                        <a:rPr lang="en-US" sz="1200" dirty="0" err="1"/>
                        <a:t>থেকে</a:t>
                      </a:r>
                      <a:r>
                        <a:rPr lang="en-US" sz="1200" dirty="0"/>
                        <a:t> ১৫ </a:t>
                      </a:r>
                      <a:r>
                        <a:rPr lang="en-US" sz="1200" dirty="0" err="1"/>
                        <a:t>মাস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সময়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লাগে</a:t>
                      </a:r>
                      <a:r>
                        <a:rPr lang="en-US" sz="1200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515503"/>
                  </a:ext>
                </a:extLst>
              </a:tr>
              <a:tr h="413449">
                <a:tc>
                  <a:txBody>
                    <a:bodyPr/>
                    <a:lstStyle/>
                    <a:p>
                      <a:r>
                        <a:rPr lang="en-US" dirty="0" err="1"/>
                        <a:t>ফলন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হেক্টপ্রতি</a:t>
                      </a:r>
                      <a:r>
                        <a:rPr lang="en-US" sz="1200" dirty="0"/>
                        <a:t> ৪০-৫০ </a:t>
                      </a:r>
                      <a:r>
                        <a:rPr lang="en-US" sz="1200" dirty="0" err="1"/>
                        <a:t>টন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652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339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আখ</a:t>
            </a:r>
            <a:r>
              <a:rPr lang="en-US" dirty="0"/>
              <a:t> </a:t>
            </a:r>
            <a:r>
              <a:rPr lang="en-US" dirty="0" err="1"/>
              <a:t>রোপন</a:t>
            </a:r>
            <a:r>
              <a:rPr lang="en-US" dirty="0"/>
              <a:t> </a:t>
            </a:r>
            <a:r>
              <a:rPr lang="en-US" dirty="0" err="1"/>
              <a:t>পদ্ধতি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26F23-CB20-273D-6E2B-8AF8076A5BE8}"/>
              </a:ext>
            </a:extLst>
          </p:cNvPr>
          <p:cNvSpPr txBox="1"/>
          <p:nvPr/>
        </p:nvSpPr>
        <p:spPr>
          <a:xfrm>
            <a:off x="72427" y="2219647"/>
            <a:ext cx="52147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সনাতন</a:t>
            </a:r>
            <a:r>
              <a:rPr lang="en-US" sz="2400" dirty="0"/>
              <a:t> </a:t>
            </a:r>
            <a:r>
              <a:rPr lang="en-US" sz="2400" dirty="0" err="1"/>
              <a:t>পদ্ধতিঃ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/>
              <a:t>এক </a:t>
            </a:r>
            <a:r>
              <a:rPr lang="en-US" sz="2400" dirty="0" err="1"/>
              <a:t>সারি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দেড়া</a:t>
            </a:r>
            <a:r>
              <a:rPr lang="en-US" sz="2400" dirty="0"/>
              <a:t> </a:t>
            </a:r>
            <a:r>
              <a:rPr lang="en-US" sz="2400" dirty="0" err="1"/>
              <a:t>বা</a:t>
            </a:r>
            <a:r>
              <a:rPr lang="en-US" sz="2400" dirty="0"/>
              <a:t> </a:t>
            </a:r>
            <a:r>
              <a:rPr lang="en-US" sz="2400" dirty="0" err="1"/>
              <a:t>দের</a:t>
            </a:r>
            <a:r>
              <a:rPr lang="en-US" sz="2400" dirty="0"/>
              <a:t> </a:t>
            </a:r>
            <a:r>
              <a:rPr lang="en-US" sz="2400" dirty="0" err="1"/>
              <a:t>সারি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দুই</a:t>
            </a:r>
            <a:r>
              <a:rPr lang="en-US" sz="2400" dirty="0"/>
              <a:t> </a:t>
            </a:r>
            <a:r>
              <a:rPr lang="en-US" sz="2400" dirty="0" err="1"/>
              <a:t>সারি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আকাবাকা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591F6-F5DE-4915-243F-7C958A5D53F3}"/>
              </a:ext>
            </a:extLst>
          </p:cNvPr>
          <p:cNvSpPr txBox="1"/>
          <p:nvPr/>
        </p:nvSpPr>
        <p:spPr>
          <a:xfrm>
            <a:off x="0" y="4384252"/>
            <a:ext cx="51785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আধুনিক</a:t>
            </a:r>
            <a:r>
              <a:rPr lang="en-US" sz="2400" dirty="0"/>
              <a:t> STP Method (Spaced Transplanting)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পলিব্যাগে</a:t>
            </a:r>
            <a:r>
              <a:rPr lang="en-US" sz="2400" dirty="0"/>
              <a:t> </a:t>
            </a:r>
            <a:r>
              <a:rPr lang="en-US" sz="2400" dirty="0" err="1"/>
              <a:t>চারা</a:t>
            </a:r>
            <a:r>
              <a:rPr lang="en-US" sz="2400" dirty="0"/>
              <a:t> </a:t>
            </a:r>
            <a:r>
              <a:rPr lang="en-US" sz="2400" dirty="0" err="1"/>
              <a:t>উৎপাদন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বীজতলায়</a:t>
            </a:r>
            <a:r>
              <a:rPr lang="en-US" sz="2400" dirty="0"/>
              <a:t> </a:t>
            </a:r>
            <a:r>
              <a:rPr lang="en-US" sz="2400" dirty="0" err="1"/>
              <a:t>চারা</a:t>
            </a:r>
            <a:r>
              <a:rPr lang="en-US" sz="2400" dirty="0"/>
              <a:t> </a:t>
            </a:r>
            <a:r>
              <a:rPr lang="en-US" sz="2400" dirty="0" err="1"/>
              <a:t>উৎপাদন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ক্ষেতে</a:t>
            </a:r>
            <a:r>
              <a:rPr lang="en-US" sz="2400" dirty="0"/>
              <a:t> </a:t>
            </a:r>
            <a:r>
              <a:rPr lang="en-US" sz="2400" dirty="0" err="1"/>
              <a:t>দাঁড়ানো</a:t>
            </a:r>
            <a:r>
              <a:rPr lang="en-US" sz="2400" dirty="0"/>
              <a:t> </a:t>
            </a:r>
            <a:r>
              <a:rPr lang="en-US" sz="2400" dirty="0" err="1"/>
              <a:t>গাছ</a:t>
            </a:r>
            <a:r>
              <a:rPr lang="en-US" sz="2400" dirty="0"/>
              <a:t> </a:t>
            </a:r>
            <a:r>
              <a:rPr lang="en-US" sz="2400" dirty="0" err="1"/>
              <a:t>থেকে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স্টকলেস</a:t>
            </a:r>
            <a:r>
              <a:rPr lang="en-US" sz="2400" dirty="0"/>
              <a:t> </a:t>
            </a:r>
            <a:r>
              <a:rPr lang="en-US" sz="2400" dirty="0" err="1"/>
              <a:t>পদ্ধতি</a:t>
            </a:r>
            <a:endParaRPr lang="en-US" sz="2400" dirty="0"/>
          </a:p>
        </p:txBody>
      </p:sp>
      <p:pic>
        <p:nvPicPr>
          <p:cNvPr id="5122" name="Picture 2" descr="researcherslinks.com/uploads/currentIssues/figures...">
            <a:extLst>
              <a:ext uri="{FF2B5EF4-FFF2-40B4-BE49-F238E27FC236}">
                <a16:creationId xmlns:a16="http://schemas.microsoft.com/office/drawing/2014/main" id="{712C4CEC-318C-10CE-D33B-B0F6B3B6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619" y="2171539"/>
            <a:ext cx="3017821" cy="198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esearcherslinks.com/uploads/currentIssues/figures...">
            <a:extLst>
              <a:ext uri="{FF2B5EF4-FFF2-40B4-BE49-F238E27FC236}">
                <a16:creationId xmlns:a16="http://schemas.microsoft.com/office/drawing/2014/main" id="{FF2CBEB0-6D12-195D-A9FB-150B0DB1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440" y="2171539"/>
            <a:ext cx="3179558" cy="198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POLYTHENE BAG TECHNOLOGY">
            <a:extLst>
              <a:ext uri="{FF2B5EF4-FFF2-40B4-BE49-F238E27FC236}">
                <a16:creationId xmlns:a16="http://schemas.microsoft.com/office/drawing/2014/main" id="{415F524E-4B09-3F48-2A1F-1B6E7E020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498" y="4158637"/>
            <a:ext cx="3593091" cy="253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305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মুড়ি</a:t>
            </a:r>
            <a:r>
              <a:rPr lang="en-US" dirty="0"/>
              <a:t> </a:t>
            </a:r>
            <a:r>
              <a:rPr lang="en-US" dirty="0" err="1"/>
              <a:t>আখ</a:t>
            </a:r>
            <a:r>
              <a:rPr lang="en-US" dirty="0"/>
              <a:t> </a:t>
            </a:r>
            <a:r>
              <a:rPr lang="en-US" dirty="0" err="1"/>
              <a:t>চাষ</a:t>
            </a:r>
            <a:r>
              <a:rPr lang="en-US" dirty="0"/>
              <a:t> </a:t>
            </a:r>
            <a:r>
              <a:rPr lang="en-US" dirty="0" err="1"/>
              <a:t>পদ্ধতি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26F23-CB20-273D-6E2B-8AF8076A5BE8}"/>
              </a:ext>
            </a:extLst>
          </p:cNvPr>
          <p:cNvSpPr txBox="1"/>
          <p:nvPr/>
        </p:nvSpPr>
        <p:spPr>
          <a:xfrm>
            <a:off x="72426" y="2219647"/>
            <a:ext cx="452673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আখ</a:t>
            </a:r>
            <a:r>
              <a:rPr lang="en-US" sz="2400" dirty="0"/>
              <a:t> </a:t>
            </a:r>
            <a:r>
              <a:rPr lang="en-US" sz="2400" dirty="0" err="1"/>
              <a:t>কাটার</a:t>
            </a:r>
            <a:r>
              <a:rPr lang="en-US" sz="2400" dirty="0"/>
              <a:t> পর </a:t>
            </a:r>
            <a:r>
              <a:rPr lang="en-US" sz="2400" dirty="0" err="1"/>
              <a:t>গোড়া</a:t>
            </a:r>
            <a:r>
              <a:rPr lang="en-US" sz="2400" dirty="0"/>
              <a:t> </a:t>
            </a:r>
            <a:r>
              <a:rPr lang="en-US" sz="2400" dirty="0" err="1"/>
              <a:t>থেকে</a:t>
            </a:r>
            <a:r>
              <a:rPr lang="en-US" sz="2400" dirty="0"/>
              <a:t> </a:t>
            </a:r>
            <a:r>
              <a:rPr lang="en-US" sz="2400" dirty="0" err="1"/>
              <a:t>নতুন</a:t>
            </a:r>
            <a:r>
              <a:rPr lang="en-US" sz="2400" dirty="0"/>
              <a:t> </a:t>
            </a:r>
            <a:r>
              <a:rPr lang="en-US" sz="2400" dirty="0" err="1"/>
              <a:t>কুশি</a:t>
            </a:r>
            <a:r>
              <a:rPr lang="en-US" sz="2400" dirty="0"/>
              <a:t> </a:t>
            </a:r>
            <a:r>
              <a:rPr lang="en-US" sz="2400" dirty="0" err="1"/>
              <a:t>বের</a:t>
            </a:r>
            <a:r>
              <a:rPr lang="en-US" sz="2400" dirty="0"/>
              <a:t> </a:t>
            </a:r>
            <a:r>
              <a:rPr lang="en-US" sz="2400" dirty="0" err="1"/>
              <a:t>হয়ে</a:t>
            </a:r>
            <a:r>
              <a:rPr lang="en-US" sz="2400" dirty="0"/>
              <a:t> </a:t>
            </a:r>
            <a:r>
              <a:rPr lang="en-US" sz="2400" dirty="0" err="1"/>
              <a:t>পুনরায়</a:t>
            </a:r>
            <a:r>
              <a:rPr lang="en-US" sz="2400" dirty="0"/>
              <a:t> </a:t>
            </a:r>
            <a:r>
              <a:rPr lang="en-US" sz="2400" dirty="0" err="1"/>
              <a:t>যে</a:t>
            </a:r>
            <a:r>
              <a:rPr lang="en-US" sz="2400" dirty="0"/>
              <a:t> </a:t>
            </a:r>
            <a:r>
              <a:rPr lang="en-US" sz="2400" dirty="0" err="1"/>
              <a:t>ফসল</a:t>
            </a:r>
            <a:r>
              <a:rPr lang="en-US" sz="2400" dirty="0"/>
              <a:t> </a:t>
            </a:r>
            <a:r>
              <a:rPr lang="en-US" sz="2400" dirty="0" err="1"/>
              <a:t>পাওয়া</a:t>
            </a:r>
            <a:r>
              <a:rPr lang="en-US" sz="2400" dirty="0"/>
              <a:t> </a:t>
            </a:r>
            <a:r>
              <a:rPr lang="en-US" sz="2400" dirty="0" err="1"/>
              <a:t>যায়</a:t>
            </a:r>
            <a:r>
              <a:rPr lang="en-US" sz="2400" dirty="0"/>
              <a:t> </a:t>
            </a:r>
            <a:r>
              <a:rPr lang="en-US" sz="2400" dirty="0" err="1"/>
              <a:t>তাকে</a:t>
            </a:r>
            <a:r>
              <a:rPr lang="en-US" sz="2400" dirty="0"/>
              <a:t> </a:t>
            </a:r>
            <a:r>
              <a:rPr lang="en-US" sz="2400" dirty="0" err="1"/>
              <a:t>রেটুন</a:t>
            </a:r>
            <a:r>
              <a:rPr lang="en-US" sz="2400" dirty="0"/>
              <a:t> </a:t>
            </a:r>
            <a:r>
              <a:rPr lang="en-US" sz="2400" dirty="0" err="1"/>
              <a:t>বা</a:t>
            </a:r>
            <a:r>
              <a:rPr lang="en-US" sz="2400" dirty="0"/>
              <a:t> </a:t>
            </a:r>
            <a:r>
              <a:rPr lang="en-US" sz="2400" dirty="0" err="1"/>
              <a:t>মুড়ি</a:t>
            </a:r>
            <a:r>
              <a:rPr lang="en-US" sz="2400" dirty="0"/>
              <a:t> </a:t>
            </a:r>
            <a:r>
              <a:rPr lang="en-US" sz="2400" dirty="0" err="1"/>
              <a:t>আখ</a:t>
            </a:r>
            <a:r>
              <a:rPr lang="en-US" sz="2400" dirty="0"/>
              <a:t> </a:t>
            </a:r>
            <a:r>
              <a:rPr lang="en-US" sz="2400" dirty="0" err="1"/>
              <a:t>বলে</a:t>
            </a:r>
            <a:r>
              <a:rPr lang="en-US" sz="2400" dirty="0"/>
              <a:t>। </a:t>
            </a:r>
          </a:p>
          <a:p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1600" dirty="0" err="1"/>
              <a:t>ইশ্বরদী</a:t>
            </a:r>
            <a:r>
              <a:rPr lang="en-US" sz="1600" dirty="0"/>
              <a:t> ১৬ এর </a:t>
            </a:r>
            <a:r>
              <a:rPr lang="en-US" sz="1600" dirty="0" err="1"/>
              <a:t>জন্য</a:t>
            </a:r>
            <a:r>
              <a:rPr lang="en-US" sz="1600" dirty="0"/>
              <a:t> </a:t>
            </a:r>
            <a:r>
              <a:rPr lang="en-US" sz="1600" dirty="0" err="1"/>
              <a:t>ভালো</a:t>
            </a:r>
            <a:endParaRPr lang="en-US" sz="1600" dirty="0"/>
          </a:p>
          <a:p>
            <a:pPr marL="342900" indent="-342900">
              <a:buFontTx/>
              <a:buChar char="-"/>
            </a:pPr>
            <a:r>
              <a:rPr lang="en-US" sz="1600" dirty="0" err="1"/>
              <a:t>মূল</a:t>
            </a:r>
            <a:r>
              <a:rPr lang="en-US" sz="1600" dirty="0"/>
              <a:t> </a:t>
            </a:r>
            <a:r>
              <a:rPr lang="en-US" sz="1600" dirty="0" err="1"/>
              <a:t>আখের</a:t>
            </a:r>
            <a:r>
              <a:rPr lang="en-US" sz="1600" dirty="0"/>
              <a:t> </a:t>
            </a:r>
            <a:r>
              <a:rPr lang="en-US" sz="1600" dirty="0" err="1"/>
              <a:t>মোথা</a:t>
            </a:r>
            <a:r>
              <a:rPr lang="en-US" sz="1600" dirty="0"/>
              <a:t> </a:t>
            </a:r>
            <a:r>
              <a:rPr lang="en-US" sz="1600" dirty="0" err="1"/>
              <a:t>পাটির</a:t>
            </a:r>
            <a:r>
              <a:rPr lang="en-US" sz="1600" dirty="0"/>
              <a:t> </a:t>
            </a:r>
            <a:r>
              <a:rPr lang="en-US" sz="1600" dirty="0" err="1"/>
              <a:t>সমতলে</a:t>
            </a:r>
            <a:r>
              <a:rPr lang="en-US" sz="1600" dirty="0"/>
              <a:t> </a:t>
            </a:r>
            <a:r>
              <a:rPr lang="en-US" sz="1600" dirty="0" err="1"/>
              <a:t>কেটে</a:t>
            </a:r>
            <a:r>
              <a:rPr lang="en-US" sz="1600" dirty="0"/>
              <a:t> </a:t>
            </a:r>
            <a:r>
              <a:rPr lang="en-US" sz="1600" dirty="0" err="1"/>
              <a:t>নেবো</a:t>
            </a:r>
            <a:endParaRPr lang="en-US" sz="1600" dirty="0"/>
          </a:p>
          <a:p>
            <a:pPr marL="342900" indent="-342900">
              <a:buFontTx/>
              <a:buChar char="-"/>
            </a:pPr>
            <a:r>
              <a:rPr lang="en-US" sz="1600" dirty="0" err="1"/>
              <a:t>আবর্জনা</a:t>
            </a:r>
            <a:r>
              <a:rPr lang="en-US" sz="1600" dirty="0"/>
              <a:t> ও </a:t>
            </a:r>
            <a:r>
              <a:rPr lang="en-US" sz="1600" dirty="0" err="1"/>
              <a:t>আগাছা</a:t>
            </a:r>
            <a:r>
              <a:rPr lang="en-US" sz="1600" dirty="0"/>
              <a:t> </a:t>
            </a:r>
            <a:r>
              <a:rPr lang="en-US" sz="1600" dirty="0" err="1"/>
              <a:t>পরিষ্কার</a:t>
            </a:r>
            <a:r>
              <a:rPr lang="en-US" sz="1600" dirty="0"/>
              <a:t> </a:t>
            </a:r>
            <a:r>
              <a:rPr lang="en-US" sz="1600" dirty="0" err="1"/>
              <a:t>করবো</a:t>
            </a:r>
            <a:endParaRPr lang="en-US" sz="1600" dirty="0"/>
          </a:p>
          <a:p>
            <a:pPr marL="342900" indent="-342900">
              <a:buFontTx/>
              <a:buChar char="-"/>
            </a:pPr>
            <a:r>
              <a:rPr lang="en-US" sz="1600" dirty="0" err="1"/>
              <a:t>মাটি</a:t>
            </a:r>
            <a:r>
              <a:rPr lang="en-US" sz="1600" dirty="0"/>
              <a:t> </a:t>
            </a:r>
            <a:r>
              <a:rPr lang="en-US" sz="1600" dirty="0" err="1"/>
              <a:t>কুপিয়ে</a:t>
            </a:r>
            <a:r>
              <a:rPr lang="en-US" sz="1600" dirty="0"/>
              <a:t> </a:t>
            </a:r>
            <a:r>
              <a:rPr lang="en-US" sz="1600" dirty="0" err="1"/>
              <a:t>আলগা</a:t>
            </a:r>
            <a:r>
              <a:rPr lang="en-US" sz="1600" dirty="0"/>
              <a:t> </a:t>
            </a:r>
            <a:r>
              <a:rPr lang="en-US" sz="1600" dirty="0" err="1"/>
              <a:t>করতে</a:t>
            </a:r>
            <a:r>
              <a:rPr lang="en-US" sz="1600" dirty="0"/>
              <a:t> </a:t>
            </a:r>
            <a:r>
              <a:rPr lang="en-US" sz="1600" dirty="0" err="1"/>
              <a:t>হবে</a:t>
            </a:r>
            <a:endParaRPr lang="en-US" sz="1600" dirty="0"/>
          </a:p>
          <a:p>
            <a:pPr marL="342900" indent="-342900">
              <a:buFontTx/>
              <a:buChar char="-"/>
            </a:pPr>
            <a:r>
              <a:rPr lang="en-US" sz="1600" dirty="0" err="1"/>
              <a:t>হেক্টর</a:t>
            </a:r>
            <a:r>
              <a:rPr lang="en-US" sz="1600" dirty="0"/>
              <a:t> </a:t>
            </a:r>
            <a:r>
              <a:rPr lang="en-US" sz="1600" dirty="0" err="1"/>
              <a:t>প্রতি</a:t>
            </a:r>
            <a:r>
              <a:rPr lang="en-US" sz="1600" dirty="0"/>
              <a:t> ১০০-১২০ </a:t>
            </a:r>
            <a:r>
              <a:rPr lang="en-US" sz="1600" dirty="0" err="1"/>
              <a:t>কেজি</a:t>
            </a:r>
            <a:r>
              <a:rPr lang="en-US" sz="1600" dirty="0"/>
              <a:t> </a:t>
            </a:r>
            <a:r>
              <a:rPr lang="en-US" sz="1600" dirty="0" err="1"/>
              <a:t>ইউরিয়া</a:t>
            </a:r>
            <a:r>
              <a:rPr lang="en-US" sz="1600" dirty="0"/>
              <a:t> </a:t>
            </a:r>
            <a:r>
              <a:rPr lang="en-US" sz="1600" dirty="0" err="1"/>
              <a:t>সার</a:t>
            </a:r>
            <a:r>
              <a:rPr lang="en-US" sz="1600" dirty="0"/>
              <a:t> ও </a:t>
            </a:r>
            <a:r>
              <a:rPr lang="en-US" sz="1600" dirty="0" err="1"/>
              <a:t>অন্যান্য</a:t>
            </a:r>
            <a:r>
              <a:rPr lang="en-US" sz="1600" dirty="0"/>
              <a:t> </a:t>
            </a:r>
            <a:r>
              <a:rPr lang="en-US" sz="1600" dirty="0" err="1"/>
              <a:t>সার</a:t>
            </a:r>
            <a:r>
              <a:rPr lang="en-US" sz="1600" dirty="0"/>
              <a:t> </a:t>
            </a:r>
            <a:r>
              <a:rPr lang="en-US" sz="1600" dirty="0" err="1"/>
              <a:t>দিতে</a:t>
            </a:r>
            <a:r>
              <a:rPr lang="en-US" sz="1600" dirty="0"/>
              <a:t> </a:t>
            </a:r>
            <a:r>
              <a:rPr lang="en-US" sz="1600" dirty="0" err="1"/>
              <a:t>হবে</a:t>
            </a:r>
            <a:r>
              <a:rPr lang="en-US" sz="1600" dirty="0"/>
              <a:t>। </a:t>
            </a:r>
          </a:p>
          <a:p>
            <a:pPr marL="342900" indent="-342900">
              <a:buFontTx/>
              <a:buChar char="-"/>
            </a:pPr>
            <a:r>
              <a:rPr lang="en-US" sz="1600" dirty="0" err="1"/>
              <a:t>গাছ</a:t>
            </a:r>
            <a:r>
              <a:rPr lang="en-US" sz="1600" dirty="0"/>
              <a:t> ৯-১২ </a:t>
            </a:r>
            <a:r>
              <a:rPr lang="en-US" sz="1600" dirty="0" err="1"/>
              <a:t>মাস</a:t>
            </a:r>
            <a:r>
              <a:rPr lang="en-US" sz="1600" dirty="0"/>
              <a:t> </a:t>
            </a:r>
            <a:r>
              <a:rPr lang="en-US" sz="1600" dirty="0" err="1"/>
              <a:t>হলে</a:t>
            </a:r>
            <a:r>
              <a:rPr lang="en-US" sz="1600" dirty="0"/>
              <a:t> এই </a:t>
            </a:r>
            <a:r>
              <a:rPr lang="en-US" sz="1600" dirty="0" err="1"/>
              <a:t>আখ</a:t>
            </a:r>
            <a:r>
              <a:rPr lang="en-US" sz="1600" dirty="0"/>
              <a:t> </a:t>
            </a:r>
            <a:r>
              <a:rPr lang="en-US" sz="1600" dirty="0" err="1"/>
              <a:t>পাকবে</a:t>
            </a:r>
            <a:endParaRPr lang="en-US" sz="1600" dirty="0"/>
          </a:p>
          <a:p>
            <a:pPr marL="342900" indent="-342900">
              <a:buFontTx/>
              <a:buChar char="-"/>
            </a:pPr>
            <a:r>
              <a:rPr lang="en-US" sz="1600" dirty="0" err="1"/>
              <a:t>কান্ডে</a:t>
            </a:r>
            <a:r>
              <a:rPr lang="en-US" sz="1600" dirty="0"/>
              <a:t> </a:t>
            </a:r>
            <a:r>
              <a:rPr lang="en-US" sz="1600" dirty="0" err="1"/>
              <a:t>ধাতব</a:t>
            </a:r>
            <a:r>
              <a:rPr lang="en-US" sz="1600" dirty="0"/>
              <a:t> </a:t>
            </a:r>
            <a:r>
              <a:rPr lang="en-US" sz="1600" dirty="0" err="1"/>
              <a:t>আওয়াজ</a:t>
            </a:r>
            <a:r>
              <a:rPr lang="en-US" sz="1600" dirty="0"/>
              <a:t> ও </a:t>
            </a:r>
            <a:r>
              <a:rPr lang="en-US" sz="1600" dirty="0" err="1"/>
              <a:t>পাতা</a:t>
            </a:r>
            <a:r>
              <a:rPr lang="en-US" sz="1600" dirty="0"/>
              <a:t> </a:t>
            </a:r>
            <a:r>
              <a:rPr lang="en-US" sz="1600" dirty="0" err="1"/>
              <a:t>হলুদ</a:t>
            </a:r>
            <a:r>
              <a:rPr lang="en-US" sz="1600" dirty="0"/>
              <a:t> </a:t>
            </a:r>
            <a:r>
              <a:rPr lang="en-US" sz="1600" dirty="0" err="1"/>
              <a:t>হলে</a:t>
            </a:r>
            <a:r>
              <a:rPr lang="en-US" sz="1600" dirty="0"/>
              <a:t> </a:t>
            </a:r>
            <a:r>
              <a:rPr lang="en-US" sz="1600" dirty="0" err="1"/>
              <a:t>আখ</a:t>
            </a:r>
            <a:r>
              <a:rPr lang="en-US" sz="1600" dirty="0"/>
              <a:t> </a:t>
            </a:r>
            <a:r>
              <a:rPr lang="en-US" sz="1600" dirty="0" err="1"/>
              <a:t>পেকেছে</a:t>
            </a:r>
            <a:endParaRPr lang="en-US" sz="1600" dirty="0"/>
          </a:p>
          <a:p>
            <a:pPr marL="342900" indent="-342900">
              <a:buFontTx/>
              <a:buChar char="-"/>
            </a:pPr>
            <a:r>
              <a:rPr lang="en-US" sz="1600" dirty="0" err="1"/>
              <a:t>মুড়ি</a:t>
            </a:r>
            <a:r>
              <a:rPr lang="en-US" sz="1600" dirty="0"/>
              <a:t> </a:t>
            </a:r>
            <a:r>
              <a:rPr lang="en-US" sz="1600" dirty="0" err="1"/>
              <a:t>আখ</a:t>
            </a:r>
            <a:r>
              <a:rPr lang="en-US" sz="1600" dirty="0"/>
              <a:t> </a:t>
            </a:r>
            <a:r>
              <a:rPr lang="en-US" sz="1600" dirty="0" err="1"/>
              <a:t>তীব্র</a:t>
            </a:r>
            <a:r>
              <a:rPr lang="en-US" sz="1600" dirty="0"/>
              <a:t> </a:t>
            </a:r>
            <a:r>
              <a:rPr lang="en-US" sz="1600" dirty="0" err="1"/>
              <a:t>শীতে</a:t>
            </a:r>
            <a:r>
              <a:rPr lang="en-US" sz="1600" dirty="0"/>
              <a:t> </a:t>
            </a:r>
            <a:r>
              <a:rPr lang="en-US" sz="1600" dirty="0" err="1"/>
              <a:t>কাটা</a:t>
            </a:r>
            <a:r>
              <a:rPr lang="en-US" sz="1600" dirty="0"/>
              <a:t> </a:t>
            </a:r>
            <a:r>
              <a:rPr lang="en-US" sz="1600" dirty="0" err="1"/>
              <a:t>উচিত</a:t>
            </a:r>
            <a:r>
              <a:rPr lang="en-US" sz="1600" dirty="0"/>
              <a:t> </a:t>
            </a:r>
            <a:r>
              <a:rPr lang="en-US" sz="1600" dirty="0" err="1"/>
              <a:t>নয়</a:t>
            </a:r>
            <a:endParaRPr lang="en-US" sz="16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6146" name="Picture 2" descr="Ratoon Management in Sugarcane (In Tamil)">
            <a:extLst>
              <a:ext uri="{FF2B5EF4-FFF2-40B4-BE49-F238E27FC236}">
                <a16:creationId xmlns:a16="http://schemas.microsoft.com/office/drawing/2014/main" id="{9914F46B-F21F-607D-1F14-B60BD5D4A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26" b="10758"/>
          <a:stretch/>
        </p:blipFill>
        <p:spPr bwMode="auto">
          <a:xfrm>
            <a:off x="4707801" y="2166876"/>
            <a:ext cx="7411771" cy="4505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892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আখের</a:t>
            </a:r>
            <a:r>
              <a:rPr lang="en-US" dirty="0"/>
              <a:t> </a:t>
            </a:r>
            <a:r>
              <a:rPr lang="en-US" dirty="0" err="1"/>
              <a:t>বালাই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89026" y="3985629"/>
            <a:ext cx="120139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  </a:t>
            </a:r>
            <a:r>
              <a:rPr lang="en-US" sz="2000" dirty="0" err="1">
                <a:solidFill>
                  <a:srgbClr val="FFFF00"/>
                </a:solidFill>
              </a:rPr>
              <a:t>ডগার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মাজরা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পোকা</a:t>
            </a:r>
            <a:r>
              <a:rPr lang="en-US" sz="2000" dirty="0">
                <a:solidFill>
                  <a:srgbClr val="FFFF00"/>
                </a:solidFill>
              </a:rPr>
              <a:t>           </a:t>
            </a:r>
            <a:r>
              <a:rPr lang="en-US" sz="2000" dirty="0" err="1">
                <a:solidFill>
                  <a:srgbClr val="FFFF00"/>
                </a:solidFill>
              </a:rPr>
              <a:t>পিংগল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মাজরা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পোকা</a:t>
            </a:r>
            <a:r>
              <a:rPr lang="en-US" sz="2000" dirty="0">
                <a:solidFill>
                  <a:srgbClr val="FFFF00"/>
                </a:solidFill>
              </a:rPr>
              <a:t>     </a:t>
            </a:r>
            <a:r>
              <a:rPr lang="en-US" sz="2000" dirty="0" err="1">
                <a:solidFill>
                  <a:srgbClr val="FFFF00"/>
                </a:solidFill>
              </a:rPr>
              <a:t>কান্ডের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মাজরা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পোকা</a:t>
            </a:r>
            <a:r>
              <a:rPr lang="en-US" sz="2000" dirty="0">
                <a:solidFill>
                  <a:srgbClr val="FFFF00"/>
                </a:solidFill>
              </a:rPr>
              <a:t>                      </a:t>
            </a:r>
            <a:r>
              <a:rPr lang="en-US" sz="2000" dirty="0" err="1">
                <a:solidFill>
                  <a:srgbClr val="FFFF00"/>
                </a:solidFill>
              </a:rPr>
              <a:t>উইপোকা</a:t>
            </a:r>
            <a:endParaRPr lang="en-US" sz="2000" dirty="0">
              <a:solidFill>
                <a:srgbClr val="FFFF00"/>
              </a:solidFill>
            </a:endParaRPr>
          </a:p>
          <a:p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984DE4-35A2-E654-E87A-CF339381C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123310"/>
              </p:ext>
            </p:extLst>
          </p:nvPr>
        </p:nvGraphicFramePr>
        <p:xfrm>
          <a:off x="89026" y="4528954"/>
          <a:ext cx="12013948" cy="20202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03487">
                  <a:extLst>
                    <a:ext uri="{9D8B030D-6E8A-4147-A177-3AD203B41FA5}">
                      <a16:colId xmlns:a16="http://schemas.microsoft.com/office/drawing/2014/main" val="2161637400"/>
                    </a:ext>
                  </a:extLst>
                </a:gridCol>
                <a:gridCol w="3003487">
                  <a:extLst>
                    <a:ext uri="{9D8B030D-6E8A-4147-A177-3AD203B41FA5}">
                      <a16:colId xmlns:a16="http://schemas.microsoft.com/office/drawing/2014/main" val="404279326"/>
                    </a:ext>
                  </a:extLst>
                </a:gridCol>
                <a:gridCol w="3003487">
                  <a:extLst>
                    <a:ext uri="{9D8B030D-6E8A-4147-A177-3AD203B41FA5}">
                      <a16:colId xmlns:a16="http://schemas.microsoft.com/office/drawing/2014/main" val="732598660"/>
                    </a:ext>
                  </a:extLst>
                </a:gridCol>
                <a:gridCol w="3003487">
                  <a:extLst>
                    <a:ext uri="{9D8B030D-6E8A-4147-A177-3AD203B41FA5}">
                      <a16:colId xmlns:a16="http://schemas.microsoft.com/office/drawing/2014/main" val="3398001849"/>
                    </a:ext>
                  </a:extLst>
                </a:gridCol>
              </a:tblGrid>
              <a:tr h="2020260">
                <a:tc>
                  <a:txBody>
                    <a:bodyPr/>
                    <a:lstStyle/>
                    <a:p>
                      <a:r>
                        <a:rPr lang="en-US" sz="1600" dirty="0" err="1"/>
                        <a:t>পাতার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মধ্য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শিরায়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ছিদ্র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এবং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পার্শ্ব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বরাবর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সুতার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ন্যায়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নালা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পথ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দেখতে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পাওয়া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যায়</a:t>
                      </a:r>
                      <a:r>
                        <a:rPr lang="en-US" sz="1600" dirty="0"/>
                        <a:t>। </a:t>
                      </a:r>
                      <a:r>
                        <a:rPr lang="en-US" sz="1600" dirty="0" err="1"/>
                        <a:t>পাতায়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সমান্তরাল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ছোট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ছোট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ছিদ্র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করে</a:t>
                      </a:r>
                      <a:r>
                        <a:rPr lang="en-US" sz="1600" dirty="0"/>
                        <a:t>। </a:t>
                      </a:r>
                      <a:r>
                        <a:rPr lang="en-US" sz="1600" dirty="0" err="1"/>
                        <a:t>মাথার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পাতাগুলো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ভিন্ন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ভিন্ন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দেখায়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আখের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মাইজ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মরে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যায়</a:t>
                      </a:r>
                      <a:r>
                        <a:rPr lang="en-US" sz="1600" dirty="0"/>
                        <a:t>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আখের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মাইজ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মরা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মাইজ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টান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দিলে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সহজে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উঠে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আসে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গাছের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গোড়ায়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কীড়া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প্রবেশের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চিহ্ন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এবং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প্রচুর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বিষ্টা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দেখা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প্রথমে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গাছের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পাতা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শুকাতে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থাকে</a:t>
                      </a:r>
                      <a:r>
                        <a:rPr lang="en-US" dirty="0"/>
                        <a:t> । </a:t>
                      </a:r>
                      <a:r>
                        <a:rPr lang="en-US" dirty="0" err="1"/>
                        <a:t>পরে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আখের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মাথা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উপরিভাগ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বয়ষ্ক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গাছের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কান্ডে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দুই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তিনটা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ছিদ্র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পাওয়া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লাগানো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আখের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খন্ড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খেয়ে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ফেলে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ফলে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গজাতে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আখ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হওয়ার</a:t>
                      </a:r>
                      <a:r>
                        <a:rPr lang="en-US" dirty="0"/>
                        <a:t> পর </a:t>
                      </a:r>
                      <a:r>
                        <a:rPr lang="en-US" dirty="0" err="1"/>
                        <a:t>আক্রমন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হলে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চারা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শুকিয়ে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আক্রান্ত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গাছ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টান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দিলে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মাটি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থেকে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উঠে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আসে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637156"/>
                  </a:ext>
                </a:extLst>
              </a:tr>
            </a:tbl>
          </a:graphicData>
        </a:graphic>
      </p:graphicFrame>
      <p:pic>
        <p:nvPicPr>
          <p:cNvPr id="7170" name="Picture 2" descr="আখের ডগার মাজরা পোকা (Sugarcane Top-shoot Borer) - ACI Crop Care">
            <a:extLst>
              <a:ext uri="{FF2B5EF4-FFF2-40B4-BE49-F238E27FC236}">
                <a16:creationId xmlns:a16="http://schemas.microsoft.com/office/drawing/2014/main" id="{435F03B3-A4B0-AC39-D5F1-68A47CBDC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58" y="1902329"/>
            <a:ext cx="2720469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Yellow stem borer : Symptom, Damage &amp; Mangement Tips">
            <a:extLst>
              <a:ext uri="{FF2B5EF4-FFF2-40B4-BE49-F238E27FC236}">
                <a16:creationId xmlns:a16="http://schemas.microsoft.com/office/drawing/2014/main" id="{FA44BBB6-38E4-572D-8C61-A5C3D6886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127" y="1888720"/>
            <a:ext cx="2648233" cy="186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Stem borers of sugarcane (Chilo spp.) (exotic species) - DAFF">
            <a:extLst>
              <a:ext uri="{FF2B5EF4-FFF2-40B4-BE49-F238E27FC236}">
                <a16:creationId xmlns:a16="http://schemas.microsoft.com/office/drawing/2014/main" id="{1B3F765D-B726-828A-58AF-FFB71C727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1" b="8009"/>
          <a:stretch/>
        </p:blipFill>
        <p:spPr bwMode="auto">
          <a:xfrm>
            <a:off x="5649360" y="1902329"/>
            <a:ext cx="286702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Sugarcane Termite: Pest characters, Control Measures - Basic Agricultural  Study">
            <a:extLst>
              <a:ext uri="{FF2B5EF4-FFF2-40B4-BE49-F238E27FC236}">
                <a16:creationId xmlns:a16="http://schemas.microsoft.com/office/drawing/2014/main" id="{24BD9B46-260D-88BD-B46E-E791237DD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385" y="1888720"/>
            <a:ext cx="3322810" cy="186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493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89026" y="3985629"/>
            <a:ext cx="12013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        </a:t>
            </a:r>
            <a:r>
              <a:rPr lang="en-US" sz="2000" dirty="0" err="1">
                <a:solidFill>
                  <a:srgbClr val="FFFF00"/>
                </a:solidFill>
              </a:rPr>
              <a:t>আখের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লাল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পচা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রোগ</a:t>
            </a:r>
            <a:r>
              <a:rPr lang="en-US" sz="2000" dirty="0">
                <a:solidFill>
                  <a:srgbClr val="FFFF00"/>
                </a:solidFill>
              </a:rPr>
              <a:t>                   </a:t>
            </a:r>
            <a:r>
              <a:rPr lang="en-US" sz="2000" dirty="0" err="1">
                <a:solidFill>
                  <a:srgbClr val="FFFF00"/>
                </a:solidFill>
              </a:rPr>
              <a:t>আখের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স্মাট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রোগ</a:t>
            </a:r>
            <a:r>
              <a:rPr lang="en-US" sz="2000" dirty="0">
                <a:solidFill>
                  <a:srgbClr val="FFFF00"/>
                </a:solidFill>
              </a:rPr>
              <a:t>                        </a:t>
            </a:r>
            <a:r>
              <a:rPr lang="en-US" sz="2000" dirty="0" err="1">
                <a:solidFill>
                  <a:srgbClr val="FFFF00"/>
                </a:solidFill>
              </a:rPr>
              <a:t>আখের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নেতিয়ে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পরা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বা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উইল্ট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রোগ</a:t>
            </a: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984DE4-35A2-E654-E87A-CF339381C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693617"/>
              </p:ext>
            </p:extLst>
          </p:nvPr>
        </p:nvGraphicFramePr>
        <p:xfrm>
          <a:off x="89026" y="4528954"/>
          <a:ext cx="12013947" cy="20202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04649">
                  <a:extLst>
                    <a:ext uri="{9D8B030D-6E8A-4147-A177-3AD203B41FA5}">
                      <a16:colId xmlns:a16="http://schemas.microsoft.com/office/drawing/2014/main" val="2161637400"/>
                    </a:ext>
                  </a:extLst>
                </a:gridCol>
                <a:gridCol w="4004649">
                  <a:extLst>
                    <a:ext uri="{9D8B030D-6E8A-4147-A177-3AD203B41FA5}">
                      <a16:colId xmlns:a16="http://schemas.microsoft.com/office/drawing/2014/main" val="404279326"/>
                    </a:ext>
                  </a:extLst>
                </a:gridCol>
                <a:gridCol w="4004649">
                  <a:extLst>
                    <a:ext uri="{9D8B030D-6E8A-4147-A177-3AD203B41FA5}">
                      <a16:colId xmlns:a16="http://schemas.microsoft.com/office/drawing/2014/main" val="732598660"/>
                    </a:ext>
                  </a:extLst>
                </a:gridCol>
              </a:tblGrid>
              <a:tr h="2020260">
                <a:tc>
                  <a:txBody>
                    <a:bodyPr/>
                    <a:lstStyle/>
                    <a:p>
                      <a:r>
                        <a:rPr lang="en-US" sz="1600" dirty="0" err="1"/>
                        <a:t>ছত্রাদের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আক্রমনে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হয়</a:t>
                      </a:r>
                      <a:r>
                        <a:rPr lang="en-US" sz="1600" dirty="0"/>
                        <a:t>। </a:t>
                      </a:r>
                      <a:r>
                        <a:rPr lang="en-US" sz="1600" dirty="0" err="1"/>
                        <a:t>আখের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কান্ড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পচে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যায়</a:t>
                      </a:r>
                      <a:r>
                        <a:rPr lang="en-US" sz="1600" dirty="0"/>
                        <a:t>। </a:t>
                      </a:r>
                      <a:r>
                        <a:rPr lang="en-US" sz="1600" dirty="0" err="1"/>
                        <a:t>আখের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পাতা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হলদে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হয়ে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আস্তে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আস্তে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শুকিয়ে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যায়</a:t>
                      </a:r>
                      <a:r>
                        <a:rPr lang="en-US" sz="1600" dirty="0"/>
                        <a:t>। </a:t>
                      </a:r>
                      <a:r>
                        <a:rPr lang="en-US" sz="1600" dirty="0" err="1"/>
                        <a:t>আখ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লম্বালম্বিভাবে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চিড়লে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ভেতরের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কোষগুলিতে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পচে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ফ্যাকাশে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লাল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রঙ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দেখা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যায়</a:t>
                      </a:r>
                      <a:r>
                        <a:rPr lang="en-US" sz="1600" dirty="0"/>
                        <a:t>। </a:t>
                      </a:r>
                      <a:r>
                        <a:rPr lang="en-US" sz="1600" dirty="0" err="1"/>
                        <a:t>আড়াআড়িভাবে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ছোপ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ছোপ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হয়ে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ভাগ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হয়ে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যায়</a:t>
                      </a:r>
                      <a:r>
                        <a:rPr lang="en-US" sz="1600" dirty="0"/>
                        <a:t>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ছত্রাকবাহিত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 । </a:t>
                      </a:r>
                      <a:r>
                        <a:rPr lang="en-US" dirty="0" err="1"/>
                        <a:t>গাছের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বৃদ্ধি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কমে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আক্রান্ত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ঝারে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অনেক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কুশি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 । </a:t>
                      </a:r>
                      <a:r>
                        <a:rPr lang="en-US" dirty="0" err="1"/>
                        <a:t>কুশিগুলো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দেখতে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ঘাসের</a:t>
                      </a:r>
                      <a:r>
                        <a:rPr lang="en-US" dirty="0"/>
                        <a:t> মত </a:t>
                      </a:r>
                      <a:r>
                        <a:rPr lang="en-US" dirty="0" err="1"/>
                        <a:t>লাগে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চাবুকের</a:t>
                      </a:r>
                      <a:r>
                        <a:rPr lang="en-US" dirty="0"/>
                        <a:t> মত </a:t>
                      </a:r>
                      <a:r>
                        <a:rPr lang="en-US" dirty="0" err="1"/>
                        <a:t>একটা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কালো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শীষ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অগ্রভাগ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বাকানো</a:t>
                      </a:r>
                      <a:r>
                        <a:rPr lang="en-US" dirty="0"/>
                        <a:t>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ছত্রাক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দ্বারা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পাতাগুলো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আস্তে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আস্তে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হলুদ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যায়।কান্ড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লম্বালম্বিভাবে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কাটলে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ভিতরে</a:t>
                      </a:r>
                      <a:r>
                        <a:rPr lang="en-US" dirty="0"/>
                        <a:t>  </a:t>
                      </a:r>
                      <a:r>
                        <a:rPr lang="en-US" dirty="0" err="1"/>
                        <a:t>বেগুনি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লাল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ধারন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করেছে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বলে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মনে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ভিতরের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মজ্জা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শুকিয়ে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কান্ড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ফাপা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 । </a:t>
                      </a:r>
                      <a:r>
                        <a:rPr lang="en-US" dirty="0" err="1"/>
                        <a:t>গাছ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নেতিয়ে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পরে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63715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AA947F31-FD1A-A8BA-BA4D-E79D7117E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আখের</a:t>
            </a:r>
            <a:r>
              <a:rPr lang="en-US" dirty="0"/>
              <a:t> </a:t>
            </a:r>
            <a:r>
              <a:rPr lang="en-US" dirty="0" err="1"/>
              <a:t>রোগ</a:t>
            </a:r>
            <a:r>
              <a:rPr lang="en-US" dirty="0"/>
              <a:t> </a:t>
            </a:r>
          </a:p>
        </p:txBody>
      </p:sp>
      <p:pic>
        <p:nvPicPr>
          <p:cNvPr id="8194" name="Picture 2" descr="Red Rot of Sugarcane - Study Solutions">
            <a:extLst>
              <a:ext uri="{FF2B5EF4-FFF2-40B4-BE49-F238E27FC236}">
                <a16:creationId xmlns:a16="http://schemas.microsoft.com/office/drawing/2014/main" id="{B01AD5FA-C814-CE38-47FA-6FE929837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25" y="1888720"/>
            <a:ext cx="3322810" cy="194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TNAU Agritech Portal :: Crop Protection">
            <a:extLst>
              <a:ext uri="{FF2B5EF4-FFF2-40B4-BE49-F238E27FC236}">
                <a16:creationId xmlns:a16="http://schemas.microsoft.com/office/drawing/2014/main" id="{4F833F3D-7417-D3FA-FB90-0E1F93259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410" y="1888720"/>
            <a:ext cx="3509726" cy="194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Sugarcane Wilt">
            <a:extLst>
              <a:ext uri="{FF2B5EF4-FFF2-40B4-BE49-F238E27FC236}">
                <a16:creationId xmlns:a16="http://schemas.microsoft.com/office/drawing/2014/main" id="{727D6570-647F-DA6E-A411-33CA2A604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136" y="1888720"/>
            <a:ext cx="4155872" cy="193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677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আখের</a:t>
            </a:r>
            <a:r>
              <a:rPr lang="en-US" dirty="0"/>
              <a:t> </a:t>
            </a:r>
            <a:r>
              <a:rPr lang="en-US" dirty="0" err="1"/>
              <a:t>রোগ</a:t>
            </a:r>
            <a:r>
              <a:rPr lang="en-US" dirty="0"/>
              <a:t> ও </a:t>
            </a:r>
            <a:r>
              <a:rPr lang="en-US" dirty="0" err="1"/>
              <a:t>বালাই</a:t>
            </a:r>
            <a:r>
              <a:rPr lang="en-US" dirty="0"/>
              <a:t> </a:t>
            </a:r>
            <a:r>
              <a:rPr lang="en-US" dirty="0" err="1"/>
              <a:t>প্রতিকার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89026" y="3985629"/>
            <a:ext cx="12013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FF00"/>
                </a:solidFill>
              </a:rPr>
              <a:t>স্পর্শক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মাকড়নাশক</a:t>
            </a:r>
            <a:r>
              <a:rPr lang="en-US" sz="1600" dirty="0">
                <a:solidFill>
                  <a:srgbClr val="FFFF00"/>
                </a:solidFill>
              </a:rPr>
              <a:t>                     </a:t>
            </a:r>
            <a:r>
              <a:rPr lang="en-US" sz="1600" dirty="0" err="1">
                <a:solidFill>
                  <a:srgbClr val="FFFF00"/>
                </a:solidFill>
              </a:rPr>
              <a:t>অন্তর্বাহী</a:t>
            </a:r>
            <a:r>
              <a:rPr lang="en-US" sz="1600" dirty="0">
                <a:solidFill>
                  <a:srgbClr val="FFFF00"/>
                </a:solidFill>
              </a:rPr>
              <a:t> ও </a:t>
            </a:r>
            <a:r>
              <a:rPr lang="en-US" sz="1600" dirty="0" err="1">
                <a:solidFill>
                  <a:srgbClr val="FFFF00"/>
                </a:solidFill>
              </a:rPr>
              <a:t>পাকস্থলীয়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মাকড়নাশক</a:t>
            </a: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অন্তর্বাহী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ছত্রাকনাশক</a:t>
            </a: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স্পর্শক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ছত্রাকনাশক</a:t>
            </a:r>
            <a:endParaRPr lang="en-US" sz="1600" dirty="0">
              <a:solidFill>
                <a:srgbClr val="FFFF00"/>
              </a:solidFill>
            </a:endParaRPr>
          </a:p>
          <a:p>
            <a:r>
              <a:rPr lang="en-US" sz="2400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26F23-CB20-273D-6E2B-8AF8076A5BE8}"/>
              </a:ext>
            </a:extLst>
          </p:cNvPr>
          <p:cNvSpPr txBox="1"/>
          <p:nvPr/>
        </p:nvSpPr>
        <p:spPr>
          <a:xfrm>
            <a:off x="181069" y="2129930"/>
            <a:ext cx="116880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পোকা-মাকড়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দুই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ধরনেরঃ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১)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স্পর্শক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মাকড়নাশক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পোকা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বাইরে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থাকে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২)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অন্তর্বাহী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মাকড়নাশক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পোকাকে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যারা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গাছের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ভিতরে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যায়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বা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রস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খায়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ছত্রাকনাশকও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দুই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ধরনেরঃ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১)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স্পর্শে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বাইরে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থাকে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২)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অন্তর্বাহী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যারা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দেহের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ভিতরে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থাকে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D90F49-61A7-7666-06F9-92D8591B9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952791"/>
              </p:ext>
            </p:extLst>
          </p:nvPr>
        </p:nvGraphicFramePr>
        <p:xfrm>
          <a:off x="181069" y="4403803"/>
          <a:ext cx="117604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113">
                  <a:extLst>
                    <a:ext uri="{9D8B030D-6E8A-4147-A177-3AD203B41FA5}">
                      <a16:colId xmlns:a16="http://schemas.microsoft.com/office/drawing/2014/main" val="3819468396"/>
                    </a:ext>
                  </a:extLst>
                </a:gridCol>
                <a:gridCol w="2940113">
                  <a:extLst>
                    <a:ext uri="{9D8B030D-6E8A-4147-A177-3AD203B41FA5}">
                      <a16:colId xmlns:a16="http://schemas.microsoft.com/office/drawing/2014/main" val="1252337825"/>
                    </a:ext>
                  </a:extLst>
                </a:gridCol>
                <a:gridCol w="2940113">
                  <a:extLst>
                    <a:ext uri="{9D8B030D-6E8A-4147-A177-3AD203B41FA5}">
                      <a16:colId xmlns:a16="http://schemas.microsoft.com/office/drawing/2014/main" val="3332271088"/>
                    </a:ext>
                  </a:extLst>
                </a:gridCol>
                <a:gridCol w="2940113">
                  <a:extLst>
                    <a:ext uri="{9D8B030D-6E8A-4147-A177-3AD203B41FA5}">
                      <a16:colId xmlns:a16="http://schemas.microsoft.com/office/drawing/2014/main" val="498262280"/>
                    </a:ext>
                  </a:extLst>
                </a:gridCol>
              </a:tblGrid>
              <a:tr h="2087531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কারটাপ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ও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সাইপারমেথ্রিন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ঔষধ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।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যেমনঃ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মাছি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ফড়িং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লেদা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পোকা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কাটুই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পোকা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মারতে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ব্যাবহৃত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হয়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অরগানোসালফেট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ক্লোরোপাইরিফস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ঔষধ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যেমনঃ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চুসে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খাওয়া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এফিড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জেসিড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বাদামী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ঘাস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ফড়িং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অন্তর্বাহী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যেমন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মাজরা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ছিদ্রকারী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ইত্যাদি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কার্বেন্ডাজিম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প্রোপিকনাজল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ঔষধ</a:t>
                      </a:r>
                      <a:r>
                        <a:rPr lang="en-US" dirty="0"/>
                        <a:t> । </a:t>
                      </a:r>
                      <a:r>
                        <a:rPr lang="en-US" dirty="0" err="1"/>
                        <a:t>যেমনঃ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কান্ড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গোড়া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পাতা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ব্লাস্ট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বাকানী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যাদের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জীবানু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দেহের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ভিতরে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তাদের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মারতে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পারে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কপার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হাইড্রক্সাইড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যেমনঃ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পাউডারি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মিলডিউ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মরীচা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এসকল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জীবানু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দেহের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বাইরে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থাকে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তাই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স্পর্শক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ছত্রাকনাশক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দিয়েই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9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285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/>
              <a:t>আশ </a:t>
            </a:r>
            <a:r>
              <a:rPr lang="en-US" dirty="0" err="1"/>
              <a:t>জাতীয়</a:t>
            </a:r>
            <a:r>
              <a:rPr lang="en-US" dirty="0"/>
              <a:t> </a:t>
            </a:r>
            <a:r>
              <a:rPr lang="en-US" dirty="0" err="1"/>
              <a:t>ফসল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162961" y="2213241"/>
            <a:ext cx="600244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/>
              <a:t>এই </a:t>
            </a:r>
            <a:r>
              <a:rPr lang="en-US" sz="2400" dirty="0" err="1"/>
              <a:t>ফসল</a:t>
            </a:r>
            <a:r>
              <a:rPr lang="en-US" sz="2400" dirty="0"/>
              <a:t> </a:t>
            </a:r>
            <a:r>
              <a:rPr lang="en-US" sz="2400" dirty="0" err="1"/>
              <a:t>দ্বারা</a:t>
            </a:r>
            <a:r>
              <a:rPr lang="en-US" sz="2400" dirty="0"/>
              <a:t> আশ </a:t>
            </a:r>
            <a:r>
              <a:rPr lang="en-US" sz="2400" dirty="0" err="1"/>
              <a:t>তৈরী</a:t>
            </a:r>
            <a:r>
              <a:rPr lang="en-US" sz="2400" dirty="0"/>
              <a:t> </a:t>
            </a:r>
            <a:r>
              <a:rPr lang="en-US" sz="2400" dirty="0" err="1"/>
              <a:t>করা</a:t>
            </a:r>
            <a:r>
              <a:rPr lang="en-US" sz="2400" dirty="0"/>
              <a:t> </a:t>
            </a:r>
            <a:r>
              <a:rPr lang="en-US" sz="2400" dirty="0" err="1"/>
              <a:t>যায়</a:t>
            </a:r>
            <a:r>
              <a:rPr lang="en-US" sz="2400" dirty="0"/>
              <a:t>। </a:t>
            </a:r>
            <a:r>
              <a:rPr lang="en-US" sz="2400" dirty="0" err="1"/>
              <a:t>এদের</a:t>
            </a:r>
            <a:r>
              <a:rPr lang="en-US" sz="2400" dirty="0"/>
              <a:t> </a:t>
            </a:r>
            <a:r>
              <a:rPr lang="en-US" sz="2400" dirty="0" err="1"/>
              <a:t>মধ্যে</a:t>
            </a:r>
            <a:r>
              <a:rPr lang="en-US" sz="2400" dirty="0"/>
              <a:t> </a:t>
            </a:r>
            <a:r>
              <a:rPr lang="en-US" sz="2400" dirty="0" err="1"/>
              <a:t>রয়েছে</a:t>
            </a:r>
            <a:r>
              <a:rPr lang="en-US" sz="2400" dirty="0"/>
              <a:t> </a:t>
            </a:r>
            <a:r>
              <a:rPr lang="en-US" sz="2400" dirty="0" err="1"/>
              <a:t>পাট</a:t>
            </a:r>
            <a:r>
              <a:rPr lang="en-US" sz="2400" dirty="0"/>
              <a:t>, </a:t>
            </a:r>
            <a:r>
              <a:rPr lang="en-US" sz="2400" dirty="0" err="1"/>
              <a:t>কেনাফ</a:t>
            </a:r>
            <a:r>
              <a:rPr lang="en-US" sz="2400" dirty="0"/>
              <a:t>, </a:t>
            </a:r>
            <a:r>
              <a:rPr lang="en-US" sz="2400" dirty="0" err="1"/>
              <a:t>মেস্তা</a:t>
            </a:r>
            <a:r>
              <a:rPr lang="en-US" sz="2400" dirty="0"/>
              <a:t>, শন </a:t>
            </a:r>
            <a:r>
              <a:rPr lang="en-US" sz="2400" dirty="0" err="1"/>
              <a:t>পাট</a:t>
            </a:r>
            <a:r>
              <a:rPr lang="en-US" sz="2400" dirty="0"/>
              <a:t>, </a:t>
            </a:r>
            <a:r>
              <a:rPr lang="en-US" sz="2400" dirty="0" err="1"/>
              <a:t>সানহেম্প</a:t>
            </a:r>
            <a:r>
              <a:rPr lang="en-US" sz="2400" dirty="0"/>
              <a:t> ও </a:t>
            </a:r>
            <a:r>
              <a:rPr lang="en-US" sz="2400" dirty="0" err="1"/>
              <a:t>শিমুল</a:t>
            </a:r>
            <a:r>
              <a:rPr lang="en-US" sz="2400" dirty="0"/>
              <a:t> </a:t>
            </a:r>
            <a:r>
              <a:rPr lang="en-US" sz="2400" dirty="0" err="1"/>
              <a:t>গাছ</a:t>
            </a:r>
            <a:r>
              <a:rPr lang="en-US" sz="2400" dirty="0"/>
              <a:t>। আশ </a:t>
            </a:r>
            <a:r>
              <a:rPr lang="en-US" sz="2400" dirty="0" err="1"/>
              <a:t>জাতীয়</a:t>
            </a:r>
            <a:r>
              <a:rPr lang="en-US" sz="2400" dirty="0"/>
              <a:t> </a:t>
            </a:r>
            <a:r>
              <a:rPr lang="en-US" sz="2400" dirty="0" err="1"/>
              <a:t>গাছ</a:t>
            </a:r>
            <a:r>
              <a:rPr lang="en-US" sz="2400" dirty="0"/>
              <a:t> </a:t>
            </a:r>
            <a:r>
              <a:rPr lang="en-US" sz="2400" dirty="0" err="1"/>
              <a:t>নিয়ে</a:t>
            </a:r>
            <a:r>
              <a:rPr lang="en-US" sz="2400" dirty="0"/>
              <a:t> </a:t>
            </a:r>
            <a:r>
              <a:rPr lang="en-US" sz="2400" dirty="0" err="1"/>
              <a:t>গবেষনা</a:t>
            </a:r>
            <a:r>
              <a:rPr lang="en-US" sz="2400" dirty="0"/>
              <a:t> </a:t>
            </a:r>
            <a:r>
              <a:rPr lang="en-US" sz="2400" dirty="0" err="1"/>
              <a:t>করে</a:t>
            </a:r>
            <a:r>
              <a:rPr lang="en-US" sz="2400" dirty="0"/>
              <a:t> BJRI.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পাট</a:t>
            </a:r>
            <a:r>
              <a:rPr lang="en-US" sz="2400" dirty="0"/>
              <a:t> ২ </a:t>
            </a:r>
            <a:r>
              <a:rPr lang="en-US" sz="2400" dirty="0" err="1"/>
              <a:t>প্রকার</a:t>
            </a:r>
            <a:r>
              <a:rPr lang="en-US" sz="2400" dirty="0"/>
              <a:t>। </a:t>
            </a:r>
            <a:r>
              <a:rPr lang="en-US" sz="2400" dirty="0" err="1"/>
              <a:t>দেশী</a:t>
            </a:r>
            <a:r>
              <a:rPr lang="en-US" sz="2400" dirty="0"/>
              <a:t> </a:t>
            </a:r>
            <a:r>
              <a:rPr lang="en-US" sz="2400" dirty="0" err="1"/>
              <a:t>পাটঃ</a:t>
            </a:r>
            <a:r>
              <a:rPr lang="en-US" sz="2400" dirty="0"/>
              <a:t> </a:t>
            </a:r>
            <a:r>
              <a:rPr lang="en-US" sz="2400" i="1" dirty="0"/>
              <a:t>Corchorus capsularis</a:t>
            </a:r>
            <a:r>
              <a:rPr lang="en-US" sz="2400" dirty="0"/>
              <a:t> , </a:t>
            </a:r>
            <a:r>
              <a:rPr lang="en-US" sz="2400" dirty="0" err="1"/>
              <a:t>তোষা</a:t>
            </a:r>
            <a:r>
              <a:rPr lang="en-US" sz="2400" dirty="0"/>
              <a:t> </a:t>
            </a:r>
            <a:r>
              <a:rPr lang="en-US" sz="2400" dirty="0" err="1"/>
              <a:t>পাটঃ</a:t>
            </a:r>
            <a:r>
              <a:rPr lang="en-US" sz="2400" dirty="0"/>
              <a:t> </a:t>
            </a:r>
            <a:r>
              <a:rPr lang="en-US" sz="2400" i="1" dirty="0"/>
              <a:t>Corchorus </a:t>
            </a:r>
            <a:r>
              <a:rPr lang="en-US" sz="2400" i="1" dirty="0" err="1"/>
              <a:t>olitorius</a:t>
            </a:r>
            <a:endParaRPr lang="en-US" sz="2400" i="1" dirty="0"/>
          </a:p>
          <a:p>
            <a:endParaRPr lang="en-US" sz="2400" i="1" dirty="0"/>
          </a:p>
          <a:p>
            <a:r>
              <a:rPr lang="en-US" sz="2400" dirty="0" err="1"/>
              <a:t>পাটঃ</a:t>
            </a:r>
            <a:r>
              <a:rPr lang="en-US" sz="2400" dirty="0"/>
              <a:t> </a:t>
            </a:r>
            <a:r>
              <a:rPr lang="en-US" sz="2400" i="1" dirty="0"/>
              <a:t>Corchorus capsularis</a:t>
            </a:r>
          </a:p>
          <a:p>
            <a:r>
              <a:rPr lang="en-US" sz="2400" dirty="0" err="1"/>
              <a:t>তুলাঃ</a:t>
            </a:r>
            <a:r>
              <a:rPr lang="en-US" sz="2400" dirty="0"/>
              <a:t> </a:t>
            </a:r>
            <a:r>
              <a:rPr lang="en-US" sz="2400" i="1" dirty="0" err="1"/>
              <a:t>Giossypium</a:t>
            </a:r>
            <a:r>
              <a:rPr lang="en-US" sz="2400" i="1" dirty="0"/>
              <a:t> sp.</a:t>
            </a:r>
          </a:p>
          <a:p>
            <a:r>
              <a:rPr lang="en-US" sz="2400" dirty="0" err="1"/>
              <a:t>মেস্তাঃ</a:t>
            </a:r>
            <a:r>
              <a:rPr lang="en-US" sz="2400" dirty="0"/>
              <a:t> </a:t>
            </a:r>
            <a:r>
              <a:rPr lang="en-US" sz="2400" i="1" dirty="0"/>
              <a:t>Hibiscus cannabinus</a:t>
            </a:r>
          </a:p>
        </p:txBody>
      </p:sp>
      <p:pic>
        <p:nvPicPr>
          <p:cNvPr id="9218" name="Picture 2" descr="Jute - The Most Sustainable Fiber – YaYa &amp; Co.">
            <a:extLst>
              <a:ext uri="{FF2B5EF4-FFF2-40B4-BE49-F238E27FC236}">
                <a16:creationId xmlns:a16="http://schemas.microsoft.com/office/drawing/2014/main" id="{0791A7D6-A9D4-DBE0-506C-08FBE1D87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409" y="2493898"/>
            <a:ext cx="5492138" cy="366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119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/>
              <a:t>আশ </a:t>
            </a:r>
            <a:r>
              <a:rPr lang="en-US" dirty="0" err="1"/>
              <a:t>জাতীয়</a:t>
            </a:r>
            <a:r>
              <a:rPr lang="en-US" dirty="0"/>
              <a:t> </a:t>
            </a:r>
            <a:r>
              <a:rPr lang="en-US" dirty="0" err="1"/>
              <a:t>ফসলের</a:t>
            </a:r>
            <a:r>
              <a:rPr lang="en-US" dirty="0"/>
              <a:t> </a:t>
            </a:r>
            <a:r>
              <a:rPr lang="en-US" dirty="0" err="1"/>
              <a:t>গুরুত্ব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26F23-CB20-273D-6E2B-8AF8076A5BE8}"/>
              </a:ext>
            </a:extLst>
          </p:cNvPr>
          <p:cNvSpPr txBox="1"/>
          <p:nvPr/>
        </p:nvSpPr>
        <p:spPr>
          <a:xfrm>
            <a:off x="144855" y="2301946"/>
            <a:ext cx="116880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পাট</a:t>
            </a:r>
            <a:r>
              <a:rPr lang="en-US" sz="2800" dirty="0"/>
              <a:t> </a:t>
            </a:r>
            <a:r>
              <a:rPr lang="en-US" sz="2800" dirty="0" err="1"/>
              <a:t>শাকে</a:t>
            </a:r>
            <a:r>
              <a:rPr lang="en-US" sz="2800" dirty="0"/>
              <a:t> </a:t>
            </a:r>
            <a:r>
              <a:rPr lang="en-US" sz="2800" dirty="0" err="1"/>
              <a:t>প্রচুর</a:t>
            </a:r>
            <a:r>
              <a:rPr lang="en-US" sz="2800" dirty="0"/>
              <a:t> </a:t>
            </a:r>
            <a:r>
              <a:rPr lang="en-US" sz="2800" dirty="0" err="1"/>
              <a:t>ভিটামিন</a:t>
            </a:r>
            <a:r>
              <a:rPr lang="en-US" sz="2800" dirty="0"/>
              <a:t>, </a:t>
            </a:r>
            <a:r>
              <a:rPr lang="en-US" sz="2800" dirty="0" err="1"/>
              <a:t>ক্যালসিয়াম</a:t>
            </a:r>
            <a:r>
              <a:rPr lang="en-US" sz="2800" dirty="0"/>
              <a:t>, </a:t>
            </a:r>
            <a:r>
              <a:rPr lang="en-US" sz="2800" dirty="0" err="1"/>
              <a:t>পটাশিয়াম</a:t>
            </a:r>
            <a:r>
              <a:rPr lang="en-US" sz="2800" dirty="0"/>
              <a:t>, </a:t>
            </a:r>
            <a:r>
              <a:rPr lang="en-US" sz="2800" dirty="0" err="1"/>
              <a:t>এলকালয়েড</a:t>
            </a:r>
            <a:r>
              <a:rPr lang="en-US" sz="2800" dirty="0"/>
              <a:t>, </a:t>
            </a:r>
            <a:r>
              <a:rPr lang="en-US" sz="2800" dirty="0" err="1"/>
              <a:t>ম্যাগনেশিয়াম</a:t>
            </a:r>
            <a:r>
              <a:rPr lang="en-US" sz="2800" dirty="0"/>
              <a:t>, </a:t>
            </a:r>
            <a:r>
              <a:rPr lang="en-US" sz="2800" dirty="0" err="1"/>
              <a:t>প্রোটিন</a:t>
            </a:r>
            <a:r>
              <a:rPr lang="en-US" sz="2800" dirty="0"/>
              <a:t> ,</a:t>
            </a:r>
            <a:r>
              <a:rPr lang="en-US" sz="2800" dirty="0" err="1"/>
              <a:t>লিপিড</a:t>
            </a:r>
            <a:r>
              <a:rPr lang="en-US" sz="2800" dirty="0"/>
              <a:t>, </a:t>
            </a:r>
            <a:r>
              <a:rPr lang="en-US" sz="2800" dirty="0" err="1"/>
              <a:t>এসিড</a:t>
            </a:r>
            <a:r>
              <a:rPr lang="en-US" sz="2800" dirty="0"/>
              <a:t> </a:t>
            </a:r>
            <a:r>
              <a:rPr lang="en-US" sz="2800" dirty="0" err="1"/>
              <a:t>রয়েছে</a:t>
            </a:r>
            <a:r>
              <a:rPr lang="en-US" sz="2800" dirty="0"/>
              <a:t>।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পাট</a:t>
            </a:r>
            <a:r>
              <a:rPr lang="en-US" sz="2800" dirty="0"/>
              <a:t> </a:t>
            </a:r>
            <a:r>
              <a:rPr lang="en-US" sz="2800" dirty="0" err="1"/>
              <a:t>পাতায়</a:t>
            </a:r>
            <a:r>
              <a:rPr lang="en-US" sz="2800" dirty="0"/>
              <a:t> </a:t>
            </a:r>
            <a:r>
              <a:rPr lang="en-US" sz="2800" dirty="0" err="1"/>
              <a:t>টিউমার</a:t>
            </a:r>
            <a:r>
              <a:rPr lang="en-US" sz="2800" dirty="0"/>
              <a:t> ও </a:t>
            </a:r>
            <a:r>
              <a:rPr lang="en-US" sz="2800" dirty="0" err="1"/>
              <a:t>ক্যান্সার</a:t>
            </a:r>
            <a:r>
              <a:rPr lang="en-US" sz="2800" dirty="0"/>
              <a:t> </a:t>
            </a:r>
            <a:r>
              <a:rPr lang="en-US" sz="2800" dirty="0" err="1"/>
              <a:t>প্রতিরোধক</a:t>
            </a:r>
            <a:r>
              <a:rPr lang="en-US" sz="2800" dirty="0"/>
              <a:t> </a:t>
            </a:r>
            <a:r>
              <a:rPr lang="en-US" sz="2800" dirty="0" err="1"/>
              <a:t>পুষ্টি</a:t>
            </a:r>
            <a:r>
              <a:rPr lang="en-US" sz="2800" dirty="0"/>
              <a:t> </a:t>
            </a:r>
            <a:r>
              <a:rPr lang="en-US" sz="2800" dirty="0" err="1"/>
              <a:t>উপাদান</a:t>
            </a:r>
            <a:r>
              <a:rPr lang="en-US" sz="2800" dirty="0"/>
              <a:t> </a:t>
            </a:r>
            <a:r>
              <a:rPr lang="en-US" sz="2800" dirty="0" err="1"/>
              <a:t>বিদ্যমান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পাট</a:t>
            </a:r>
            <a:r>
              <a:rPr lang="en-US" sz="2800" dirty="0"/>
              <a:t> </a:t>
            </a:r>
            <a:r>
              <a:rPr lang="en-US" sz="2800" dirty="0" err="1"/>
              <a:t>থেকে</a:t>
            </a:r>
            <a:r>
              <a:rPr lang="en-US" sz="2800" dirty="0"/>
              <a:t> </a:t>
            </a:r>
            <a:r>
              <a:rPr lang="en-US" sz="2800" dirty="0" err="1"/>
              <a:t>সুতা</a:t>
            </a:r>
            <a:r>
              <a:rPr lang="en-US" sz="2800" dirty="0"/>
              <a:t>, </a:t>
            </a:r>
            <a:r>
              <a:rPr lang="en-US" sz="2800" dirty="0" err="1"/>
              <a:t>কাপড়</a:t>
            </a:r>
            <a:r>
              <a:rPr lang="en-US" sz="2800" dirty="0"/>
              <a:t>, </a:t>
            </a:r>
            <a:r>
              <a:rPr lang="en-US" sz="2800" dirty="0" err="1"/>
              <a:t>কাগজ</a:t>
            </a:r>
            <a:r>
              <a:rPr lang="en-US" sz="2800" dirty="0"/>
              <a:t> </a:t>
            </a:r>
            <a:r>
              <a:rPr lang="en-US" sz="2800" dirty="0" err="1"/>
              <a:t>ইত্যাদি</a:t>
            </a:r>
            <a:r>
              <a:rPr lang="en-US" sz="2800" dirty="0"/>
              <a:t> </a:t>
            </a:r>
            <a:r>
              <a:rPr lang="en-US" sz="2800" dirty="0" err="1"/>
              <a:t>তৈরী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।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জমির</a:t>
            </a:r>
            <a:r>
              <a:rPr lang="en-US" sz="2800" dirty="0"/>
              <a:t> </a:t>
            </a:r>
            <a:r>
              <a:rPr lang="en-US" sz="2800" dirty="0" err="1"/>
              <a:t>উর্বরতা</a:t>
            </a:r>
            <a:r>
              <a:rPr lang="en-US" sz="2800" dirty="0"/>
              <a:t> </a:t>
            </a:r>
            <a:r>
              <a:rPr lang="en-US" sz="2800" dirty="0" err="1"/>
              <a:t>বৃদ্ধি</a:t>
            </a:r>
            <a:r>
              <a:rPr lang="en-US" sz="2800" dirty="0"/>
              <a:t> </a:t>
            </a:r>
            <a:r>
              <a:rPr lang="en-US" sz="2800" dirty="0" err="1"/>
              <a:t>করে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বৈদেশিক</a:t>
            </a:r>
            <a:r>
              <a:rPr lang="en-US" sz="2800" dirty="0"/>
              <a:t> </a:t>
            </a:r>
            <a:r>
              <a:rPr lang="en-US" sz="2800" dirty="0" err="1"/>
              <a:t>মুডরা</a:t>
            </a:r>
            <a:r>
              <a:rPr lang="en-US" sz="2800" dirty="0"/>
              <a:t> </a:t>
            </a:r>
            <a:r>
              <a:rPr lang="en-US" sz="2800" dirty="0" err="1"/>
              <a:t>আয়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r>
              <a:rPr lang="en-US" sz="2800" dirty="0"/>
              <a:t>।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বেকারদের</a:t>
            </a:r>
            <a:r>
              <a:rPr lang="en-US" sz="2800" dirty="0"/>
              <a:t> </a:t>
            </a:r>
            <a:r>
              <a:rPr lang="en-US" sz="2800" dirty="0" err="1"/>
              <a:t>কর্মসংস্থান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।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বস্ত্র</a:t>
            </a:r>
            <a:r>
              <a:rPr lang="en-US" sz="2800" dirty="0"/>
              <a:t> </a:t>
            </a:r>
            <a:r>
              <a:rPr lang="en-US" sz="2800" dirty="0" err="1"/>
              <a:t>শিল্পের</a:t>
            </a:r>
            <a:r>
              <a:rPr lang="en-US" sz="2800" dirty="0"/>
              <a:t> ৭০-৮০% </a:t>
            </a:r>
            <a:r>
              <a:rPr lang="en-US" sz="2800" dirty="0" err="1"/>
              <a:t>আসে</a:t>
            </a:r>
            <a:r>
              <a:rPr lang="en-US" sz="2800" dirty="0"/>
              <a:t> </a:t>
            </a:r>
            <a:r>
              <a:rPr lang="en-US" sz="2800" dirty="0" err="1"/>
              <a:t>তুলা</a:t>
            </a:r>
            <a:r>
              <a:rPr lang="en-US" sz="2800" dirty="0"/>
              <a:t> </a:t>
            </a:r>
            <a:r>
              <a:rPr lang="en-US" sz="2800" dirty="0" err="1"/>
              <a:t>থেকে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টেক্সটাইল</a:t>
            </a:r>
            <a:r>
              <a:rPr lang="en-US" sz="2800" dirty="0"/>
              <a:t> </a:t>
            </a:r>
            <a:r>
              <a:rPr lang="en-US" sz="2800" dirty="0" err="1"/>
              <a:t>শিল্পের</a:t>
            </a:r>
            <a:r>
              <a:rPr lang="en-US" sz="2800" dirty="0"/>
              <a:t> </a:t>
            </a:r>
            <a:r>
              <a:rPr lang="en-US" sz="2800" dirty="0" err="1"/>
              <a:t>কাচামাল</a:t>
            </a:r>
            <a:r>
              <a:rPr lang="en-US" sz="2800" dirty="0"/>
              <a:t> </a:t>
            </a:r>
            <a:r>
              <a:rPr lang="en-US" sz="2800" dirty="0" err="1"/>
              <a:t>তুলা</a:t>
            </a:r>
            <a:r>
              <a:rPr lang="en-US" sz="2800" dirty="0"/>
              <a:t>,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শুকনো</a:t>
            </a:r>
            <a:r>
              <a:rPr lang="en-US" sz="2800" dirty="0"/>
              <a:t> </a:t>
            </a:r>
            <a:r>
              <a:rPr lang="en-US" sz="2800" dirty="0" err="1"/>
              <a:t>তুলা</a:t>
            </a:r>
            <a:r>
              <a:rPr lang="en-US" sz="2800" dirty="0"/>
              <a:t> </a:t>
            </a:r>
            <a:r>
              <a:rPr lang="en-US" sz="2800" dirty="0" err="1"/>
              <a:t>গাছ</a:t>
            </a:r>
            <a:r>
              <a:rPr lang="en-US" sz="2800" dirty="0"/>
              <a:t> </a:t>
            </a:r>
            <a:r>
              <a:rPr lang="en-US" sz="2800" dirty="0" err="1"/>
              <a:t>জালানী</a:t>
            </a:r>
            <a:r>
              <a:rPr lang="en-US" sz="2800" dirty="0"/>
              <a:t> </a:t>
            </a:r>
            <a:r>
              <a:rPr lang="en-US" sz="2800" dirty="0" err="1"/>
              <a:t>কাঠ</a:t>
            </a:r>
            <a:r>
              <a:rPr lang="en-US" sz="2800" dirty="0"/>
              <a:t> </a:t>
            </a:r>
            <a:r>
              <a:rPr lang="en-US" sz="2800" dirty="0" err="1"/>
              <a:t>হিসেবে</a:t>
            </a:r>
            <a:r>
              <a:rPr lang="en-US" sz="2800" dirty="0"/>
              <a:t> </a:t>
            </a:r>
            <a:r>
              <a:rPr lang="en-US" sz="2800" dirty="0" err="1"/>
              <a:t>ব্যাবহৃত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0220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পাট</a:t>
            </a:r>
            <a:r>
              <a:rPr lang="en-US" dirty="0"/>
              <a:t> ও </a:t>
            </a:r>
            <a:r>
              <a:rPr lang="en-US" dirty="0" err="1"/>
              <a:t>তুলা</a:t>
            </a:r>
            <a:r>
              <a:rPr lang="en-US" dirty="0"/>
              <a:t> </a:t>
            </a:r>
            <a:r>
              <a:rPr lang="en-US" dirty="0" err="1"/>
              <a:t>চাষ</a:t>
            </a:r>
            <a:r>
              <a:rPr lang="en-US" dirty="0"/>
              <a:t> </a:t>
            </a:r>
            <a:r>
              <a:rPr lang="en-US" dirty="0" err="1"/>
              <a:t>পদ্ধতি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016E0C-85A7-E71A-E070-5C482194A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064731"/>
              </p:ext>
            </p:extLst>
          </p:nvPr>
        </p:nvGraphicFramePr>
        <p:xfrm>
          <a:off x="0" y="1819747"/>
          <a:ext cx="12192000" cy="494013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7183051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857897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35110818"/>
                    </a:ext>
                  </a:extLst>
                </a:gridCol>
              </a:tblGrid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চাষের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ধাপ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পাট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তুলা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392103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জলবায়ু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জমি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নির্বাচন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পাট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চাষের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জন্য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তাপমাত্রা</a:t>
                      </a:r>
                      <a:r>
                        <a:rPr lang="en-US" sz="1200" dirty="0"/>
                        <a:t> ২৫-৩৫ </a:t>
                      </a:r>
                      <a:r>
                        <a:rPr lang="en-US" sz="1200" dirty="0" err="1"/>
                        <a:t>ডিগ্রি</a:t>
                      </a:r>
                      <a:r>
                        <a:rPr lang="en-US" sz="1200" dirty="0"/>
                        <a:t> , </a:t>
                      </a:r>
                      <a:r>
                        <a:rPr lang="en-US" sz="1200" dirty="0" err="1"/>
                        <a:t>আপেক্ষিক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আদ্রতা</a:t>
                      </a:r>
                      <a:r>
                        <a:rPr lang="en-US" sz="1200" dirty="0"/>
                        <a:t> ৯০% </a:t>
                      </a:r>
                      <a:r>
                        <a:rPr lang="en-US" sz="1200" dirty="0" err="1"/>
                        <a:t>থাকতে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। </a:t>
                      </a:r>
                      <a:r>
                        <a:rPr lang="en-US" sz="1200" dirty="0" err="1"/>
                        <a:t>প্রচুর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বৃষ্টিপাত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দরকার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এবং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কিছু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সময়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রৌদ্রও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দরকার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। খরিপ-২ </a:t>
                      </a:r>
                      <a:r>
                        <a:rPr lang="en-US" sz="1200" dirty="0" err="1"/>
                        <a:t>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চাষ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বন্যামুক্ত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উচু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প্রয়োজন</a:t>
                      </a:r>
                      <a:r>
                        <a:rPr lang="en-US" sz="1200" dirty="0"/>
                        <a:t> , </a:t>
                      </a:r>
                      <a:r>
                        <a:rPr lang="en-US" sz="1200" dirty="0" err="1"/>
                        <a:t>তাপমাত্রা</a:t>
                      </a:r>
                      <a:r>
                        <a:rPr lang="en-US" sz="1200" dirty="0"/>
                        <a:t> ২৮-৩২ডীগ্রি। </a:t>
                      </a:r>
                      <a:r>
                        <a:rPr lang="en-US" sz="1200" dirty="0" err="1"/>
                        <a:t>রবি</a:t>
                      </a:r>
                      <a:r>
                        <a:rPr lang="en-US" sz="1200" dirty="0"/>
                        <a:t> ও </a:t>
                      </a:r>
                      <a:r>
                        <a:rPr lang="en-US" sz="1200" dirty="0" err="1"/>
                        <a:t>খরিপ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দুই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সময়েই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চাষ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 ।</a:t>
                      </a:r>
                      <a:r>
                        <a:rPr lang="en-US" sz="1200" dirty="0" err="1"/>
                        <a:t>অতি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বৃষ্টি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সহ্য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করতে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পারে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না</a:t>
                      </a:r>
                      <a:r>
                        <a:rPr lang="en-US" sz="1200" dirty="0"/>
                        <a:t> ।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369478"/>
                  </a:ext>
                </a:extLst>
              </a:tr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রোপনের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সময়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জুন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থেকে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জুলাই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সাধারনত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অক্টবর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নভেম্বরের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দিকে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183633"/>
                  </a:ext>
                </a:extLst>
              </a:tr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পাটের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তুলার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জাত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বি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জে</a:t>
                      </a:r>
                      <a:r>
                        <a:rPr lang="en-US" sz="1200" dirty="0"/>
                        <a:t> আর </a:t>
                      </a:r>
                      <a:r>
                        <a:rPr lang="en-US" sz="1200" dirty="0" err="1"/>
                        <a:t>আই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দেশি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পাট</a:t>
                      </a:r>
                      <a:r>
                        <a:rPr lang="en-US" sz="1200" dirty="0"/>
                        <a:t> 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সিবি</a:t>
                      </a:r>
                      <a:r>
                        <a:rPr lang="en-US" sz="1200" dirty="0"/>
                        <a:t> ১-১৪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733699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বীজ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শোধন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১-২% </a:t>
                      </a:r>
                      <a:r>
                        <a:rPr lang="en-US" sz="1200" dirty="0" err="1"/>
                        <a:t>কার্বেন্ডাজিম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ওষুধ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দিয়ে</a:t>
                      </a:r>
                      <a:r>
                        <a:rPr lang="en-US" sz="1200" dirty="0"/>
                        <a:t> ২৪ </a:t>
                      </a:r>
                      <a:r>
                        <a:rPr lang="en-US" sz="1200" dirty="0" err="1"/>
                        <a:t>ঘন্টা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ভিজিয়ে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রাখতে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হবে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১-২% </a:t>
                      </a:r>
                      <a:r>
                        <a:rPr lang="en-US" sz="1200" dirty="0" err="1"/>
                        <a:t>কার্বেন্ডাজিম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ওষুধ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দিয়ে</a:t>
                      </a:r>
                      <a:r>
                        <a:rPr lang="en-US" sz="1200" dirty="0"/>
                        <a:t> ২৪ </a:t>
                      </a:r>
                      <a:r>
                        <a:rPr lang="en-US" sz="1200" dirty="0" err="1"/>
                        <a:t>ঘন্টা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ভিজিয়ে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রাখতে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হবে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57393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চারা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রোপন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২০-২৫ x ১৫-২০ </a:t>
                      </a:r>
                      <a:r>
                        <a:rPr lang="en-US" sz="1200" dirty="0" err="1"/>
                        <a:t>সেমি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বপন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দুরুত্ব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বীজ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ছিটানো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অথবা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চারা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ডিবলিং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পদ্ধতিতে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রোপন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৯০ x ৪৫ </a:t>
                      </a:r>
                      <a:r>
                        <a:rPr lang="en-US" sz="1200" dirty="0" err="1"/>
                        <a:t>সেমি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বপন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দুরুত্ব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477935"/>
                  </a:ext>
                </a:extLst>
              </a:tr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আগাছা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দমন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আগাছা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দমন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আগাছানাশক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প্রয়োগ</a:t>
                      </a:r>
                      <a:r>
                        <a:rPr lang="en-US" sz="1200" dirty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আগাছা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দমন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আগাছানাশক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প্রয়োগ</a:t>
                      </a:r>
                      <a:r>
                        <a:rPr lang="en-US" sz="1200" dirty="0"/>
                        <a:t> 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161141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সেচ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স্যার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প্রয়োগ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বর্ষাকালে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সেচ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খুব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একটা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দরকার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নেই</a:t>
                      </a:r>
                      <a:r>
                        <a:rPr lang="en-US" sz="1200" dirty="0"/>
                        <a:t>। ৪০০০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গোবর</a:t>
                      </a:r>
                      <a:r>
                        <a:rPr lang="en-US" sz="1200" dirty="0"/>
                        <a:t>, ৭০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ইউরিয়া</a:t>
                      </a:r>
                      <a:r>
                        <a:rPr lang="en-US" sz="1200" dirty="0"/>
                        <a:t>, ৪০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টিএস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পি</a:t>
                      </a:r>
                      <a:r>
                        <a:rPr lang="en-US" sz="1200" dirty="0"/>
                        <a:t>, ৫০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এমওপি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জিপসাম</a:t>
                      </a:r>
                      <a:r>
                        <a:rPr lang="en-US" sz="1200" dirty="0"/>
                        <a:t> ৪০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/ </a:t>
                      </a:r>
                      <a:r>
                        <a:rPr lang="en-US" sz="1200" dirty="0" err="1"/>
                        <a:t>হেক্টর</a:t>
                      </a:r>
                      <a:r>
                        <a:rPr lang="en-US" sz="1200" dirty="0"/>
                        <a:t>  </a:t>
                      </a:r>
                      <a:r>
                        <a:rPr lang="en-US" sz="1200" dirty="0" err="1"/>
                        <a:t>দিতে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হবে</a:t>
                      </a:r>
                      <a:r>
                        <a:rPr lang="en-US" sz="1200" dirty="0"/>
                        <a:t>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৫-৬ </a:t>
                      </a:r>
                      <a:r>
                        <a:rPr lang="en-US" sz="1200" dirty="0" err="1"/>
                        <a:t>টন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জৈব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সার</a:t>
                      </a:r>
                      <a:r>
                        <a:rPr lang="en-US" sz="1200" dirty="0"/>
                        <a:t>, ২৫০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ইউরিয়া</a:t>
                      </a:r>
                      <a:r>
                        <a:rPr lang="en-US" sz="1200" dirty="0"/>
                        <a:t>, ১৫০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টিএসপি</a:t>
                      </a:r>
                      <a:r>
                        <a:rPr lang="en-US" sz="1200" dirty="0"/>
                        <a:t>, এম ও </a:t>
                      </a:r>
                      <a:r>
                        <a:rPr lang="en-US" sz="1200" dirty="0" err="1"/>
                        <a:t>পি</a:t>
                      </a:r>
                      <a:r>
                        <a:rPr lang="en-US" sz="1200" dirty="0"/>
                        <a:t> ১০০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জিপসাম</a:t>
                      </a:r>
                      <a:r>
                        <a:rPr lang="en-US" sz="1200" dirty="0"/>
                        <a:t> ৩০ </a:t>
                      </a:r>
                      <a:r>
                        <a:rPr lang="en-US" sz="1200" dirty="0" err="1"/>
                        <a:t>কেজি</a:t>
                      </a:r>
                      <a:r>
                        <a:rPr lang="en-US" sz="1200" dirty="0"/>
                        <a:t> /</a:t>
                      </a:r>
                      <a:r>
                        <a:rPr lang="en-US" sz="1200" dirty="0" err="1"/>
                        <a:t>হেক্টর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দিতে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হবে</a:t>
                      </a:r>
                      <a:r>
                        <a:rPr lang="en-US" sz="1200" dirty="0"/>
                        <a:t>।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565267"/>
                  </a:ext>
                </a:extLst>
              </a:tr>
              <a:tr h="459905">
                <a:tc>
                  <a:txBody>
                    <a:bodyPr/>
                    <a:lstStyle/>
                    <a:p>
                      <a:r>
                        <a:rPr lang="en-US" dirty="0" err="1"/>
                        <a:t>ফসল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সংগ্রহ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৩ </a:t>
                      </a:r>
                      <a:r>
                        <a:rPr lang="en-US" sz="1200" dirty="0" err="1"/>
                        <a:t>মাস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পরেই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ফুল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ফোটে</a:t>
                      </a:r>
                      <a:r>
                        <a:rPr lang="en-US" sz="1200" dirty="0"/>
                        <a:t> , </a:t>
                      </a:r>
                      <a:r>
                        <a:rPr lang="en-US" sz="1200" dirty="0" err="1"/>
                        <a:t>ফুল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ফোটার</a:t>
                      </a:r>
                      <a:r>
                        <a:rPr lang="en-US" sz="1200" dirty="0"/>
                        <a:t> ৫০-৬০ </a:t>
                      </a:r>
                      <a:r>
                        <a:rPr lang="en-US" sz="1200" dirty="0" err="1"/>
                        <a:t>দিনের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মধ্যে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বোল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পরিপক্কতা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লাভ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করে</a:t>
                      </a:r>
                      <a:r>
                        <a:rPr lang="en-US" sz="1200" dirty="0"/>
                        <a:t>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পাট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গাছে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ফুল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আসার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আগে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কাটলে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পাটের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মান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ভালো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862419"/>
                  </a:ext>
                </a:extLst>
              </a:tr>
              <a:tr h="455765">
                <a:tc>
                  <a:txBody>
                    <a:bodyPr/>
                    <a:lstStyle/>
                    <a:p>
                      <a:r>
                        <a:rPr lang="en-US" dirty="0" err="1"/>
                        <a:t>ফলন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পাটের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ফলন</a:t>
                      </a:r>
                      <a:r>
                        <a:rPr lang="en-US" sz="1200" dirty="0"/>
                        <a:t> ২.২৪-৩ </a:t>
                      </a:r>
                      <a:r>
                        <a:rPr lang="en-US" sz="1200" dirty="0" err="1"/>
                        <a:t>মেট্রিক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টন</a:t>
                      </a:r>
                      <a:r>
                        <a:rPr lang="en-US" sz="1200" dirty="0"/>
                        <a:t>/</a:t>
                      </a:r>
                      <a:r>
                        <a:rPr lang="en-US" sz="1200" dirty="0" err="1"/>
                        <a:t>হেক্টর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১-১.৫ </a:t>
                      </a:r>
                      <a:r>
                        <a:rPr lang="en-US" sz="1200" dirty="0" err="1"/>
                        <a:t>টন</a:t>
                      </a:r>
                      <a:r>
                        <a:rPr lang="en-US" sz="1200" dirty="0"/>
                        <a:t> /</a:t>
                      </a:r>
                      <a:r>
                        <a:rPr lang="en-US" sz="1200" dirty="0" err="1"/>
                        <a:t>হেক্টর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তুলা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উৎপন্ন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হয়</a:t>
                      </a:r>
                      <a:r>
                        <a:rPr lang="en-US" sz="1200" dirty="0"/>
                        <a:t> 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479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186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পাটের</a:t>
            </a:r>
            <a:r>
              <a:rPr lang="en-US" dirty="0"/>
              <a:t> </a:t>
            </a:r>
            <a:r>
              <a:rPr lang="en-US" dirty="0" err="1"/>
              <a:t>রোগ</a:t>
            </a:r>
            <a:r>
              <a:rPr lang="en-US" dirty="0"/>
              <a:t> ও </a:t>
            </a:r>
            <a:r>
              <a:rPr lang="en-US" dirty="0" err="1"/>
              <a:t>বালাই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1E046-5CCF-AD5F-CB41-EECCC385D4EE}"/>
              </a:ext>
            </a:extLst>
          </p:cNvPr>
          <p:cNvSpPr txBox="1"/>
          <p:nvPr/>
        </p:nvSpPr>
        <p:spPr>
          <a:xfrm>
            <a:off x="162961" y="2213241"/>
            <a:ext cx="60024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পাটের</a:t>
            </a:r>
            <a:r>
              <a:rPr lang="en-US" sz="2400" dirty="0"/>
              <a:t> </a:t>
            </a:r>
            <a:r>
              <a:rPr lang="en-US" sz="2400" dirty="0" err="1"/>
              <a:t>পোকাঃ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উড়চুংগা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বিছাপোকা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ঘোড়াপোকা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চেলে</a:t>
            </a:r>
            <a:r>
              <a:rPr lang="en-US" sz="2400" dirty="0"/>
              <a:t> </a:t>
            </a:r>
            <a:r>
              <a:rPr lang="en-US" sz="2400" dirty="0" err="1"/>
              <a:t>পোকা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মাকড়</a:t>
            </a:r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পাটের</a:t>
            </a:r>
            <a:r>
              <a:rPr lang="en-US" sz="2400" dirty="0"/>
              <a:t> </a:t>
            </a:r>
            <a:r>
              <a:rPr lang="en-US" sz="2400" dirty="0" err="1"/>
              <a:t>রোগঃ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গোরা</a:t>
            </a:r>
            <a:r>
              <a:rPr lang="en-US" sz="2400" dirty="0"/>
              <a:t> </a:t>
            </a:r>
            <a:r>
              <a:rPr lang="en-US" sz="2400" dirty="0" err="1"/>
              <a:t>পচা</a:t>
            </a:r>
            <a:r>
              <a:rPr lang="en-US" sz="2400" dirty="0"/>
              <a:t> </a:t>
            </a:r>
            <a:r>
              <a:rPr lang="en-US" sz="2400" dirty="0" err="1"/>
              <a:t>রোগ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কান্ড</a:t>
            </a:r>
            <a:r>
              <a:rPr lang="en-US" sz="2400" dirty="0"/>
              <a:t> </a:t>
            </a:r>
            <a:r>
              <a:rPr lang="en-US" sz="2400" dirty="0" err="1"/>
              <a:t>পচা</a:t>
            </a:r>
            <a:r>
              <a:rPr lang="en-US" sz="2400" dirty="0"/>
              <a:t> </a:t>
            </a:r>
            <a:r>
              <a:rPr lang="en-US" sz="2400" dirty="0" err="1"/>
              <a:t>রোগ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কালো</a:t>
            </a:r>
            <a:r>
              <a:rPr lang="en-US" sz="2400" dirty="0"/>
              <a:t> </a:t>
            </a:r>
            <a:r>
              <a:rPr lang="en-US" sz="2400" dirty="0" err="1"/>
              <a:t>পট্রি</a:t>
            </a:r>
            <a:r>
              <a:rPr lang="en-US" sz="2400" dirty="0"/>
              <a:t> </a:t>
            </a:r>
            <a:r>
              <a:rPr lang="en-US" sz="2400" dirty="0" err="1"/>
              <a:t>রোগ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ঢলে</a:t>
            </a:r>
            <a:r>
              <a:rPr lang="en-US" sz="2400" dirty="0"/>
              <a:t> </a:t>
            </a:r>
            <a:r>
              <a:rPr lang="en-US" sz="2400" dirty="0" err="1"/>
              <a:t>পড়া</a:t>
            </a:r>
            <a:r>
              <a:rPr lang="en-US" sz="2400" dirty="0"/>
              <a:t> </a:t>
            </a:r>
            <a:r>
              <a:rPr lang="en-US" sz="2400" dirty="0" err="1"/>
              <a:t>রোগ</a:t>
            </a:r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2569250-7D9F-B7A5-0D2B-8886C5785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959" y="2213241"/>
            <a:ext cx="2336283" cy="18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পাটের ঘোড়া পোকা">
            <a:extLst>
              <a:ext uri="{FF2B5EF4-FFF2-40B4-BE49-F238E27FC236}">
                <a16:creationId xmlns:a16="http://schemas.microsoft.com/office/drawing/2014/main" id="{1360B48E-BAE6-B294-F28B-A51BA8891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181" y="2213241"/>
            <a:ext cx="2426328" cy="193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পাটের উড়চুঙ্গা (Field Cricket) - ACI Crop Care">
            <a:extLst>
              <a:ext uri="{FF2B5EF4-FFF2-40B4-BE49-F238E27FC236}">
                <a16:creationId xmlns:a16="http://schemas.microsoft.com/office/drawing/2014/main" id="{10CBA51D-391C-1615-DE4B-737C1F4AA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240" y="2213241"/>
            <a:ext cx="2528004" cy="193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Review Article Open Access Stem Rot of Jute: A Serious Threat to Jute  Production in North-East India ABSTRACT">
            <a:extLst>
              <a:ext uri="{FF2B5EF4-FFF2-40B4-BE49-F238E27FC236}">
                <a16:creationId xmlns:a16="http://schemas.microsoft.com/office/drawing/2014/main" id="{D846E28C-9E12-440E-16E5-61537D0BC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772" y="4324153"/>
            <a:ext cx="2047875" cy="210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Tools to not rot jute: Solving a fungal problem - Research Outreach">
            <a:extLst>
              <a:ext uri="{FF2B5EF4-FFF2-40B4-BE49-F238E27FC236}">
                <a16:creationId xmlns:a16="http://schemas.microsoft.com/office/drawing/2014/main" id="{0F31ADEA-F261-7D50-8BA9-59FAC4707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847" y="4324152"/>
            <a:ext cx="2653244" cy="210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 descr="কৃষি ও বনসাই - পাটের কালো-পট্রি রোগ = Black band of Jute (Botryodiplodia  theobromae) লহ্মণ  কান্ডে কাল বেষ্টনীর মত দাগ হয়। দাগে অসংখ্য কালো বিন্দু  দেখা যায় ...">
            <a:extLst>
              <a:ext uri="{FF2B5EF4-FFF2-40B4-BE49-F238E27FC236}">
                <a16:creationId xmlns:a16="http://schemas.microsoft.com/office/drawing/2014/main" id="{BE5B78CC-3984-C546-6A32-15916E2F5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941" y="4324153"/>
            <a:ext cx="2810098" cy="210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632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তুলার</a:t>
            </a:r>
            <a:r>
              <a:rPr lang="en-US" dirty="0"/>
              <a:t> </a:t>
            </a:r>
            <a:r>
              <a:rPr lang="en-US" dirty="0" err="1"/>
              <a:t>রোগ</a:t>
            </a:r>
            <a:r>
              <a:rPr lang="en-US" dirty="0"/>
              <a:t> ও </a:t>
            </a:r>
            <a:r>
              <a:rPr lang="en-US" dirty="0" err="1"/>
              <a:t>বালাই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1E046-5CCF-AD5F-CB41-EECCC385D4EE}"/>
              </a:ext>
            </a:extLst>
          </p:cNvPr>
          <p:cNvSpPr txBox="1"/>
          <p:nvPr/>
        </p:nvSpPr>
        <p:spPr>
          <a:xfrm>
            <a:off x="162961" y="2213241"/>
            <a:ext cx="60024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তুলার</a:t>
            </a:r>
            <a:r>
              <a:rPr lang="en-US" sz="2400" dirty="0"/>
              <a:t> </a:t>
            </a:r>
            <a:r>
              <a:rPr lang="en-US" sz="2400" dirty="0" err="1"/>
              <a:t>পোকাঃ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তুলার</a:t>
            </a:r>
            <a:r>
              <a:rPr lang="en-US" sz="2400" dirty="0"/>
              <a:t> </a:t>
            </a:r>
            <a:r>
              <a:rPr lang="en-US" sz="2400" dirty="0" err="1"/>
              <a:t>জ্যাসিড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জাব</a:t>
            </a:r>
            <a:r>
              <a:rPr lang="en-US" sz="2400" dirty="0"/>
              <a:t> </a:t>
            </a:r>
            <a:r>
              <a:rPr lang="en-US" sz="2400" dirty="0" err="1"/>
              <a:t>পোকা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পিংক</a:t>
            </a:r>
            <a:r>
              <a:rPr lang="en-US" sz="2400" dirty="0"/>
              <a:t> </a:t>
            </a:r>
            <a:r>
              <a:rPr lang="en-US" sz="2400" dirty="0" err="1"/>
              <a:t>বোল</a:t>
            </a:r>
            <a:r>
              <a:rPr lang="en-US" sz="2400" dirty="0"/>
              <a:t> </a:t>
            </a:r>
            <a:r>
              <a:rPr lang="en-US" sz="2400" dirty="0" err="1"/>
              <a:t>ওয়ার্ম</a:t>
            </a:r>
            <a:endParaRPr lang="en-US" sz="2400" dirty="0"/>
          </a:p>
          <a:p>
            <a:pPr lvl="1"/>
            <a:endParaRPr lang="en-US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তুলার</a:t>
            </a:r>
            <a:r>
              <a:rPr lang="en-US" sz="2400" dirty="0"/>
              <a:t> </a:t>
            </a:r>
            <a:r>
              <a:rPr lang="en-US" sz="2400" dirty="0" err="1"/>
              <a:t>রোগঃ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তুলার</a:t>
            </a:r>
            <a:r>
              <a:rPr lang="en-US" sz="2400" dirty="0"/>
              <a:t> </a:t>
            </a:r>
            <a:r>
              <a:rPr lang="en-US" sz="2400" dirty="0" err="1"/>
              <a:t>এন্থ্রাকনোজ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ঢলে</a:t>
            </a:r>
            <a:r>
              <a:rPr lang="en-US" sz="2400" dirty="0"/>
              <a:t> </a:t>
            </a:r>
            <a:r>
              <a:rPr lang="en-US" sz="2400" dirty="0" err="1"/>
              <a:t>পড়া</a:t>
            </a:r>
            <a:r>
              <a:rPr lang="en-US" sz="2400" dirty="0"/>
              <a:t> </a:t>
            </a:r>
            <a:r>
              <a:rPr lang="en-US" sz="2400" dirty="0" err="1"/>
              <a:t>রোগ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  <p:pic>
        <p:nvPicPr>
          <p:cNvPr id="11266" name="Picture 2" descr="Cotton Jassid stock photo - Minden Pictures">
            <a:extLst>
              <a:ext uri="{FF2B5EF4-FFF2-40B4-BE49-F238E27FC236}">
                <a16:creationId xmlns:a16="http://schemas.microsoft.com/office/drawing/2014/main" id="{3B8B221C-4284-7EF3-62A2-73AEA57F4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060" y="2213238"/>
            <a:ext cx="2545127" cy="195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otton aphid - Biocontrol, Damage and Life Cycle">
            <a:extLst>
              <a:ext uri="{FF2B5EF4-FFF2-40B4-BE49-F238E27FC236}">
                <a16:creationId xmlns:a16="http://schemas.microsoft.com/office/drawing/2014/main" id="{CB2C6C5C-23B3-C933-D0CA-A490FB613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409" y="2213238"/>
            <a:ext cx="2910693" cy="195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ectinophora - Wikipedia">
            <a:extLst>
              <a:ext uri="{FF2B5EF4-FFF2-40B4-BE49-F238E27FC236}">
                <a16:creationId xmlns:a16="http://schemas.microsoft.com/office/drawing/2014/main" id="{6DD7CB10-96AE-EE08-9A9C-86B4FE7D6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323" y="2213238"/>
            <a:ext cx="2910693" cy="191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6" name="Picture 12" descr="Cotton Diseases and Management Options | UT Crops News">
            <a:extLst>
              <a:ext uri="{FF2B5EF4-FFF2-40B4-BE49-F238E27FC236}">
                <a16:creationId xmlns:a16="http://schemas.microsoft.com/office/drawing/2014/main" id="{FED774C2-EA63-D2DA-461B-EE64D8CE5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447" y="4167041"/>
            <a:ext cx="2903145" cy="217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8" name="Picture 14" descr="COTTON :: MAJOR DISEASE :: WILT">
            <a:extLst>
              <a:ext uri="{FF2B5EF4-FFF2-40B4-BE49-F238E27FC236}">
                <a16:creationId xmlns:a16="http://schemas.microsoft.com/office/drawing/2014/main" id="{189D6A30-09DA-C2AA-9ACA-F0233C305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8"/>
          <a:stretch/>
        </p:blipFill>
        <p:spPr bwMode="auto">
          <a:xfrm>
            <a:off x="7638592" y="4167041"/>
            <a:ext cx="2913136" cy="217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30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পাট</a:t>
            </a:r>
            <a:r>
              <a:rPr lang="en-US" dirty="0"/>
              <a:t> ও </a:t>
            </a:r>
            <a:r>
              <a:rPr lang="en-US" dirty="0" err="1"/>
              <a:t>তুলার</a:t>
            </a:r>
            <a:r>
              <a:rPr lang="en-US" dirty="0"/>
              <a:t> </a:t>
            </a:r>
            <a:r>
              <a:rPr lang="en-US" dirty="0" err="1"/>
              <a:t>রোগ</a:t>
            </a:r>
            <a:r>
              <a:rPr lang="en-US" dirty="0"/>
              <a:t> ও </a:t>
            </a:r>
            <a:r>
              <a:rPr lang="en-US" dirty="0" err="1"/>
              <a:t>বালাই</a:t>
            </a:r>
            <a:r>
              <a:rPr lang="en-US" dirty="0"/>
              <a:t> </a:t>
            </a:r>
            <a:r>
              <a:rPr lang="en-US" dirty="0" err="1"/>
              <a:t>প্রতিকার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89026" y="3985629"/>
            <a:ext cx="12013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FF00"/>
                </a:solidFill>
              </a:rPr>
              <a:t>স্পর্শক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মাকড়নাশক</a:t>
            </a:r>
            <a:r>
              <a:rPr lang="en-US" sz="1600" dirty="0">
                <a:solidFill>
                  <a:srgbClr val="FFFF00"/>
                </a:solidFill>
              </a:rPr>
              <a:t>                     </a:t>
            </a:r>
            <a:r>
              <a:rPr lang="en-US" sz="1600" dirty="0" err="1">
                <a:solidFill>
                  <a:srgbClr val="FFFF00"/>
                </a:solidFill>
              </a:rPr>
              <a:t>অন্তর্বাহী</a:t>
            </a:r>
            <a:r>
              <a:rPr lang="en-US" sz="1600" dirty="0">
                <a:solidFill>
                  <a:srgbClr val="FFFF00"/>
                </a:solidFill>
              </a:rPr>
              <a:t> ও </a:t>
            </a:r>
            <a:r>
              <a:rPr lang="en-US" sz="1600" dirty="0" err="1">
                <a:solidFill>
                  <a:srgbClr val="FFFF00"/>
                </a:solidFill>
              </a:rPr>
              <a:t>পাকস্থলীয়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মাকড়নাশক</a:t>
            </a: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অন্তর্বাহী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ছত্রাকনাশক</a:t>
            </a: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স্পর্শক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ছত্রাকনাশক</a:t>
            </a:r>
            <a:endParaRPr lang="en-US" sz="1600" dirty="0">
              <a:solidFill>
                <a:srgbClr val="FFFF00"/>
              </a:solidFill>
            </a:endParaRPr>
          </a:p>
          <a:p>
            <a:r>
              <a:rPr lang="en-US" sz="2400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26F23-CB20-273D-6E2B-8AF8076A5BE8}"/>
              </a:ext>
            </a:extLst>
          </p:cNvPr>
          <p:cNvSpPr txBox="1"/>
          <p:nvPr/>
        </p:nvSpPr>
        <p:spPr>
          <a:xfrm>
            <a:off x="181069" y="2129930"/>
            <a:ext cx="116880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পোকা-মাকড়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দুই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ধরনেরঃ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১)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স্পর্শক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মাকড়নাশক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পোকা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বাইরে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থাকে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২)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অন্তর্বাহী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মাকড়নাশক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পোকাকে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যারা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গাছের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ভিতরে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যায়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বা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রস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খায়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ছত্রাকনাশকও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দুই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ধরনেরঃ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১)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স্পর্শে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বাইরে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থাকে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২)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অন্তর্বাহী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ছত্রাকনাশক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মারে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সেসকল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ছত্রাককে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যারা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দেহের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ভিতরে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থাকে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D90F49-61A7-7666-06F9-92D8591B987B}"/>
              </a:ext>
            </a:extLst>
          </p:cNvPr>
          <p:cNvGraphicFramePr>
            <a:graphicFrameLocks noGrp="1"/>
          </p:cNvGraphicFramePr>
          <p:nvPr/>
        </p:nvGraphicFramePr>
        <p:xfrm>
          <a:off x="181069" y="4403803"/>
          <a:ext cx="117604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113">
                  <a:extLst>
                    <a:ext uri="{9D8B030D-6E8A-4147-A177-3AD203B41FA5}">
                      <a16:colId xmlns:a16="http://schemas.microsoft.com/office/drawing/2014/main" val="3819468396"/>
                    </a:ext>
                  </a:extLst>
                </a:gridCol>
                <a:gridCol w="2940113">
                  <a:extLst>
                    <a:ext uri="{9D8B030D-6E8A-4147-A177-3AD203B41FA5}">
                      <a16:colId xmlns:a16="http://schemas.microsoft.com/office/drawing/2014/main" val="1252337825"/>
                    </a:ext>
                  </a:extLst>
                </a:gridCol>
                <a:gridCol w="2940113">
                  <a:extLst>
                    <a:ext uri="{9D8B030D-6E8A-4147-A177-3AD203B41FA5}">
                      <a16:colId xmlns:a16="http://schemas.microsoft.com/office/drawing/2014/main" val="3332271088"/>
                    </a:ext>
                  </a:extLst>
                </a:gridCol>
                <a:gridCol w="2940113">
                  <a:extLst>
                    <a:ext uri="{9D8B030D-6E8A-4147-A177-3AD203B41FA5}">
                      <a16:colId xmlns:a16="http://schemas.microsoft.com/office/drawing/2014/main" val="498262280"/>
                    </a:ext>
                  </a:extLst>
                </a:gridCol>
              </a:tblGrid>
              <a:tr h="2087531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কারটাপ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ও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সাইপারমেথ্রিন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ঔষধ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।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যেমনঃ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মাছি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ফড়িং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লেদা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পোকা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কাটুই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পোকা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মারতে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ব্যাবহৃত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হয়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অরগানোসালফেট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ক্লোরোপাইরিফস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ঔষধ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যেমনঃ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চুসে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খাওয়া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এফিড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জেসিড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বাদামী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ঘাস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ফড়িং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অন্তর্বাহী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যেমন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মাজরা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ছিদ্রকারী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পোকা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ইত্যাদি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কার্বেন্ডাজিম</a:t>
                      </a:r>
                      <a:r>
                        <a:rPr lang="en-US" dirty="0"/>
                        <a:t> ও </a:t>
                      </a:r>
                      <a:r>
                        <a:rPr lang="en-US" dirty="0" err="1"/>
                        <a:t>প্রোপিকনাজল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ঔষধ</a:t>
                      </a:r>
                      <a:r>
                        <a:rPr lang="en-US" dirty="0"/>
                        <a:t> । </a:t>
                      </a:r>
                      <a:r>
                        <a:rPr lang="en-US" dirty="0" err="1"/>
                        <a:t>যেমনঃ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কান্ড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গোড়া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পাতা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পচা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ব্লাস্ট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বাকানী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যাদের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জীবানু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দেহের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ভিতরে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তাদের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মারতে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পারে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কপার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হাইড্রক্সাইড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যেমনঃ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পাউডারি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মিলডিউ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মরীচা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</a:t>
                      </a:r>
                      <a:r>
                        <a:rPr lang="en-US" dirty="0"/>
                        <a:t>। </a:t>
                      </a:r>
                      <a:r>
                        <a:rPr lang="en-US" dirty="0" err="1"/>
                        <a:t>এসকল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রোগের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জীবানু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দেহের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বাইরে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থাকে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তাই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স্পর্শক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ছত্রাকনাশক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দিয়েই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মারা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যায়</a:t>
                      </a:r>
                      <a:r>
                        <a:rPr lang="en-US" dirty="0"/>
                        <a:t>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29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600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পাট</a:t>
            </a:r>
            <a:r>
              <a:rPr lang="en-US" dirty="0"/>
              <a:t> ও </a:t>
            </a:r>
            <a:r>
              <a:rPr lang="en-US" dirty="0" err="1"/>
              <a:t>তুলার</a:t>
            </a:r>
            <a:r>
              <a:rPr lang="en-US" dirty="0"/>
              <a:t> </a:t>
            </a:r>
            <a:r>
              <a:rPr lang="en-US" dirty="0" err="1"/>
              <a:t>কিছুর</a:t>
            </a:r>
            <a:r>
              <a:rPr lang="en-US" dirty="0"/>
              <a:t> </a:t>
            </a:r>
            <a:r>
              <a:rPr lang="en-US" dirty="0" err="1"/>
              <a:t>তথ্য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1E046-5CCF-AD5F-CB41-EECCC385D4EE}"/>
              </a:ext>
            </a:extLst>
          </p:cNvPr>
          <p:cNvSpPr txBox="1"/>
          <p:nvPr/>
        </p:nvSpPr>
        <p:spPr>
          <a:xfrm>
            <a:off x="162960" y="2213241"/>
            <a:ext cx="118872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পাঠ</a:t>
            </a:r>
            <a:r>
              <a:rPr lang="en-US" sz="2400" dirty="0"/>
              <a:t> </a:t>
            </a:r>
            <a:r>
              <a:rPr lang="en-US" sz="2400" dirty="0" err="1"/>
              <a:t>থেকে</a:t>
            </a:r>
            <a:r>
              <a:rPr lang="en-US" sz="2400" dirty="0"/>
              <a:t> আশ </a:t>
            </a:r>
            <a:r>
              <a:rPr lang="en-US" sz="2400" dirty="0" err="1"/>
              <a:t>ছাড়ানোর</a:t>
            </a:r>
            <a:r>
              <a:rPr lang="en-US" sz="2400" dirty="0"/>
              <a:t> </a:t>
            </a:r>
            <a:r>
              <a:rPr lang="en-US" sz="2400" dirty="0" err="1"/>
              <a:t>অত্যাধুনিক</a:t>
            </a:r>
            <a:r>
              <a:rPr lang="en-US" sz="2400" dirty="0"/>
              <a:t> </a:t>
            </a:r>
            <a:r>
              <a:rPr lang="en-US" sz="2400" dirty="0" err="1"/>
              <a:t>পদ্ধতি</a:t>
            </a:r>
            <a:r>
              <a:rPr lang="en-US" sz="2400" dirty="0"/>
              <a:t> হল </a:t>
            </a:r>
            <a:r>
              <a:rPr lang="en-US" sz="2400" dirty="0" err="1"/>
              <a:t>রিবন</a:t>
            </a:r>
            <a:r>
              <a:rPr lang="en-US" sz="2400" dirty="0"/>
              <a:t> </a:t>
            </a:r>
            <a:r>
              <a:rPr lang="en-US" sz="2400" dirty="0" err="1"/>
              <a:t>রেটিং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তুলা</a:t>
            </a:r>
            <a:r>
              <a:rPr lang="en-US" sz="2400" dirty="0"/>
              <a:t> </a:t>
            </a:r>
            <a:r>
              <a:rPr lang="en-US" sz="2400" dirty="0" err="1"/>
              <a:t>থেকে</a:t>
            </a:r>
            <a:r>
              <a:rPr lang="en-US" sz="2400" dirty="0"/>
              <a:t> আশ </a:t>
            </a:r>
            <a:r>
              <a:rPr lang="en-US" sz="2400" dirty="0" err="1"/>
              <a:t>পৃথক</a:t>
            </a:r>
            <a:r>
              <a:rPr lang="en-US" sz="2400" dirty="0"/>
              <a:t> </a:t>
            </a:r>
            <a:r>
              <a:rPr lang="en-US" sz="2400" dirty="0" err="1"/>
              <a:t>করাকে</a:t>
            </a:r>
            <a:r>
              <a:rPr lang="en-US" sz="2400" dirty="0"/>
              <a:t> </a:t>
            </a:r>
            <a:r>
              <a:rPr lang="en-US" sz="2400" dirty="0" err="1"/>
              <a:t>জিনিং</a:t>
            </a:r>
            <a:r>
              <a:rPr lang="en-US" sz="2400" dirty="0"/>
              <a:t> </a:t>
            </a:r>
            <a:r>
              <a:rPr lang="en-US" sz="2400" dirty="0" err="1"/>
              <a:t>বলে</a:t>
            </a:r>
            <a:r>
              <a:rPr lang="en-US" sz="2400" dirty="0"/>
              <a:t>।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বীজ</a:t>
            </a:r>
            <a:r>
              <a:rPr lang="en-US" sz="2400" dirty="0"/>
              <a:t> </a:t>
            </a:r>
            <a:r>
              <a:rPr lang="en-US" sz="2400" dirty="0" err="1"/>
              <a:t>তুলার</a:t>
            </a:r>
            <a:r>
              <a:rPr lang="en-US" sz="2400" dirty="0"/>
              <a:t> আশ ও </a:t>
            </a:r>
            <a:r>
              <a:rPr lang="en-US" sz="2400" dirty="0" err="1"/>
              <a:t>বীজের</a:t>
            </a:r>
            <a:r>
              <a:rPr lang="en-US" sz="2400" dirty="0"/>
              <a:t> </a:t>
            </a:r>
            <a:r>
              <a:rPr lang="en-US" sz="2400" dirty="0" err="1"/>
              <a:t>অনুপাতকে</a:t>
            </a:r>
            <a:r>
              <a:rPr lang="en-US" sz="2400" dirty="0"/>
              <a:t> </a:t>
            </a:r>
            <a:r>
              <a:rPr lang="en-US" sz="2400" dirty="0" err="1"/>
              <a:t>জিনিং</a:t>
            </a:r>
            <a:r>
              <a:rPr lang="en-US" sz="2400" dirty="0"/>
              <a:t> </a:t>
            </a:r>
            <a:r>
              <a:rPr lang="en-US" sz="2400" dirty="0" err="1"/>
              <a:t>আউট</a:t>
            </a:r>
            <a:r>
              <a:rPr lang="en-US" sz="2400" dirty="0"/>
              <a:t> </a:t>
            </a:r>
            <a:r>
              <a:rPr lang="en-US" sz="2400" dirty="0" err="1"/>
              <a:t>টার্ন</a:t>
            </a:r>
            <a:r>
              <a:rPr lang="en-US" sz="2400" dirty="0"/>
              <a:t> (GOT) </a:t>
            </a:r>
            <a:r>
              <a:rPr lang="en-US" sz="2400" dirty="0" err="1"/>
              <a:t>বলে</a:t>
            </a:r>
            <a:endParaRPr lang="en-US" sz="24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বীজ</a:t>
            </a:r>
            <a:r>
              <a:rPr lang="en-US" sz="2400" dirty="0"/>
              <a:t> </a:t>
            </a:r>
            <a:r>
              <a:rPr lang="en-US" sz="2400" dirty="0" err="1"/>
              <a:t>তুলা</a:t>
            </a:r>
            <a:r>
              <a:rPr lang="en-US" sz="2400" dirty="0"/>
              <a:t> </a:t>
            </a:r>
            <a:r>
              <a:rPr lang="en-US" sz="2400" dirty="0" err="1"/>
              <a:t>থেকে</a:t>
            </a:r>
            <a:r>
              <a:rPr lang="en-US" sz="2400" dirty="0"/>
              <a:t> আশ </a:t>
            </a:r>
            <a:r>
              <a:rPr lang="en-US" sz="2400" dirty="0" err="1"/>
              <a:t>ছাড়ানোর</a:t>
            </a:r>
            <a:r>
              <a:rPr lang="en-US" sz="2400" dirty="0"/>
              <a:t> </a:t>
            </a:r>
            <a:r>
              <a:rPr lang="en-US" sz="2400" dirty="0" err="1"/>
              <a:t>পরে</a:t>
            </a:r>
            <a:r>
              <a:rPr lang="en-US" sz="2400" dirty="0"/>
              <a:t> </a:t>
            </a:r>
            <a:r>
              <a:rPr lang="en-US" sz="2400" dirty="0" err="1"/>
              <a:t>বীজের</a:t>
            </a:r>
            <a:r>
              <a:rPr lang="en-US" sz="2400" dirty="0"/>
              <a:t> </a:t>
            </a:r>
            <a:r>
              <a:rPr lang="en-US" sz="2400" dirty="0" err="1"/>
              <a:t>গায়ে</a:t>
            </a:r>
            <a:r>
              <a:rPr lang="en-US" sz="2400" dirty="0"/>
              <a:t> </a:t>
            </a:r>
            <a:r>
              <a:rPr lang="en-US" sz="2400" dirty="0" err="1"/>
              <a:t>যে</a:t>
            </a:r>
            <a:r>
              <a:rPr lang="en-US" sz="2400" dirty="0"/>
              <a:t> </a:t>
            </a:r>
            <a:r>
              <a:rPr lang="en-US" sz="2400" dirty="0" err="1"/>
              <a:t>তুলা</a:t>
            </a:r>
            <a:r>
              <a:rPr lang="en-US" sz="2400" dirty="0"/>
              <a:t> </a:t>
            </a:r>
            <a:r>
              <a:rPr lang="en-US" sz="2400" dirty="0" err="1"/>
              <a:t>লেগে</a:t>
            </a:r>
            <a:r>
              <a:rPr lang="en-US" sz="2400" dirty="0"/>
              <a:t> </a:t>
            </a:r>
            <a:r>
              <a:rPr lang="en-US" sz="2400" dirty="0" err="1"/>
              <a:t>থাকে</a:t>
            </a:r>
            <a:r>
              <a:rPr lang="en-US" sz="2400" dirty="0"/>
              <a:t> </a:t>
            </a:r>
            <a:r>
              <a:rPr lang="en-US" sz="2400" dirty="0" err="1"/>
              <a:t>থাকে</a:t>
            </a:r>
            <a:r>
              <a:rPr lang="en-US" sz="2400" dirty="0"/>
              <a:t> </a:t>
            </a:r>
            <a:r>
              <a:rPr lang="en-US" sz="2400" dirty="0" err="1"/>
              <a:t>ফাজ</a:t>
            </a:r>
            <a:r>
              <a:rPr lang="en-US" sz="2400" dirty="0"/>
              <a:t> (Fuzz) </a:t>
            </a:r>
            <a:r>
              <a:rPr lang="en-US" sz="2400" dirty="0" err="1"/>
              <a:t>বলে</a:t>
            </a:r>
            <a:r>
              <a:rPr lang="en-US" sz="2400" dirty="0"/>
              <a:t>।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পাট</a:t>
            </a:r>
            <a:r>
              <a:rPr lang="en-US" sz="2400" dirty="0"/>
              <a:t> </a:t>
            </a:r>
            <a:r>
              <a:rPr lang="en-US" sz="2400" dirty="0" err="1"/>
              <a:t>পচন</a:t>
            </a:r>
            <a:r>
              <a:rPr lang="en-US" sz="2400" dirty="0"/>
              <a:t> </a:t>
            </a:r>
            <a:r>
              <a:rPr lang="en-US" sz="2400" dirty="0" err="1"/>
              <a:t>প্রক্রিয়াঃ</a:t>
            </a:r>
            <a:endParaRPr lang="en-US" sz="24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পাট</a:t>
            </a:r>
            <a:r>
              <a:rPr lang="en-US" sz="2400" dirty="0"/>
              <a:t> </a:t>
            </a:r>
            <a:r>
              <a:rPr lang="en-US" sz="2400" dirty="0" err="1"/>
              <a:t>কাটা</a:t>
            </a:r>
            <a:endParaRPr lang="en-US" sz="24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বাছাইকরণ</a:t>
            </a:r>
            <a:endParaRPr lang="en-US" sz="24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পাতা</a:t>
            </a:r>
            <a:r>
              <a:rPr lang="en-US" sz="2400" dirty="0"/>
              <a:t> </a:t>
            </a:r>
            <a:r>
              <a:rPr lang="en-US" sz="2400" dirty="0" err="1"/>
              <a:t>ঝরানো</a:t>
            </a:r>
            <a:endParaRPr lang="en-US" sz="2400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জাগ</a:t>
            </a:r>
            <a:r>
              <a:rPr lang="en-US" sz="2400" dirty="0"/>
              <a:t> </a:t>
            </a:r>
            <a:r>
              <a:rPr lang="en-US" sz="2400" dirty="0" err="1"/>
              <a:t>দেওয়া</a:t>
            </a:r>
            <a:r>
              <a:rPr lang="en-US" sz="2400" dirty="0"/>
              <a:t>, আশ </a:t>
            </a:r>
            <a:r>
              <a:rPr lang="en-US" sz="2400" dirty="0" err="1"/>
              <a:t>সংগ্রহ</a:t>
            </a:r>
            <a:r>
              <a:rPr lang="en-US" sz="2400" dirty="0"/>
              <a:t> ও </a:t>
            </a:r>
            <a:r>
              <a:rPr lang="en-US" sz="2400" dirty="0" err="1"/>
              <a:t>শুকানো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6226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1019</TotalTime>
  <Words>2763</Words>
  <Application>Microsoft Office PowerPoint</Application>
  <PresentationFormat>Widescreen</PresentationFormat>
  <Paragraphs>317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Century Gothic</vt:lpstr>
      <vt:lpstr>Courier New</vt:lpstr>
      <vt:lpstr>Wingdings 2</vt:lpstr>
      <vt:lpstr>Quotable</vt:lpstr>
      <vt:lpstr>মাঠ ও উদ্যান ফসল উৎপাদন</vt:lpstr>
      <vt:lpstr>দানা জাতীয় ফসল</vt:lpstr>
      <vt:lpstr>দানা জাতীয় ফসলের বৈশিষ্ট্য </vt:lpstr>
      <vt:lpstr>ধানের টাইপ ও জাত</vt:lpstr>
      <vt:lpstr>ধানের জাত</vt:lpstr>
      <vt:lpstr>ধানের জাত</vt:lpstr>
      <vt:lpstr>ধান চাষ</vt:lpstr>
      <vt:lpstr>ধানের বালাই</vt:lpstr>
      <vt:lpstr>ধানের রোগ</vt:lpstr>
      <vt:lpstr>ধানের রোগ ও বালাই প্রতিকার</vt:lpstr>
      <vt:lpstr>ধানের আধুনিক চাষ পদ্ধতির ধারনা</vt:lpstr>
      <vt:lpstr>চিনি জাতীয় ফসল</vt:lpstr>
      <vt:lpstr>চিনি জাতীয় ফসলের গুরুত্ব</vt:lpstr>
      <vt:lpstr>আখ চাষ পদ্ধতি</vt:lpstr>
      <vt:lpstr>আখ রোপন পদ্ধতি</vt:lpstr>
      <vt:lpstr>মুড়ি আখ চাষ পদ্ধতি</vt:lpstr>
      <vt:lpstr>আখের বালাই</vt:lpstr>
      <vt:lpstr>আখের রোগ </vt:lpstr>
      <vt:lpstr>আখের রোগ ও বালাই প্রতিকার</vt:lpstr>
      <vt:lpstr>আশ জাতীয় ফসল</vt:lpstr>
      <vt:lpstr>আশ জাতীয় ফসলের গুরুত্ব</vt:lpstr>
      <vt:lpstr>পাট ও তুলা চাষ পদ্ধতি</vt:lpstr>
      <vt:lpstr>পাটের রোগ ও বালাই</vt:lpstr>
      <vt:lpstr>তুলার রোগ ও বালাই</vt:lpstr>
      <vt:lpstr>পাট ও তুলার রোগ ও বালাই প্রতিকার</vt:lpstr>
      <vt:lpstr>পাট ও তুলার কিছুর তথ্য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বিশেষ উৎপাদন সম্পর্কিত কৃষি প্রযুক্তি</dc:title>
  <dc:creator>Abdullah Limon</dc:creator>
  <cp:lastModifiedBy>Abdullah Limon</cp:lastModifiedBy>
  <cp:revision>220</cp:revision>
  <dcterms:created xsi:type="dcterms:W3CDTF">2025-01-01T02:54:10Z</dcterms:created>
  <dcterms:modified xsi:type="dcterms:W3CDTF">2025-04-26T20:51:59Z</dcterms:modified>
</cp:coreProperties>
</file>