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58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79" r:id="rId23"/>
    <p:sldId id="29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CF12D0-8A73-43EA-AC07-7AD92CD5A1D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7798E0-E1D0-4AA3-94CC-B98B32CBE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353282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A8FE4-EE8B-4E5D-8063-A7C5202BB8B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11754D-240B-4E98-A9EF-8E5065901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2025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11754D-240B-4E98-A9EF-8E50659011C5}" type="slidenum">
              <a:rPr lang="en-US" smtClean="0"/>
              <a:t>1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144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7A923B2E-9BCB-4543-9E65-7BDAEC71E2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35E5872-0F9D-438F-827B-40A9D5A6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446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3B2E-9BCB-4543-9E65-7BDAEC71E2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5872-0F9D-438F-827B-40A9D5A6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17930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3B2E-9BCB-4543-9E65-7BDAEC71E2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5872-0F9D-438F-827B-40A9D5A6272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6670802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3B2E-9BCB-4543-9E65-7BDAEC71E2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5872-0F9D-438F-827B-40A9D5A6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542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3B2E-9BCB-4543-9E65-7BDAEC71E2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5872-0F9D-438F-827B-40A9D5A6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39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3B2E-9BCB-4543-9E65-7BDAEC71E2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5872-0F9D-438F-827B-40A9D5A6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87452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3B2E-9BCB-4543-9E65-7BDAEC71E2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5872-0F9D-438F-827B-40A9D5A6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76172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3B2E-9BCB-4543-9E65-7BDAEC71E2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5872-0F9D-438F-827B-40A9D5A6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3963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3B2E-9BCB-4543-9E65-7BDAEC71E2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5872-0F9D-438F-827B-40A9D5A6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254160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3B2E-9BCB-4543-9E65-7BDAEC71E2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5872-0F9D-438F-827B-40A9D5A6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42337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3B2E-9BCB-4543-9E65-7BDAEC71E2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5872-0F9D-438F-827B-40A9D5A6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76003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7A923B2E-9BCB-4543-9E65-7BDAEC71E2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35E5872-0F9D-438F-827B-40A9D5A6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90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9399" y="2194273"/>
            <a:ext cx="5825202" cy="1234727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Agriculture Quiz Test</a:t>
            </a:r>
            <a:b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3600" b="1" dirty="0"/>
            </a:br>
            <a:r>
              <a:rPr lang="en-US" sz="3600" b="1" dirty="0"/>
              <a:t>Questions: 20</a:t>
            </a:r>
            <a:br>
              <a:rPr lang="en-US" sz="3600" b="1" dirty="0"/>
            </a:br>
            <a:r>
              <a:rPr lang="en-US" sz="3600" b="1" dirty="0"/>
              <a:t>Time: 10 min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138" y="3844195"/>
            <a:ext cx="5825202" cy="822674"/>
          </a:xfrm>
        </p:spPr>
        <p:txBody>
          <a:bodyPr>
            <a:noAutofit/>
          </a:bodyPr>
          <a:lstStyle/>
          <a:p>
            <a:pPr algn="l"/>
            <a:r>
              <a:rPr lang="en-US" sz="2100" u="sng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বিশেষ</a:t>
            </a:r>
            <a:r>
              <a:rPr lang="en-US" sz="2100" u="sng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 </a:t>
            </a:r>
            <a:r>
              <a:rPr lang="en-US" sz="2100" u="sng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দ্রষ্টব্যঃ</a:t>
            </a:r>
            <a:r>
              <a:rPr lang="en-US" sz="2100" u="sng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 </a:t>
            </a:r>
          </a:p>
          <a:p>
            <a:pPr algn="l"/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১। </a:t>
            </a:r>
            <a:r>
              <a:rPr lang="en-US" sz="2100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শুধুমাত্র</a:t>
            </a:r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 </a:t>
            </a:r>
            <a:r>
              <a:rPr lang="en-US" sz="2100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সঠিক</a:t>
            </a:r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 </a:t>
            </a:r>
            <a:r>
              <a:rPr lang="en-US" sz="2100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উত্তরটি</a:t>
            </a:r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 </a:t>
            </a:r>
            <a:r>
              <a:rPr lang="en-US" sz="2100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খাতায়</a:t>
            </a:r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 </a:t>
            </a:r>
            <a:r>
              <a:rPr lang="en-US" sz="2100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লিখবে</a:t>
            </a:r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।</a:t>
            </a:r>
          </a:p>
          <a:p>
            <a:pPr algn="l"/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২। </a:t>
            </a:r>
            <a:r>
              <a:rPr lang="en-US" sz="2100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প্রতি</a:t>
            </a:r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 30 </a:t>
            </a:r>
            <a:r>
              <a:rPr lang="en-US" sz="2100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সেকেন্ড</a:t>
            </a:r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 </a:t>
            </a:r>
            <a:r>
              <a:rPr lang="en-US" sz="2100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পরপর</a:t>
            </a:r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 </a:t>
            </a:r>
            <a:r>
              <a:rPr lang="en-US" sz="2100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স্লাইড</a:t>
            </a:r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 </a:t>
            </a:r>
            <a:r>
              <a:rPr lang="en-US" sz="2100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সয়ংক্রিয়ভাবে</a:t>
            </a:r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 </a:t>
            </a:r>
            <a:r>
              <a:rPr lang="en-US" sz="2100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পরিবর্তন</a:t>
            </a:r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 </a:t>
            </a:r>
            <a:r>
              <a:rPr lang="en-US" sz="2100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হবে</a:t>
            </a:r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।</a:t>
            </a:r>
          </a:p>
        </p:txBody>
      </p:sp>
    </p:spTree>
    <p:extLst>
      <p:ext uri="{BB962C8B-B14F-4D97-AF65-F5344CB8AC3E}">
        <p14:creationId xmlns:p14="http://schemas.microsoft.com/office/powerpoint/2010/main" val="29463583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314450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lekhaT" pitchFamily="2" charset="0"/>
              </a:rPr>
              <a:t>১।মাটির অম্লমান কমানোর জন্য কোন পদার্থ প্রয়োগ করতে হয়? </a:t>
            </a: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594" y="2836013"/>
            <a:ext cx="6447501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ক।জৈব সার 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খ।জীবাণু সার 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গ।চুন 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ঘ। রাসায়নিক সার।</a:t>
            </a:r>
            <a:endParaRPr lang="en-US" sz="3600" b="1" dirty="0">
              <a:latin typeface="SulekhaT"/>
            </a:endParaRPr>
          </a:p>
        </p:txBody>
      </p:sp>
    </p:spTree>
    <p:extLst>
      <p:ext uri="{BB962C8B-B14F-4D97-AF65-F5344CB8AC3E}">
        <p14:creationId xmlns:p14="http://schemas.microsoft.com/office/powerpoint/2010/main" val="3049431286"/>
      </p:ext>
    </p:extLst>
  </p:cSld>
  <p:clrMapOvr>
    <a:masterClrMapping/>
  </p:clrMapOvr>
  <p:transition spd="slow" advClick="0" advTm="30000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314450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২।মাটির কোন কণা সবচেয়ে সূক্ষ্ম?</a:t>
            </a: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818" y="2770254"/>
            <a:ext cx="6447501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ক।বেলে 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খ।দোআঁশ 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গ।পলি 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ঘ।কর্দম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239473"/>
      </p:ext>
    </p:extLst>
  </p:cSld>
  <p:clrMapOvr>
    <a:masterClrMapping/>
  </p:clrMapOvr>
  <p:transition spd="slow" advTm="30000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314450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৩।কোন মাটিতে জৈব পদার্থ সহজে বিয়োজিত হয় না?</a:t>
            </a: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818" y="2770254"/>
            <a:ext cx="6447501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ক।অম্ল 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খ।ক্ষারীয় 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গ।নিরপেক্ষ 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ঘ।পলি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490713"/>
      </p:ext>
    </p:extLst>
  </p:cSld>
  <p:clrMapOvr>
    <a:masterClrMapping/>
  </p:clrMapOvr>
  <p:transition spd="slow" advClick="0" advTm="30000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314450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৪।অম্ল মাটিতে কোন অনুজীবের কার্যকারিতা হ্রাস পায়?</a:t>
            </a: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818" y="2770254"/>
            <a:ext cx="6447501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ক।ছত্রাক 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খ। ব্যাকটেরিয়া 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গ। মাইকোরাইজা 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ঘ।ভাইরাস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141551"/>
      </p:ext>
    </p:extLst>
  </p:cSld>
  <p:clrMapOvr>
    <a:masterClrMapping/>
  </p:clrMapOvr>
  <p:transition spd="slow" advClick="0" advTm="30000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314450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৫।ক্ষারীয় মাটিতে কোনটির আদিক্ক্যের কারণে বিষাক্ততার সৃষ্টি হয়?</a:t>
            </a: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818" y="2770254"/>
            <a:ext cx="6447501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ক।সোডিয়াম 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খ।পটাশিয়াম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গ।ক্যালসিয়াম 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ঘ।আয়রণ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820314"/>
      </p:ext>
    </p:extLst>
  </p:cSld>
  <p:clrMapOvr>
    <a:masterClrMapping/>
  </p:clrMapOvr>
  <p:transition spd="slow" advClick="0" advTm="30000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314450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৬।মাটির একক কনার পারস্পারিক অনুপাতকে কি বলে?</a:t>
            </a: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818" y="2770254"/>
            <a:ext cx="6447501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ক।বুনট 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খ।অম্লত্ব 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গ।সংযুক্তি  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ঘ।মালচিং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93806"/>
      </p:ext>
    </p:extLst>
  </p:cSld>
  <p:clrMapOvr>
    <a:masterClrMapping/>
  </p:clrMapOvr>
  <p:transition spd="slow" advClick="0" advTm="30000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314450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৭।ধৈঞ্চা, বরবটি, মাসকলাই ইত্যাদি দ্বারা কোন সার তৈরি করা হয়?</a:t>
            </a: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818" y="2770254"/>
            <a:ext cx="6447501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ক।সবুজ 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খ।কম্পোস্ট  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গ।কেঁচো 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ঘ।অণুজীব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464605"/>
      </p:ext>
    </p:extLst>
  </p:cSld>
  <p:clrMapOvr>
    <a:masterClrMapping/>
  </p:clrMapOvr>
  <p:transition spd="slow" advClick="0" advTm="30000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314450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৮।কোনটিকে মাটির মৌলিক ও স্থায়ী ধর্ম বলে?</a:t>
            </a: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818" y="2770254"/>
            <a:ext cx="7001093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কা।সংযুতি 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খ।বুনট 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গ।বর্ণ 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ঘ।বিক্রিয়া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801157"/>
      </p:ext>
    </p:extLst>
  </p:cSld>
  <p:clrMapOvr>
    <a:masterClrMapping/>
  </p:clrMapOvr>
  <p:transition spd="slow" advClick="0" advTm="30000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314450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৯।এটেল মাটির বুনট শ্রেণি কতটি?</a:t>
            </a: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818" y="2770254"/>
            <a:ext cx="7001093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ক।২ 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খ। ৩ 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গ। ৪ 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ঘ। ৫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092312"/>
      </p:ext>
    </p:extLst>
  </p:cSld>
  <p:clrMapOvr>
    <a:masterClrMapping/>
  </p:clrMapOvr>
  <p:transition spd="slow" advClick="0" advTm="30000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314450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১০।কর্দম কণার পরিমাণ বেশি থাকে কোন মাটিতে?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818" y="2770254"/>
            <a:ext cx="7001093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s-IN" sz="3600" dirty="0">
                <a:latin typeface="SutonnyMJ" pitchFamily="2" charset="0"/>
              </a:rPr>
              <a:t>ক।পলি </a:t>
            </a:r>
            <a:endParaRPr lang="en-US" sz="3600" dirty="0">
              <a:latin typeface="SutonnyMJ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tonnyMJ" pitchFamily="2" charset="0"/>
              </a:rPr>
              <a:t>খ।বেলে </a:t>
            </a:r>
            <a:endParaRPr lang="en-US" sz="3600" dirty="0">
              <a:latin typeface="SutonnyMJ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tonnyMJ" pitchFamily="2" charset="0"/>
              </a:rPr>
              <a:t>গ। এটেল </a:t>
            </a:r>
            <a:endParaRPr lang="en-US" sz="3600" dirty="0">
              <a:latin typeface="SutonnyMJ" pitchFamily="2" charset="0"/>
            </a:endParaRPr>
          </a:p>
          <a:p>
            <a:pPr marL="0" indent="0">
              <a:buNone/>
            </a:pPr>
            <a:r>
              <a:rPr lang="as-IN" sz="3600" dirty="0">
                <a:latin typeface="SutonnyMJ" pitchFamily="2" charset="0"/>
              </a:rPr>
              <a:t>ঘ দোআঁশ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739689"/>
      </p:ext>
    </p:extLst>
  </p:cSld>
  <p:clrMapOvr>
    <a:masterClrMapping/>
  </p:clrMapOvr>
  <p:transition spd="slow" advClick="0" advTm="30000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2155" y="1377825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১</a:t>
            </a:r>
            <a:r>
              <a:rPr lang="en-US" sz="4050" dirty="0">
                <a:latin typeface="SutonnyMJ" pitchFamily="2" charset="0"/>
              </a:rPr>
              <a:t>1</a:t>
            </a:r>
            <a:r>
              <a:rPr lang="as-IN" sz="4050" dirty="0">
                <a:latin typeface="SutonnyMJ" pitchFamily="2" charset="0"/>
              </a:rPr>
              <a:t>।</a:t>
            </a:r>
            <a:r>
              <a:rPr lang="en-US" sz="4050" dirty="0" err="1">
                <a:latin typeface="SutonnyMJ" pitchFamily="2" charset="0"/>
              </a:rPr>
              <a:t>কোন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পদ্ধতির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মাধ্যমে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মাছকে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দীর্ঘসময়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টিকিয়ে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রাখা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যায়</a:t>
            </a:r>
            <a:r>
              <a:rPr lang="en-US" sz="4050" dirty="0">
                <a:latin typeface="SutonnyMJ" pitchFamily="2" charset="0"/>
              </a:rPr>
              <a:t> ? </a:t>
            </a:r>
            <a:br>
              <a:rPr lang="en-US" sz="4050" dirty="0">
                <a:latin typeface="SutonnyMJ" pitchFamily="2" charset="0"/>
              </a:rPr>
            </a:b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658" y="3397880"/>
            <a:ext cx="7001093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ক) </a:t>
            </a:r>
            <a:r>
              <a:rPr lang="en-US" sz="3600" dirty="0" err="1">
                <a:latin typeface="SulekhaT" pitchFamily="2" charset="0"/>
              </a:rPr>
              <a:t>টিনজাতকরণ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খ) </a:t>
            </a:r>
            <a:r>
              <a:rPr lang="en-US" sz="3600" dirty="0" err="1">
                <a:latin typeface="SulekhaT" pitchFamily="2" charset="0"/>
              </a:rPr>
              <a:t>হিমায়িতকরণ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গ) </a:t>
            </a:r>
            <a:r>
              <a:rPr lang="en-US" sz="3600" dirty="0" err="1">
                <a:latin typeface="SulekhaT" pitchFamily="2" charset="0"/>
              </a:rPr>
              <a:t>লবণজাতকরণ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ঘ) </a:t>
            </a:r>
            <a:r>
              <a:rPr lang="en-US" sz="3600" dirty="0" err="1">
                <a:latin typeface="SulekhaT" pitchFamily="2" charset="0"/>
              </a:rPr>
              <a:t>বরফজাতকরণ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081694"/>
      </p:ext>
    </p:extLst>
  </p:cSld>
  <p:clrMapOvr>
    <a:masterClrMapping/>
  </p:clrMapOvr>
  <p:transition spd="slow" advClick="0" advTm="30000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190" y="1776177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১</a:t>
            </a:r>
            <a:r>
              <a:rPr lang="en-US" sz="4050" dirty="0">
                <a:latin typeface="SutonnyMJ" pitchFamily="2" charset="0"/>
              </a:rPr>
              <a:t>২</a:t>
            </a:r>
            <a:r>
              <a:rPr lang="as-IN" sz="4050" dirty="0">
                <a:latin typeface="SutonnyMJ" pitchFamily="2" charset="0"/>
              </a:rPr>
              <a:t>।</a:t>
            </a:r>
            <a:r>
              <a:rPr lang="en-US" sz="4050" dirty="0" err="1">
                <a:latin typeface="SutonnyMJ" pitchFamily="2" charset="0"/>
              </a:rPr>
              <a:t>মাছের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নিরাপদ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সংরক্ষণ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পদ্ধতি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কয়টি</a:t>
            </a:r>
            <a:r>
              <a:rPr lang="en-US" sz="4050" dirty="0">
                <a:latin typeface="SutonnyMJ" pitchFamily="2" charset="0"/>
              </a:rPr>
              <a:t> ?</a:t>
            </a:r>
            <a:br>
              <a:rPr lang="en-US" sz="4050" dirty="0">
                <a:latin typeface="SutonnyMJ" pitchFamily="2" charset="0"/>
              </a:rPr>
            </a:b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658" y="3397880"/>
            <a:ext cx="7001093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ক) ২</a:t>
            </a: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খ) ৩</a:t>
            </a: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গ) ৪</a:t>
            </a: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ঘ) ৫ 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515171"/>
      </p:ext>
    </p:extLst>
  </p:cSld>
  <p:clrMapOvr>
    <a:masterClrMapping/>
  </p:clrMapOvr>
  <p:transition spd="slow" advTm="30000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190" y="1776177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১</a:t>
            </a:r>
            <a:r>
              <a:rPr lang="en-US" sz="4050" dirty="0">
                <a:latin typeface="SutonnyMJ" pitchFamily="2" charset="0"/>
              </a:rPr>
              <a:t>৩</a:t>
            </a:r>
            <a:r>
              <a:rPr lang="as-IN" sz="4050" dirty="0">
                <a:latin typeface="SutonnyMJ" pitchFamily="2" charset="0"/>
              </a:rPr>
              <a:t>।</a:t>
            </a:r>
            <a:r>
              <a:rPr lang="en-US" sz="4050" dirty="0" err="1">
                <a:latin typeface="SutonnyMJ" pitchFamily="2" charset="0"/>
              </a:rPr>
              <a:t>হিমাগারে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মাছ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সংরক্ষণের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তাপমাত্রা</a:t>
            </a:r>
            <a:r>
              <a:rPr lang="en-US" sz="4050" dirty="0">
                <a:latin typeface="SutonnyMJ" pitchFamily="2" charset="0"/>
              </a:rPr>
              <a:t> কত </a:t>
            </a:r>
            <a:r>
              <a:rPr lang="en-US" sz="4050" dirty="0" err="1">
                <a:latin typeface="SutonnyMJ" pitchFamily="2" charset="0"/>
              </a:rPr>
              <a:t>হওয়া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উচিত</a:t>
            </a:r>
            <a:r>
              <a:rPr lang="en-US" sz="4050" dirty="0">
                <a:latin typeface="SutonnyMJ" pitchFamily="2" charset="0"/>
              </a:rPr>
              <a:t>? </a:t>
            </a:r>
            <a:br>
              <a:rPr lang="en-US" sz="4050" dirty="0">
                <a:latin typeface="SutonnyMJ" pitchFamily="2" charset="0"/>
              </a:rPr>
            </a:b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658" y="3397880"/>
            <a:ext cx="7001093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ক)-৮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℃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খ) -১৮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℃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গ) -২৮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℃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ঘ) -৪০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℃</a:t>
            </a:r>
            <a:endParaRPr lang="en-US" sz="3600" dirty="0">
              <a:latin typeface="Sulekh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821078"/>
      </p:ext>
    </p:extLst>
  </p:cSld>
  <p:clrMapOvr>
    <a:masterClrMapping/>
  </p:clrMapOvr>
  <p:transition spd="slow" advClick="0" advTm="30000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190" y="1776177"/>
            <a:ext cx="6872027" cy="990600"/>
          </a:xfrm>
        </p:spPr>
        <p:txBody>
          <a:bodyPr>
            <a:noAutofit/>
          </a:bodyPr>
          <a:lstStyle/>
          <a:p>
            <a:r>
              <a:rPr lang="en-US" sz="4050" dirty="0">
                <a:latin typeface="SutonnyMJ" pitchFamily="2" charset="0"/>
              </a:rPr>
              <a:t>১৪</a:t>
            </a:r>
            <a:r>
              <a:rPr lang="as-IN" sz="4050" dirty="0">
                <a:latin typeface="SutonnyMJ" pitchFamily="2" charset="0"/>
              </a:rPr>
              <a:t>।</a:t>
            </a:r>
            <a:r>
              <a:rPr lang="en-US" sz="4050" dirty="0" err="1">
                <a:latin typeface="SutonnyMJ" pitchFamily="2" charset="0"/>
              </a:rPr>
              <a:t>প্রচলিত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চিংড়ী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চাষের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ক্ষেত্রে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প্রযোজ্য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কোনটি</a:t>
            </a:r>
            <a:r>
              <a:rPr lang="en-US" sz="4050" dirty="0">
                <a:latin typeface="SutonnyMJ" pitchFamily="2" charset="0"/>
              </a:rPr>
              <a:t> ? </a:t>
            </a:r>
            <a:br>
              <a:rPr lang="en-US" sz="4050" dirty="0">
                <a:latin typeface="SutonnyMJ" pitchFamily="2" charset="0"/>
              </a:rPr>
            </a:b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656" y="2296374"/>
            <a:ext cx="7001093" cy="4041052"/>
          </a:xfrm>
        </p:spPr>
        <p:txBody>
          <a:bodyPr>
            <a:normAutofit fontScale="70000" lnSpcReduction="20000"/>
          </a:bodyPr>
          <a:lstStyle/>
          <a:p>
            <a:pPr marL="857250" indent="-857250">
              <a:buAutoNum type="romanLcParenR"/>
            </a:pPr>
            <a:r>
              <a:rPr lang="en-US" sz="3600" dirty="0" err="1">
                <a:latin typeface="SulekhaT" pitchFamily="2" charset="0"/>
              </a:rPr>
              <a:t>সনাতন</a:t>
            </a:r>
            <a:endParaRPr lang="en-US" sz="3600" dirty="0">
              <a:latin typeface="SulekhaT" pitchFamily="2" charset="0"/>
            </a:endParaRPr>
          </a:p>
          <a:p>
            <a:pPr marL="857250" indent="-857250">
              <a:buAutoNum type="romanLcParenR"/>
            </a:pPr>
            <a:r>
              <a:rPr lang="en-US" sz="3600" dirty="0" err="1">
                <a:latin typeface="SulekhaT" pitchFamily="2" charset="0"/>
              </a:rPr>
              <a:t>আধুনিক</a:t>
            </a:r>
            <a:endParaRPr lang="en-US" sz="3600" dirty="0">
              <a:latin typeface="SulekhaT" pitchFamily="2" charset="0"/>
            </a:endParaRPr>
          </a:p>
          <a:p>
            <a:pPr marL="857250" indent="-857250">
              <a:buAutoNum type="romanLcParenR"/>
            </a:pPr>
            <a:r>
              <a:rPr lang="en-US" sz="3600" dirty="0" err="1">
                <a:latin typeface="SulekhaT" pitchFamily="2" charset="0"/>
              </a:rPr>
              <a:t>নিবিড়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endParaRPr lang="en-US" sz="3600" dirty="0">
              <a:latin typeface="Spirko Ultra Light" panose="020B0500000000000000" pitchFamily="34" charset="0"/>
            </a:endParaRPr>
          </a:p>
          <a:p>
            <a:pPr marL="0" indent="0">
              <a:buNone/>
            </a:pPr>
            <a:r>
              <a:rPr lang="en-US" sz="3600" dirty="0">
                <a:latin typeface="Spirko Ultra Light" panose="020B0500000000000000" pitchFamily="34" charset="0"/>
              </a:rPr>
              <a:t>ক) </a:t>
            </a:r>
            <a:r>
              <a:rPr lang="en-US" sz="3600" dirty="0" err="1">
                <a:latin typeface="Spirko Ultra Light" panose="020B0500000000000000" pitchFamily="34" charset="0"/>
              </a:rPr>
              <a:t>i</a:t>
            </a:r>
            <a:r>
              <a:rPr lang="en-US" sz="3600" dirty="0">
                <a:latin typeface="Spirko Ultra Light" panose="020B0500000000000000" pitchFamily="34" charset="0"/>
              </a:rPr>
              <a:t> ও ii</a:t>
            </a:r>
          </a:p>
          <a:p>
            <a:pPr marL="0" indent="0">
              <a:buNone/>
            </a:pPr>
            <a:r>
              <a:rPr lang="en-US" sz="3600" dirty="0">
                <a:latin typeface="Spirko Ultra Light" panose="020B0500000000000000" pitchFamily="34" charset="0"/>
              </a:rPr>
              <a:t>খ) i ও iii</a:t>
            </a:r>
          </a:p>
          <a:p>
            <a:pPr marL="0" indent="0">
              <a:buNone/>
            </a:pPr>
            <a:r>
              <a:rPr lang="en-US" sz="3600" dirty="0">
                <a:latin typeface="Spirko Ultra Light" panose="020B0500000000000000" pitchFamily="34" charset="0"/>
              </a:rPr>
              <a:t>গ) ii ও iii </a:t>
            </a:r>
          </a:p>
          <a:p>
            <a:pPr marL="0" indent="0">
              <a:buNone/>
            </a:pPr>
            <a:r>
              <a:rPr lang="en-US" sz="3600" dirty="0">
                <a:latin typeface="Spirko Ultra Light" panose="020B0500000000000000" pitchFamily="34" charset="0"/>
              </a:rPr>
              <a:t>ঘ) </a:t>
            </a:r>
            <a:r>
              <a:rPr lang="en-US" sz="3600" dirty="0" err="1">
                <a:latin typeface="Spirko Ultra Light" panose="020B0500000000000000" pitchFamily="34" charset="0"/>
              </a:rPr>
              <a:t>i</a:t>
            </a:r>
            <a:r>
              <a:rPr lang="en-US" sz="3600" dirty="0">
                <a:latin typeface="Spirko Ultra Light" panose="020B0500000000000000" pitchFamily="34" charset="0"/>
              </a:rPr>
              <a:t> , ii ও iii </a:t>
            </a:r>
          </a:p>
        </p:txBody>
      </p:sp>
    </p:spTree>
    <p:extLst>
      <p:ext uri="{BB962C8B-B14F-4D97-AF65-F5344CB8AC3E}">
        <p14:creationId xmlns:p14="http://schemas.microsoft.com/office/powerpoint/2010/main" val="3567367646"/>
      </p:ext>
    </p:extLst>
  </p:cSld>
  <p:clrMapOvr>
    <a:masterClrMapping/>
  </p:clrMapOvr>
  <p:transition spd="slow" advClick="0" advTm="30000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190" y="1776177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১</a:t>
            </a:r>
            <a:r>
              <a:rPr lang="en-US" sz="4050" dirty="0">
                <a:latin typeface="SutonnyMJ" pitchFamily="2" charset="0"/>
              </a:rPr>
              <a:t>৫</a:t>
            </a:r>
            <a:r>
              <a:rPr lang="as-IN" sz="4050" dirty="0">
                <a:latin typeface="SutonnyMJ" pitchFamily="2" charset="0"/>
              </a:rPr>
              <a:t>।</a:t>
            </a:r>
            <a:r>
              <a:rPr lang="en-US" sz="4050" dirty="0" err="1">
                <a:latin typeface="SutonnyMJ" pitchFamily="2" charset="0"/>
              </a:rPr>
              <a:t>ফরমালিন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দেয়া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মাছ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চেনার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উপায়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কি</a:t>
            </a:r>
            <a:r>
              <a:rPr lang="en-US" sz="4050" dirty="0">
                <a:latin typeface="SutonnyMJ" pitchFamily="2" charset="0"/>
              </a:rPr>
              <a:t> ? </a:t>
            </a:r>
            <a:br>
              <a:rPr lang="en-US" sz="4050" dirty="0">
                <a:latin typeface="SutonnyMJ" pitchFamily="2" charset="0"/>
              </a:rPr>
            </a:b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658" y="3397880"/>
            <a:ext cx="7001093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ক) </a:t>
            </a:r>
            <a:r>
              <a:rPr lang="en-US" sz="3600" dirty="0" err="1">
                <a:latin typeface="SulekhaT" pitchFamily="2" charset="0"/>
              </a:rPr>
              <a:t>ফুলকা</a:t>
            </a:r>
            <a:r>
              <a:rPr lang="en-US" sz="3600" dirty="0">
                <a:latin typeface="SulekhaT" pitchFamily="2" charset="0"/>
              </a:rPr>
              <a:t> </a:t>
            </a:r>
            <a:r>
              <a:rPr lang="en-US" sz="3600" dirty="0" err="1">
                <a:latin typeface="SulekhaT" pitchFamily="2" charset="0"/>
              </a:rPr>
              <a:t>কালচে</a:t>
            </a:r>
            <a:r>
              <a:rPr lang="en-US" sz="3600" dirty="0">
                <a:latin typeface="SulekhaT" pitchFamily="2" charset="0"/>
              </a:rPr>
              <a:t> </a:t>
            </a:r>
            <a:r>
              <a:rPr lang="en-US" sz="3600" dirty="0" err="1">
                <a:latin typeface="SulekhaT" pitchFamily="2" charset="0"/>
              </a:rPr>
              <a:t>হয়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খ) </a:t>
            </a:r>
            <a:r>
              <a:rPr lang="en-US" sz="3600" dirty="0" err="1">
                <a:latin typeface="SulekhaT" pitchFamily="2" charset="0"/>
              </a:rPr>
              <a:t>আইশ</a:t>
            </a:r>
            <a:r>
              <a:rPr lang="en-US" sz="3600" dirty="0">
                <a:latin typeface="SulekhaT" pitchFamily="2" charset="0"/>
              </a:rPr>
              <a:t> </a:t>
            </a:r>
            <a:r>
              <a:rPr lang="en-US" sz="3600" dirty="0" err="1">
                <a:latin typeface="SulekhaT" pitchFamily="2" charset="0"/>
              </a:rPr>
              <a:t>খসে</a:t>
            </a:r>
            <a:r>
              <a:rPr lang="en-US" sz="3600" dirty="0">
                <a:latin typeface="SulekhaT" pitchFamily="2" charset="0"/>
              </a:rPr>
              <a:t> </a:t>
            </a:r>
            <a:r>
              <a:rPr lang="en-US" sz="3600" dirty="0" err="1">
                <a:latin typeface="SulekhaT" pitchFamily="2" charset="0"/>
              </a:rPr>
              <a:t>পড়ে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গ) </a:t>
            </a:r>
            <a:r>
              <a:rPr lang="en-US" sz="3600" dirty="0" err="1">
                <a:latin typeface="SulekhaT" pitchFamily="2" charset="0"/>
              </a:rPr>
              <a:t>সতেজ</a:t>
            </a:r>
            <a:r>
              <a:rPr lang="en-US" sz="3600" dirty="0">
                <a:latin typeface="SulekhaT" pitchFamily="2" charset="0"/>
              </a:rPr>
              <a:t> </a:t>
            </a:r>
            <a:r>
              <a:rPr lang="en-US" sz="3600" dirty="0" err="1">
                <a:latin typeface="SulekhaT" pitchFamily="2" charset="0"/>
              </a:rPr>
              <a:t>দেখা</a:t>
            </a:r>
            <a:r>
              <a:rPr lang="en-US" sz="3600" dirty="0">
                <a:latin typeface="SulekhaT" pitchFamily="2" charset="0"/>
              </a:rPr>
              <a:t> </a:t>
            </a:r>
            <a:r>
              <a:rPr lang="en-US" sz="3600" dirty="0" err="1">
                <a:latin typeface="SulekhaT" pitchFamily="2" charset="0"/>
              </a:rPr>
              <a:t>যায়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ঘ) </a:t>
            </a:r>
            <a:r>
              <a:rPr lang="en-US" sz="3600" dirty="0" err="1">
                <a:latin typeface="SulekhaT" pitchFamily="2" charset="0"/>
              </a:rPr>
              <a:t>মাছে</a:t>
            </a:r>
            <a:r>
              <a:rPr lang="en-US" sz="3600" dirty="0">
                <a:latin typeface="SulekhaT" pitchFamily="2" charset="0"/>
              </a:rPr>
              <a:t> </a:t>
            </a:r>
            <a:r>
              <a:rPr lang="en-US" sz="3600" dirty="0" err="1">
                <a:latin typeface="SulekhaT" pitchFamily="2" charset="0"/>
              </a:rPr>
              <a:t>মাছি</a:t>
            </a:r>
            <a:r>
              <a:rPr lang="en-US" sz="3600" dirty="0">
                <a:latin typeface="SulekhaT" pitchFamily="2" charset="0"/>
              </a:rPr>
              <a:t> </a:t>
            </a:r>
            <a:r>
              <a:rPr lang="en-US" sz="3600" dirty="0" err="1">
                <a:latin typeface="SulekhaT" pitchFamily="2" charset="0"/>
              </a:rPr>
              <a:t>বসে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297750"/>
      </p:ext>
    </p:extLst>
  </p:cSld>
  <p:clrMapOvr>
    <a:masterClrMapping/>
  </p:clrMapOvr>
  <p:transition spd="slow" advClick="0" advTm="30000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190" y="1776177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১</a:t>
            </a:r>
            <a:r>
              <a:rPr lang="en-US" sz="4050" dirty="0">
                <a:latin typeface="SutonnyMJ" pitchFamily="2" charset="0"/>
              </a:rPr>
              <a:t>৬</a:t>
            </a:r>
            <a:r>
              <a:rPr lang="as-IN" sz="4050" dirty="0">
                <a:latin typeface="SutonnyMJ" pitchFamily="2" charset="0"/>
              </a:rPr>
              <a:t>।</a:t>
            </a:r>
            <a:r>
              <a:rPr lang="en-US" sz="4050" dirty="0" err="1">
                <a:latin typeface="SutonnyMJ" pitchFamily="2" charset="0"/>
              </a:rPr>
              <a:t>শীতকালে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বরফজাতকরণ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করার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ক্ষেত্রে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মাছ</a:t>
            </a:r>
            <a:r>
              <a:rPr lang="en-US" sz="4050" dirty="0">
                <a:latin typeface="SutonnyMJ" pitchFamily="2" charset="0"/>
              </a:rPr>
              <a:t> ও </a:t>
            </a:r>
            <a:r>
              <a:rPr lang="en-US" sz="4050" dirty="0" err="1">
                <a:latin typeface="SutonnyMJ" pitchFamily="2" charset="0"/>
              </a:rPr>
              <a:t>বরফের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অনুপাত</a:t>
            </a:r>
            <a:r>
              <a:rPr lang="en-US" sz="4050" dirty="0">
                <a:latin typeface="SutonnyMJ" pitchFamily="2" charset="0"/>
              </a:rPr>
              <a:t> কত </a:t>
            </a:r>
            <a:r>
              <a:rPr lang="en-US" sz="4050" dirty="0" err="1">
                <a:latin typeface="SutonnyMJ" pitchFamily="2" charset="0"/>
              </a:rPr>
              <a:t>হওয়া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উচিত</a:t>
            </a:r>
            <a:r>
              <a:rPr lang="en-US" sz="4050" dirty="0">
                <a:latin typeface="SutonnyMJ" pitchFamily="2" charset="0"/>
              </a:rPr>
              <a:t>? </a:t>
            </a:r>
            <a:br>
              <a:rPr lang="en-US" sz="4050" dirty="0">
                <a:latin typeface="SutonnyMJ" pitchFamily="2" charset="0"/>
              </a:rPr>
            </a:b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658" y="3397880"/>
            <a:ext cx="7001093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ক) 2:1</a:t>
            </a: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খ) 1:1</a:t>
            </a: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গ) 3:1</a:t>
            </a: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ঘ) 1:3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754147"/>
      </p:ext>
    </p:extLst>
  </p:cSld>
  <p:clrMapOvr>
    <a:masterClrMapping/>
  </p:clrMapOvr>
  <p:transition spd="slow" advClick="0" advTm="30000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190" y="1776177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১</a:t>
            </a:r>
            <a:r>
              <a:rPr lang="en-US" sz="4050" dirty="0">
                <a:latin typeface="SutonnyMJ" pitchFamily="2" charset="0"/>
              </a:rPr>
              <a:t>৭</a:t>
            </a:r>
            <a:r>
              <a:rPr lang="as-IN" sz="4050" dirty="0">
                <a:latin typeface="SutonnyMJ" pitchFamily="2" charset="0"/>
              </a:rPr>
              <a:t>।</a:t>
            </a:r>
            <a:r>
              <a:rPr lang="en-US" sz="4050" dirty="0" err="1">
                <a:latin typeface="SutonnyMJ" pitchFamily="2" charset="0"/>
              </a:rPr>
              <a:t>চিংড়ী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সংরক্ষনে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গ্লেজিং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কেন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করা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হয়</a:t>
            </a:r>
            <a:r>
              <a:rPr lang="en-US" sz="4050" dirty="0">
                <a:latin typeface="SutonnyMJ" pitchFamily="2" charset="0"/>
              </a:rPr>
              <a:t> ?</a:t>
            </a:r>
            <a:br>
              <a:rPr lang="en-US" sz="4050" dirty="0">
                <a:latin typeface="SutonnyMJ" pitchFamily="2" charset="0"/>
              </a:rPr>
            </a:br>
            <a:r>
              <a:rPr lang="en-US" sz="4050" dirty="0">
                <a:latin typeface="SutonnyMJ" pitchFamily="2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658" y="3397880"/>
            <a:ext cx="7001093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ক)</a:t>
            </a:r>
            <a:r>
              <a:rPr lang="en-US" sz="3600" dirty="0" err="1">
                <a:latin typeface="SulekhaT" pitchFamily="2" charset="0"/>
              </a:rPr>
              <a:t>স্বাদ</a:t>
            </a:r>
            <a:r>
              <a:rPr lang="en-US" sz="3600" dirty="0">
                <a:latin typeface="SulekhaT" pitchFamily="2" charset="0"/>
              </a:rPr>
              <a:t> </a:t>
            </a:r>
            <a:r>
              <a:rPr lang="en-US" sz="3600" dirty="0" err="1">
                <a:latin typeface="SulekhaT" pitchFamily="2" charset="0"/>
              </a:rPr>
              <a:t>বৃদ্ধি</a:t>
            </a:r>
            <a:r>
              <a:rPr lang="en-US" sz="3600" dirty="0">
                <a:latin typeface="SulekhaT" pitchFamily="2" charset="0"/>
              </a:rPr>
              <a:t> </a:t>
            </a:r>
            <a:r>
              <a:rPr lang="en-US" sz="3600" dirty="0" err="1">
                <a:latin typeface="SulekhaT" pitchFamily="2" charset="0"/>
              </a:rPr>
              <a:t>করতে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খ) </a:t>
            </a:r>
            <a:r>
              <a:rPr lang="en-US" sz="3600" dirty="0" err="1">
                <a:latin typeface="SulekhaT" pitchFamily="2" charset="0"/>
              </a:rPr>
              <a:t>জীবানূমুক্ত</a:t>
            </a:r>
            <a:r>
              <a:rPr lang="en-US" sz="3600" dirty="0">
                <a:latin typeface="SulekhaT" pitchFamily="2" charset="0"/>
              </a:rPr>
              <a:t> </a:t>
            </a:r>
            <a:r>
              <a:rPr lang="en-US" sz="3600" dirty="0" err="1">
                <a:latin typeface="SulekhaT" pitchFamily="2" charset="0"/>
              </a:rPr>
              <a:t>করতে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গ) </a:t>
            </a:r>
            <a:r>
              <a:rPr lang="en-US" sz="3600" dirty="0" err="1">
                <a:latin typeface="SulekhaT" pitchFamily="2" charset="0"/>
              </a:rPr>
              <a:t>শুষ্কতা</a:t>
            </a:r>
            <a:r>
              <a:rPr lang="en-US" sz="3600" dirty="0">
                <a:latin typeface="SulekhaT" pitchFamily="2" charset="0"/>
              </a:rPr>
              <a:t> </a:t>
            </a:r>
            <a:r>
              <a:rPr lang="en-US" sz="3600" dirty="0" err="1">
                <a:latin typeface="SulekhaT" pitchFamily="2" charset="0"/>
              </a:rPr>
              <a:t>রোধ</a:t>
            </a:r>
            <a:r>
              <a:rPr lang="en-US" sz="3600" dirty="0">
                <a:latin typeface="SulekhaT" pitchFamily="2" charset="0"/>
              </a:rPr>
              <a:t> </a:t>
            </a:r>
            <a:r>
              <a:rPr lang="en-US" sz="3600" dirty="0" err="1">
                <a:latin typeface="SulekhaT" pitchFamily="2" charset="0"/>
              </a:rPr>
              <a:t>করতে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ঘ) রঙ </a:t>
            </a:r>
            <a:r>
              <a:rPr lang="en-US" sz="3600" dirty="0" err="1">
                <a:latin typeface="SulekhaT" pitchFamily="2" charset="0"/>
              </a:rPr>
              <a:t>ঠিক</a:t>
            </a:r>
            <a:r>
              <a:rPr lang="en-US" sz="3600" dirty="0">
                <a:latin typeface="SulekhaT" pitchFamily="2" charset="0"/>
              </a:rPr>
              <a:t> </a:t>
            </a:r>
            <a:r>
              <a:rPr lang="en-US" sz="3600" dirty="0" err="1">
                <a:latin typeface="SulekhaT" pitchFamily="2" charset="0"/>
              </a:rPr>
              <a:t>রাখতে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659407"/>
      </p:ext>
    </p:extLst>
  </p:cSld>
  <p:clrMapOvr>
    <a:masterClrMapping/>
  </p:clrMapOvr>
  <p:transition spd="slow" advClick="0" advTm="30000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190" y="1776177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১</a:t>
            </a:r>
            <a:r>
              <a:rPr lang="en-US" sz="4050" dirty="0">
                <a:latin typeface="SutonnyMJ" pitchFamily="2" charset="0"/>
              </a:rPr>
              <a:t>৮</a:t>
            </a:r>
            <a:r>
              <a:rPr lang="as-IN" sz="4050" dirty="0">
                <a:latin typeface="SutonnyMJ" pitchFamily="2" charset="0"/>
              </a:rPr>
              <a:t>।</a:t>
            </a:r>
            <a:r>
              <a:rPr lang="en-US" sz="4050" dirty="0" err="1">
                <a:latin typeface="SutonnyMJ" pitchFamily="2" charset="0"/>
              </a:rPr>
              <a:t>নিচের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কোনটি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মাছ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সংরক্ষনের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সনাতন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পদ্ধতি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নয়</a:t>
            </a:r>
            <a:r>
              <a:rPr lang="en-US" sz="4050" dirty="0">
                <a:latin typeface="SutonnyMJ" pitchFamily="2" charset="0"/>
              </a:rPr>
              <a:t> ? </a:t>
            </a:r>
            <a:br>
              <a:rPr lang="en-US" sz="4050" dirty="0">
                <a:latin typeface="SutonnyMJ" pitchFamily="2" charset="0"/>
              </a:rPr>
            </a:br>
            <a:r>
              <a:rPr lang="en-US" sz="4050" dirty="0">
                <a:latin typeface="SutonnyMJ" pitchFamily="2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656" y="3800854"/>
            <a:ext cx="7001093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ক) </a:t>
            </a:r>
            <a:r>
              <a:rPr lang="en-US" sz="3600" dirty="0" err="1">
                <a:latin typeface="SulekhaT" pitchFamily="2" charset="0"/>
              </a:rPr>
              <a:t>শুটকীকরণ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খ) </a:t>
            </a:r>
            <a:r>
              <a:rPr lang="en-US" sz="3600" dirty="0" err="1">
                <a:latin typeface="SulekhaT" pitchFamily="2" charset="0"/>
              </a:rPr>
              <a:t>লবণজাতকরণ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গ) </a:t>
            </a:r>
            <a:r>
              <a:rPr lang="en-US" sz="3600" dirty="0" err="1">
                <a:latin typeface="SulekhaT" pitchFamily="2" charset="0"/>
              </a:rPr>
              <a:t>ধূমায়িতকরণ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ঘ) </a:t>
            </a:r>
            <a:r>
              <a:rPr lang="en-US" sz="3600" dirty="0" err="1">
                <a:latin typeface="SulekhaT" pitchFamily="2" charset="0"/>
              </a:rPr>
              <a:t>নির্জলিকরণ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077346"/>
      </p:ext>
    </p:extLst>
  </p:cSld>
  <p:clrMapOvr>
    <a:masterClrMapping/>
  </p:clrMapOvr>
  <p:transition spd="slow" advClick="0" advTm="30000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190" y="1776177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১</a:t>
            </a:r>
            <a:r>
              <a:rPr lang="en-US" sz="4050" dirty="0">
                <a:latin typeface="SutonnyMJ" pitchFamily="2" charset="0"/>
              </a:rPr>
              <a:t>৯</a:t>
            </a:r>
            <a:r>
              <a:rPr lang="as-IN" sz="4050" dirty="0">
                <a:latin typeface="SutonnyMJ" pitchFamily="2" charset="0"/>
              </a:rPr>
              <a:t>।</a:t>
            </a:r>
            <a:r>
              <a:rPr lang="en-US" sz="4050" dirty="0" err="1">
                <a:latin typeface="SutonnyMJ" pitchFamily="2" charset="0"/>
              </a:rPr>
              <a:t>নিরাপদ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খাদ্য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আইন</a:t>
            </a:r>
            <a:r>
              <a:rPr lang="en-US" sz="4050" dirty="0">
                <a:latin typeface="SutonnyMJ" pitchFamily="2" charset="0"/>
              </a:rPr>
              <a:t> কত </a:t>
            </a:r>
            <a:r>
              <a:rPr lang="en-US" sz="4050" dirty="0" err="1">
                <a:latin typeface="SutonnyMJ" pitchFamily="2" charset="0"/>
              </a:rPr>
              <a:t>সালে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প্রতিষ্ঠিত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হয়</a:t>
            </a:r>
            <a:r>
              <a:rPr lang="en-US" sz="4050" dirty="0">
                <a:latin typeface="SutonnyMJ" pitchFamily="2" charset="0"/>
              </a:rPr>
              <a:t>?</a:t>
            </a:r>
            <a:br>
              <a:rPr lang="en-US" sz="4050" dirty="0">
                <a:latin typeface="SutonnyMJ" pitchFamily="2" charset="0"/>
              </a:rPr>
            </a:br>
            <a:r>
              <a:rPr lang="en-US" sz="4050" dirty="0">
                <a:latin typeface="SutonnyMJ" pitchFamily="2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656" y="3800854"/>
            <a:ext cx="7001093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ক)২০১৫</a:t>
            </a: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খ) ২০২২</a:t>
            </a: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গ) ২০১৩</a:t>
            </a: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ঘ) ২০২০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050616"/>
      </p:ext>
    </p:extLst>
  </p:cSld>
  <p:clrMapOvr>
    <a:masterClrMapping/>
  </p:clrMapOvr>
  <p:transition spd="slow" advClick="0" advTm="30000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190" y="1776177"/>
            <a:ext cx="6872027" cy="990600"/>
          </a:xfrm>
        </p:spPr>
        <p:txBody>
          <a:bodyPr>
            <a:noAutofit/>
          </a:bodyPr>
          <a:lstStyle/>
          <a:p>
            <a:r>
              <a:rPr lang="en-US" sz="4050" dirty="0">
                <a:latin typeface="SutonnyMJ" pitchFamily="2" charset="0"/>
              </a:rPr>
              <a:t>২০</a:t>
            </a:r>
            <a:r>
              <a:rPr lang="as-IN" sz="4050" dirty="0">
                <a:latin typeface="SutonnyMJ" pitchFamily="2" charset="0"/>
              </a:rPr>
              <a:t>।</a:t>
            </a:r>
            <a:r>
              <a:rPr lang="en-US" sz="4050" dirty="0" err="1">
                <a:latin typeface="SutonnyMJ" pitchFamily="2" charset="0"/>
              </a:rPr>
              <a:t>বাংলাদেশে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কোন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মাছকে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লবণজাতকরে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সংরক্ষন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করা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হয়</a:t>
            </a:r>
            <a:r>
              <a:rPr lang="en-US" sz="4050" dirty="0">
                <a:latin typeface="SutonnyMJ" pitchFamily="2" charset="0"/>
              </a:rPr>
              <a:t> ?</a:t>
            </a:r>
            <a:br>
              <a:rPr lang="en-US" sz="4050" dirty="0">
                <a:latin typeface="SutonnyMJ" pitchFamily="2" charset="0"/>
              </a:rPr>
            </a:br>
            <a:r>
              <a:rPr lang="en-US" sz="4050" dirty="0">
                <a:latin typeface="SutonnyMJ" pitchFamily="2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656" y="3800854"/>
            <a:ext cx="7001093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ক) </a:t>
            </a:r>
            <a:r>
              <a:rPr lang="en-US" sz="3600" dirty="0" err="1">
                <a:latin typeface="SulekhaT" pitchFamily="2" charset="0"/>
              </a:rPr>
              <a:t>রুই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খ) </a:t>
            </a:r>
            <a:r>
              <a:rPr lang="en-US" sz="3600" dirty="0" err="1">
                <a:latin typeface="SulekhaT" pitchFamily="2" charset="0"/>
              </a:rPr>
              <a:t>কাতলা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গ) </a:t>
            </a:r>
            <a:r>
              <a:rPr lang="en-US" sz="3600" dirty="0" err="1">
                <a:latin typeface="SulekhaT" pitchFamily="2" charset="0"/>
              </a:rPr>
              <a:t>ইলিশ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ঘ) </a:t>
            </a:r>
            <a:r>
              <a:rPr lang="en-US" sz="3600" dirty="0" err="1">
                <a:latin typeface="SulekhaT" pitchFamily="2" charset="0"/>
              </a:rPr>
              <a:t>পুঁটি</a:t>
            </a:r>
            <a:r>
              <a:rPr lang="en-US" sz="3600" dirty="0">
                <a:latin typeface="SulekhaT" pitchFamily="2" charset="0"/>
              </a:rPr>
              <a:t> 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831238"/>
      </p:ext>
    </p:extLst>
  </p:cSld>
  <p:clrMapOvr>
    <a:masterClrMapping/>
  </p:clrMapOvr>
  <p:transition spd="slow" advClick="0" advTm="30000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8249" y="2933700"/>
            <a:ext cx="6447501" cy="990600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Thanks to All</a:t>
            </a:r>
          </a:p>
        </p:txBody>
      </p:sp>
    </p:spTree>
    <p:extLst>
      <p:ext uri="{BB962C8B-B14F-4D97-AF65-F5344CB8AC3E}">
        <p14:creationId xmlns:p14="http://schemas.microsoft.com/office/powerpoint/2010/main" val="26588365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270" accel="50000">
                                          <p:stCondLst>
                                            <p:cond delay="273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733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67">
                                          <p:stCondLst>
                                            <p:cond delay="273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96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70" accel="50000">
                                          <p:stCondLst>
                                            <p:cond delay="273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39">
                                          <p:stCondLst>
                                            <p:cond delay="93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" dur="249" decel="50000">
                                          <p:stCondLst>
                                            <p:cond delay="96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8249" y="1245040"/>
            <a:ext cx="6447501" cy="4367920"/>
          </a:xfrm>
        </p:spPr>
        <p:txBody>
          <a:bodyPr>
            <a:noAutofit/>
          </a:bodyPr>
          <a:lstStyle/>
          <a:p>
            <a:pPr algn="ctr"/>
            <a:br>
              <a:rPr lang="en-US" sz="7200" dirty="0"/>
            </a:br>
            <a:br>
              <a:rPr lang="en-US" sz="7200" dirty="0"/>
            </a:br>
            <a:br>
              <a:rPr lang="en-US" sz="7200" dirty="0"/>
            </a:br>
            <a:br>
              <a:rPr lang="en-US" sz="7200" dirty="0"/>
            </a:br>
            <a:br>
              <a:rPr lang="en-US" sz="7200" dirty="0"/>
            </a:br>
            <a:br>
              <a:rPr lang="en-US" sz="7200" dirty="0"/>
            </a:br>
            <a:r>
              <a:rPr lang="en-US" sz="7200" dirty="0"/>
              <a:t>Answer</a:t>
            </a:r>
            <a:br>
              <a:rPr lang="en-US" sz="7200" dirty="0"/>
            </a:br>
            <a:r>
              <a:rPr lang="en-US" sz="4800" dirty="0"/>
              <a:t>১।গ, </a:t>
            </a:r>
            <a:r>
              <a:rPr lang="en-US" sz="4800" dirty="0" err="1"/>
              <a:t>২।ঘ</a:t>
            </a:r>
            <a:r>
              <a:rPr lang="en-US" sz="4800" dirty="0"/>
              <a:t>, </a:t>
            </a:r>
            <a:r>
              <a:rPr lang="en-US" sz="4800" dirty="0" err="1"/>
              <a:t>৩।ক</a:t>
            </a:r>
            <a:r>
              <a:rPr lang="en-US" sz="4800" dirty="0"/>
              <a:t>, ৪। খ, ৫। ক, ৬। ক , ৭। ক, </a:t>
            </a:r>
            <a:r>
              <a:rPr lang="en-US" sz="4800" err="1"/>
              <a:t>৮</a:t>
            </a:r>
            <a:r>
              <a:rPr lang="en-US" sz="4800"/>
              <a:t>। খ</a:t>
            </a:r>
            <a:r>
              <a:rPr lang="en-US" sz="4800" dirty="0"/>
              <a:t>, ৯। খ</a:t>
            </a:r>
            <a:r>
              <a:rPr lang="en-US" sz="4800"/>
              <a:t>, </a:t>
            </a:r>
            <a:br>
              <a:rPr lang="en-US" sz="4800"/>
            </a:br>
            <a:r>
              <a:rPr lang="en-US" sz="4800"/>
              <a:t>১০।  গ</a:t>
            </a:r>
            <a:r>
              <a:rPr lang="en-US" sz="4800" dirty="0"/>
              <a:t>, ১১। ক, ১২। ঘ, ১৩। ঘ, ১৪।  ক, ১৫। ক, ১৬। ক,  ১৭। গ, ১৮। গ, ১৯। গ, ২০। গ </a:t>
            </a:r>
          </a:p>
        </p:txBody>
      </p:sp>
    </p:spTree>
    <p:extLst>
      <p:ext uri="{BB962C8B-B14F-4D97-AF65-F5344CB8AC3E}">
        <p14:creationId xmlns:p14="http://schemas.microsoft.com/office/powerpoint/2010/main" val="38702700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270" accel="50000">
                                          <p:stCondLst>
                                            <p:cond delay="273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733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67">
                                          <p:stCondLst>
                                            <p:cond delay="273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96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70" accel="50000">
                                          <p:stCondLst>
                                            <p:cond delay="273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39">
                                          <p:stCondLst>
                                            <p:cond delay="93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" dur="249" decel="50000">
                                          <p:stCondLst>
                                            <p:cond delay="96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306</TotalTime>
  <Words>632</Words>
  <Application>Microsoft Office PowerPoint</Application>
  <PresentationFormat>On-screen Show (4:3)</PresentationFormat>
  <Paragraphs>111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</vt:lpstr>
      <vt:lpstr>Calibri</vt:lpstr>
      <vt:lpstr>Century Schoolbook</vt:lpstr>
      <vt:lpstr>Shonar Bangla</vt:lpstr>
      <vt:lpstr>Spirko Ultra Light</vt:lpstr>
      <vt:lpstr>SulekhaT</vt:lpstr>
      <vt:lpstr>SutonnyMJ</vt:lpstr>
      <vt:lpstr>Times New Roman</vt:lpstr>
      <vt:lpstr>Wingdings 2</vt:lpstr>
      <vt:lpstr>View</vt:lpstr>
      <vt:lpstr> Agriculture Quiz Test  Questions: 20 Time: 10 min</vt:lpstr>
      <vt:lpstr>১।মাটির অম্লমান কমানোর জন্য কোন পদার্থ প্রয়োগ করতে হয়? </vt:lpstr>
      <vt:lpstr>২।মাটির কোন কণা সবচেয়ে সূক্ষ্ম?</vt:lpstr>
      <vt:lpstr>৩।কোন মাটিতে জৈব পদার্থ সহজে বিয়োজিত হয় না?</vt:lpstr>
      <vt:lpstr>৪।অম্ল মাটিতে কোন অনুজীবের কার্যকারিতা হ্রাস পায়?</vt:lpstr>
      <vt:lpstr>৫।ক্ষারীয় মাটিতে কোনটির আদিক্ক্যের কারণে বিষাক্ততার সৃষ্টি হয়?</vt:lpstr>
      <vt:lpstr>৬।মাটির একক কনার পারস্পারিক অনুপাতকে কি বলে?</vt:lpstr>
      <vt:lpstr>৭।ধৈঞ্চা, বরবটি, মাসকলাই ইত্যাদি দ্বারা কোন সার তৈরি করা হয়?</vt:lpstr>
      <vt:lpstr>৮।কোনটিকে মাটির মৌলিক ও স্থায়ী ধর্ম বলে?</vt:lpstr>
      <vt:lpstr>৯।এটেল মাটির বুনট শ্রেণি কতটি?</vt:lpstr>
      <vt:lpstr>১০।কর্দম কণার পরিমাণ বেশি থাকে কোন মাটিতে? </vt:lpstr>
      <vt:lpstr>১1।কোন পদ্ধতির মাধ্যমে মাছকে দীর্ঘসময় টিকিয়ে রাখা যায় ?  </vt:lpstr>
      <vt:lpstr>১২।মাছের নিরাপদ সংরক্ষণ পদ্ধতি কয়টি ? </vt:lpstr>
      <vt:lpstr>১৩।হিমাগারে মাছ সংরক্ষণের তাপমাত্রা কত হওয়া উচিত?  </vt:lpstr>
      <vt:lpstr>১৪।প্রচলিত চিংড়ী চাষের ক্ষেত্রে প্রযোজ্য কোনটি ?  </vt:lpstr>
      <vt:lpstr>১৫।ফরমালিন দেয়া মাছ চেনার উপায় কি ?  </vt:lpstr>
      <vt:lpstr>১৬।শীতকালে বরফজাতকরণ করার ক্ষেত্রে মাছ ও বরফের অনুপাত কত হওয়া উচিত?  </vt:lpstr>
      <vt:lpstr>১৭।চিংড়ী সংরক্ষনে গ্লেজিং কেন করা হয় ?  </vt:lpstr>
      <vt:lpstr>১৮।নিচের কোনটি মাছ সংরক্ষনের সনাতন পদ্ধতি নয় ?   </vt:lpstr>
      <vt:lpstr>১৯।নিরাপদ খাদ্য আইন কত সালে প্রতিষ্ঠিত হয়?  </vt:lpstr>
      <vt:lpstr>২০।বাংলাদেশে কোন মাছকে লবণজাতকরে সংরক্ষন করা হয় ?  </vt:lpstr>
      <vt:lpstr>Thanks to All</vt:lpstr>
      <vt:lpstr>      Answer ১।গ, ২।ঘ, ৩।ক, ৪। খ, ৫। ক, ৬। ক , ৭। ক, ৮। খ, ৯। খ,  ১০।  গ, ১১। ক, ১২। ঘ, ১৩। ঘ, ১৪।  ক, ১৫। ক, ১৬। ক,  ১৭। গ, ১৮। গ, ১৯। গ, ২০। গ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 Test  Total question: 20 Time: 15min</dc:title>
  <dc:creator>user</dc:creator>
  <cp:lastModifiedBy>Abdullah Limon</cp:lastModifiedBy>
  <cp:revision>83</cp:revision>
  <dcterms:created xsi:type="dcterms:W3CDTF">2025-10-18T13:50:49Z</dcterms:created>
  <dcterms:modified xsi:type="dcterms:W3CDTF">2025-11-25T01:23:19Z</dcterms:modified>
</cp:coreProperties>
</file>