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82" r:id="rId6"/>
    <p:sldId id="260" r:id="rId7"/>
    <p:sldId id="261" r:id="rId8"/>
    <p:sldId id="283" r:id="rId9"/>
    <p:sldId id="262" r:id="rId10"/>
    <p:sldId id="263" r:id="rId11"/>
    <p:sldId id="284" r:id="rId12"/>
    <p:sldId id="264" r:id="rId13"/>
    <p:sldId id="265" r:id="rId14"/>
    <p:sldId id="285" r:id="rId15"/>
    <p:sldId id="266" r:id="rId16"/>
    <p:sldId id="267" r:id="rId17"/>
    <p:sldId id="268" r:id="rId18"/>
    <p:sldId id="286" r:id="rId19"/>
    <p:sldId id="269" r:id="rId20"/>
    <p:sldId id="271" r:id="rId21"/>
    <p:sldId id="272" r:id="rId22"/>
    <p:sldId id="273" r:id="rId23"/>
    <p:sldId id="274" r:id="rId24"/>
    <p:sldId id="275" r:id="rId25"/>
    <p:sldId id="276" r:id="rId26"/>
    <p:sldId id="287" r:id="rId27"/>
    <p:sldId id="277" r:id="rId28"/>
    <p:sldId id="288" r:id="rId29"/>
    <p:sldId id="278" r:id="rId30"/>
    <p:sldId id="289" r:id="rId31"/>
    <p:sldId id="279" r:id="rId32"/>
    <p:sldId id="280" r:id="rId33"/>
    <p:sldId id="281" r:id="rId34"/>
    <p:sldId id="290" r:id="rId35"/>
    <p:sldId id="291" r:id="rId36"/>
    <p:sldId id="292" r:id="rId37"/>
    <p:sldId id="293" r:id="rId38"/>
    <p:sldId id="297" r:id="rId39"/>
    <p:sldId id="294" r:id="rId40"/>
    <p:sldId id="295" r:id="rId41"/>
    <p:sldId id="296" r:id="rId42"/>
    <p:sldId id="298" r:id="rId43"/>
    <p:sldId id="310" r:id="rId44"/>
    <p:sldId id="299" r:id="rId45"/>
    <p:sldId id="300" r:id="rId46"/>
    <p:sldId id="302" r:id="rId47"/>
    <p:sldId id="301" r:id="rId48"/>
    <p:sldId id="304" r:id="rId49"/>
    <p:sldId id="303" r:id="rId50"/>
    <p:sldId id="305" r:id="rId51"/>
    <p:sldId id="306" r:id="rId52"/>
    <p:sldId id="307" r:id="rId53"/>
    <p:sldId id="308" r:id="rId54"/>
    <p:sldId id="309"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dullah Limon" initials="AL" lastIdx="1" clrIdx="0">
    <p:extLst>
      <p:ext uri="{19B8F6BF-5375-455C-9EA6-DF929625EA0E}">
        <p15:presenceInfo xmlns:p15="http://schemas.microsoft.com/office/powerpoint/2012/main" userId="ccbb95a3173f64d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106" d="100"/>
          <a:sy n="106" d="100"/>
        </p:scale>
        <p:origin x="600"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337672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839044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33026C-CD84-4AB1-B98C-25DBADB9748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112897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33026C-CD84-4AB1-B98C-25DBADB9748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73397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3026C-CD84-4AB1-B98C-25DBADB97484}" type="datetimeFigureOut">
              <a:rPr lang="en-US" smtClean="0"/>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093670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B33026C-CD84-4AB1-B98C-25DBADB97484}" type="datetimeFigureOut">
              <a:rPr lang="en-US" smtClean="0"/>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103341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33026C-CD84-4AB1-B98C-25DBADB97484}" type="datetimeFigureOut">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505658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33026C-CD84-4AB1-B98C-25DBADB9748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529115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9B33026C-CD84-4AB1-B98C-25DBADB97484}" type="datetimeFigureOut">
              <a:rPr lang="en-US" smtClean="0"/>
              <a:t>6/7/2026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072811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33026C-CD84-4AB1-B98C-25DBADB9748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251554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9B33026C-CD84-4AB1-B98C-25DBADB9748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850848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9B33026C-CD84-4AB1-B98C-25DBADB97484}" type="datetimeFigureOut">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845409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266430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925345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9B33026C-CD84-4AB1-B98C-25DBADB97484}" type="datetimeFigureOut">
              <a:rPr lang="en-US" smtClean="0"/>
              <a:t>6/7/2026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36592AA1-E721-40A2-B986-42111D4396EF}" type="slidenum">
              <a:rPr lang="en-US" smtClean="0"/>
              <a:t>‹#›</a:t>
            </a:fld>
            <a:endParaRPr lang="en-US"/>
          </a:p>
        </p:txBody>
      </p:sp>
    </p:spTree>
    <p:extLst>
      <p:ext uri="{BB962C8B-B14F-4D97-AF65-F5344CB8AC3E}">
        <p14:creationId xmlns:p14="http://schemas.microsoft.com/office/powerpoint/2010/main" val="61432393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g"/><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Silkworms%20Spin%20Cocoons%20That%20Spell%20Their%20Own%20Doom%20_%20Deep%20Look.mp4"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9.jpg"/><Relationship Id="rId7" Type="http://schemas.openxmlformats.org/officeDocument/2006/relationships/image" Target="../media/image33.jpeg"/><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31.jpg"/><Relationship Id="rId4" Type="http://schemas.openxmlformats.org/officeDocument/2006/relationships/image" Target="../media/image30.jpeg"/></Relationships>
</file>

<file path=ppt/slides/_rels/slide4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 Id="rId5" Type="http://schemas.openxmlformats.org/officeDocument/2006/relationships/image" Target="../media/image51.jpeg"/><Relationship Id="rId4" Type="http://schemas.openxmlformats.org/officeDocument/2006/relationships/image" Target="../media/image50.jpeg"/></Relationships>
</file>

<file path=ppt/slides/_rels/slide6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6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62.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2.xml"/><Relationship Id="rId5" Type="http://schemas.openxmlformats.org/officeDocument/2006/relationships/image" Target="../media/image63.jpeg"/><Relationship Id="rId4" Type="http://schemas.openxmlformats.org/officeDocument/2006/relationships/image" Target="../media/image62.jpeg"/></Relationships>
</file>

<file path=ppt/slides/_rels/slide68.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EDFE-A3E1-49FE-B561-0608A1CB1E66}"/>
              </a:ext>
            </a:extLst>
          </p:cNvPr>
          <p:cNvSpPr>
            <a:spLocks noGrp="1"/>
          </p:cNvSpPr>
          <p:nvPr>
            <p:ph type="ctrTitle"/>
          </p:nvPr>
        </p:nvSpPr>
        <p:spPr/>
        <p:txBody>
          <a:bodyPr/>
          <a:lstStyle/>
          <a:p>
            <a:r>
              <a:rPr lang="bn-IN" dirty="0"/>
              <a:t>বিশেষ উৎপাদন সম্পর্কিত কৃষি প্রযুক্তি</a:t>
            </a:r>
            <a:endParaRPr lang="en-US" dirty="0"/>
          </a:p>
        </p:txBody>
      </p:sp>
      <p:sp>
        <p:nvSpPr>
          <p:cNvPr id="3" name="Subtitle 2">
            <a:extLst>
              <a:ext uri="{FF2B5EF4-FFF2-40B4-BE49-F238E27FC236}">
                <a16:creationId xmlns:a16="http://schemas.microsoft.com/office/drawing/2014/main" id="{8C7DD907-26D8-40C1-AEC7-C34E7C27057E}"/>
              </a:ext>
            </a:extLst>
          </p:cNvPr>
          <p:cNvSpPr>
            <a:spLocks noGrp="1"/>
          </p:cNvSpPr>
          <p:nvPr>
            <p:ph type="subTitle" idx="1"/>
          </p:nvPr>
        </p:nvSpPr>
        <p:spPr>
          <a:xfrm>
            <a:off x="810001" y="5280846"/>
            <a:ext cx="10572000" cy="1414244"/>
          </a:xfrm>
        </p:spPr>
        <p:txBody>
          <a:bodyPr>
            <a:normAutofit/>
          </a:bodyPr>
          <a:lstStyle/>
          <a:p>
            <a:r>
              <a:rPr lang="bn-IN" sz="2400" dirty="0"/>
              <a:t>কৃষিবিদ আব্দুল্লাহ–</a:t>
            </a:r>
            <a:r>
              <a:rPr lang="en-US" sz="2400" dirty="0"/>
              <a:t> </a:t>
            </a:r>
            <a:r>
              <a:rPr lang="bn-IN" sz="2400" dirty="0"/>
              <a:t>আল- আমিন,</a:t>
            </a:r>
          </a:p>
          <a:p>
            <a:r>
              <a:rPr lang="bn-IN" sz="2400" dirty="0"/>
              <a:t>প্রভাষক, রাজেন্দ্রপুর ক্যান্টনমেন্ট পাবলিক কলেজ, গাজীপুর</a:t>
            </a:r>
            <a:endParaRPr lang="en-US" sz="2400" dirty="0"/>
          </a:p>
        </p:txBody>
      </p:sp>
    </p:spTree>
    <p:extLst>
      <p:ext uri="{BB962C8B-B14F-4D97-AF65-F5344CB8AC3E}">
        <p14:creationId xmlns:p14="http://schemas.microsoft.com/office/powerpoint/2010/main" val="545579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কৃষি প্রযুক্তি</a:t>
            </a:r>
            <a:endParaRPr lang="en-US" dirty="0"/>
          </a:p>
        </p:txBody>
      </p:sp>
      <p:pic>
        <p:nvPicPr>
          <p:cNvPr id="6" name="Picture 5">
            <a:extLst>
              <a:ext uri="{FF2B5EF4-FFF2-40B4-BE49-F238E27FC236}">
                <a16:creationId xmlns:a16="http://schemas.microsoft.com/office/drawing/2014/main" id="{0F0A40A6-C9E2-B29C-F26F-3A47633B03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86446"/>
            <a:ext cx="7487478" cy="4991652"/>
          </a:xfrm>
          <a:prstGeom prst="rect">
            <a:avLst/>
          </a:prstGeom>
        </p:spPr>
      </p:pic>
      <p:sp>
        <p:nvSpPr>
          <p:cNvPr id="11" name="TextBox 10">
            <a:extLst>
              <a:ext uri="{FF2B5EF4-FFF2-40B4-BE49-F238E27FC236}">
                <a16:creationId xmlns:a16="http://schemas.microsoft.com/office/drawing/2014/main" id="{24C10DA0-4486-4D7D-3908-5FC01D019F4F}"/>
              </a:ext>
            </a:extLst>
          </p:cNvPr>
          <p:cNvSpPr txBox="1"/>
          <p:nvPr/>
        </p:nvSpPr>
        <p:spPr>
          <a:xfrm>
            <a:off x="7487478" y="1886446"/>
            <a:ext cx="4598505" cy="3785652"/>
          </a:xfrm>
          <a:prstGeom prst="rect">
            <a:avLst/>
          </a:prstGeom>
          <a:noFill/>
        </p:spPr>
        <p:txBody>
          <a:bodyPr wrap="square" rtlCol="0">
            <a:spAutoFit/>
          </a:bodyPr>
          <a:lstStyle/>
          <a:p>
            <a:pPr algn="ctr"/>
            <a:endParaRPr lang="en-US" sz="4800" dirty="0"/>
          </a:p>
          <a:p>
            <a:pPr algn="ctr"/>
            <a:r>
              <a:rPr lang="en-US" sz="4800" dirty="0" err="1"/>
              <a:t>আধুনিক</a:t>
            </a:r>
            <a:r>
              <a:rPr lang="en-US" sz="4800" dirty="0"/>
              <a:t> </a:t>
            </a:r>
            <a:r>
              <a:rPr lang="en-US" sz="4800" dirty="0" err="1"/>
              <a:t>কলাকৌশল</a:t>
            </a:r>
            <a:r>
              <a:rPr lang="en-US" sz="4800" dirty="0"/>
              <a:t> </a:t>
            </a:r>
          </a:p>
          <a:p>
            <a:pPr algn="ctr"/>
            <a:r>
              <a:rPr lang="en-US" sz="4800" dirty="0"/>
              <a:t> </a:t>
            </a:r>
          </a:p>
          <a:p>
            <a:pPr algn="ctr"/>
            <a:r>
              <a:rPr lang="en-US" sz="4800" dirty="0"/>
              <a:t>(</a:t>
            </a:r>
            <a:r>
              <a:rPr lang="en-US" sz="4800" dirty="0" err="1"/>
              <a:t>পদ্ধতি</a:t>
            </a:r>
            <a:r>
              <a:rPr lang="en-US" sz="4800" dirty="0"/>
              <a:t>, </a:t>
            </a:r>
            <a:r>
              <a:rPr lang="en-US" sz="4800" dirty="0" err="1"/>
              <a:t>প্রযুক্তি</a:t>
            </a:r>
            <a:r>
              <a:rPr lang="en-US" sz="4800" dirty="0"/>
              <a:t>)</a:t>
            </a:r>
          </a:p>
        </p:txBody>
      </p:sp>
    </p:spTree>
    <p:extLst>
      <p:ext uri="{BB962C8B-B14F-4D97-AF65-F5344CB8AC3E}">
        <p14:creationId xmlns:p14="http://schemas.microsoft.com/office/powerpoint/2010/main" val="26119871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উৎপাদন</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797269"/>
            <a:ext cx="9905998" cy="4834759"/>
          </a:xfrm>
        </p:spPr>
        <p:txBody>
          <a:bodyPr>
            <a:normAutofit/>
          </a:bodyPr>
          <a:lstStyle/>
          <a:p>
            <a:pPr marL="0" indent="0">
              <a:buNone/>
            </a:pPr>
            <a:r>
              <a:rPr lang="bn-IN" sz="2800" dirty="0"/>
              <a:t> </a:t>
            </a:r>
            <a:r>
              <a:rPr lang="en-US" sz="2800" dirty="0" err="1"/>
              <a:t>বীজের</a:t>
            </a:r>
            <a:r>
              <a:rPr lang="en-US" sz="2800" dirty="0"/>
              <a:t> </a:t>
            </a:r>
            <a:r>
              <a:rPr lang="en-US" sz="2800" dirty="0" err="1"/>
              <a:t>সংজ্ঞা</a:t>
            </a:r>
            <a:r>
              <a:rPr lang="en-US" sz="2800" dirty="0"/>
              <a:t> ও </a:t>
            </a:r>
            <a:r>
              <a:rPr lang="en-US" sz="2800" dirty="0" err="1"/>
              <a:t>প্রকারভেদ</a:t>
            </a:r>
            <a:r>
              <a:rPr lang="bn-IN" sz="2800" dirty="0"/>
              <a:t>?</a:t>
            </a:r>
          </a:p>
          <a:p>
            <a:pPr marL="0" indent="0">
              <a:buNone/>
            </a:pPr>
            <a:r>
              <a:rPr lang="bn-IN" sz="2400" dirty="0"/>
              <a:t>ক) ব্যাবহার ভিত্তিতেঃ উদ্ভিদতাত্বিকঃ ধান, কৃষিতাত্বিকঃ আলু</a:t>
            </a:r>
          </a:p>
          <a:p>
            <a:pPr marL="0" indent="0">
              <a:buNone/>
            </a:pPr>
            <a:r>
              <a:rPr lang="bn-IN" sz="2400" dirty="0"/>
              <a:t>খ) বীজপত্রের ভিত্তিতেঃ একবীজঃ ধান, দ্বিবীজপত্রীঃ ছোলা, বহিবীজপত্রঃ পাইন</a:t>
            </a:r>
          </a:p>
          <a:p>
            <a:pPr marL="0" indent="0">
              <a:buNone/>
            </a:pPr>
            <a:r>
              <a:rPr lang="bn-IN" sz="2400" dirty="0"/>
              <a:t>গ) নিষিক্ততার ভিত্তিতেঃ নিষিক্তঃ ধান, অনিষিক্তঃ লেবু, জাম্বুরা (এপোমিক্সিস) </a:t>
            </a:r>
          </a:p>
          <a:p>
            <a:pPr marL="0" indent="0">
              <a:buNone/>
            </a:pPr>
            <a:r>
              <a:rPr lang="bn-IN" sz="2400" dirty="0"/>
              <a:t>ঘ) ভ্রুণের ভিত্তিতেঃ একভ্রুণঃ ধান, বহুভ্রুণঃ নারিকেল</a:t>
            </a:r>
          </a:p>
          <a:p>
            <a:pPr marL="0" indent="0">
              <a:buNone/>
            </a:pPr>
            <a:r>
              <a:rPr lang="bn-IN" sz="2400" dirty="0"/>
              <a:t>ঙ) সস্যের উপস্থিতিতেঃ সস্যলঃ ধান, অসস্যলঃ কুমড়া, লাউ</a:t>
            </a:r>
          </a:p>
          <a:p>
            <a:pPr marL="0" indent="0">
              <a:buNone/>
            </a:pPr>
            <a:r>
              <a:rPr lang="bn-IN" sz="2400" dirty="0"/>
              <a:t>চ) বীজের বহিরাবরণঃ আবৃতবীজীঃ ধান, নগ্নবীজীঃ ভুট্টা</a:t>
            </a:r>
          </a:p>
        </p:txBody>
      </p:sp>
    </p:spTree>
    <p:extLst>
      <p:ext uri="{BB962C8B-B14F-4D97-AF65-F5344CB8AC3E}">
        <p14:creationId xmlns:p14="http://schemas.microsoft.com/office/powerpoint/2010/main" val="8296454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উৎপাদন</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797269"/>
            <a:ext cx="9905998" cy="4834759"/>
          </a:xfrm>
        </p:spPr>
        <p:txBody>
          <a:bodyPr>
            <a:normAutofit/>
          </a:bodyPr>
          <a:lstStyle/>
          <a:p>
            <a:pPr marL="0" indent="0">
              <a:buNone/>
            </a:pPr>
            <a:r>
              <a:rPr lang="bn-IN" sz="2800" dirty="0"/>
              <a:t> </a:t>
            </a:r>
            <a:r>
              <a:rPr lang="en-US" sz="2800" dirty="0" err="1"/>
              <a:t>বীজের</a:t>
            </a:r>
            <a:r>
              <a:rPr lang="en-US" sz="2800" dirty="0"/>
              <a:t> </a:t>
            </a:r>
            <a:r>
              <a:rPr lang="en-US" sz="2800" dirty="0" err="1"/>
              <a:t>সংজ্ঞা</a:t>
            </a:r>
            <a:r>
              <a:rPr lang="en-US" sz="2800" dirty="0"/>
              <a:t> ও </a:t>
            </a:r>
            <a:r>
              <a:rPr lang="en-US" sz="2800" dirty="0" err="1"/>
              <a:t>প্রকারভেদ</a:t>
            </a:r>
            <a:r>
              <a:rPr lang="bn-IN" sz="2800" dirty="0"/>
              <a:t>?</a:t>
            </a:r>
          </a:p>
          <a:p>
            <a:pPr marL="0" indent="0">
              <a:buNone/>
            </a:pPr>
            <a:r>
              <a:rPr lang="bn-IN" sz="2400" dirty="0"/>
              <a:t>ছ) বীজবিধি অনুসারেঃ </a:t>
            </a:r>
            <a:r>
              <a:rPr lang="en-US" sz="2400" dirty="0"/>
              <a:t>***</a:t>
            </a:r>
          </a:p>
          <a:p>
            <a:pPr>
              <a:buFontTx/>
              <a:buChar char="-"/>
            </a:pPr>
            <a:r>
              <a:rPr lang="bn-IN" sz="2400" dirty="0"/>
              <a:t>আনবিক বীজঃ ডীএন এ চেঞ্জের দ্বারা তৈরী</a:t>
            </a:r>
          </a:p>
          <a:p>
            <a:pPr>
              <a:buFontTx/>
              <a:buChar char="-"/>
            </a:pPr>
            <a:r>
              <a:rPr lang="bn-IN" sz="2400" dirty="0"/>
              <a:t>মৌল বা </a:t>
            </a:r>
            <a:r>
              <a:rPr lang="en-US" sz="2400" dirty="0" err="1"/>
              <a:t>প্রজনন</a:t>
            </a:r>
            <a:r>
              <a:rPr lang="bn-IN" sz="2400" dirty="0"/>
              <a:t> বীজঃ ধীর্ঘদিন পরীক্ষা নিরীক্ষার পর ভালো যেটা</a:t>
            </a:r>
          </a:p>
          <a:p>
            <a:pPr>
              <a:buFontTx/>
              <a:buChar char="-"/>
            </a:pPr>
            <a:r>
              <a:rPr lang="bn-IN" sz="2400" dirty="0"/>
              <a:t>ভিত্তি বীজঃ মৌল বীজ হতে উৎপন্ন</a:t>
            </a:r>
          </a:p>
          <a:p>
            <a:pPr>
              <a:buFontTx/>
              <a:buChar char="-"/>
            </a:pPr>
            <a:r>
              <a:rPr lang="bn-IN" sz="2400" dirty="0"/>
              <a:t>প্রত্যায়িত বীজঃ সার্টিফাইট বীজ</a:t>
            </a:r>
          </a:p>
          <a:p>
            <a:pPr>
              <a:buFontTx/>
              <a:buChar char="-"/>
            </a:pPr>
            <a:r>
              <a:rPr lang="en-US" sz="2400" dirty="0"/>
              <a:t>TLS, </a:t>
            </a:r>
            <a:r>
              <a:rPr lang="bn-IN" sz="2400" dirty="0"/>
              <a:t>বিশুদ্ধ বীজ লেভেল্কৃত</a:t>
            </a:r>
          </a:p>
        </p:txBody>
      </p:sp>
    </p:spTree>
    <p:extLst>
      <p:ext uri="{BB962C8B-B14F-4D97-AF65-F5344CB8AC3E}">
        <p14:creationId xmlns:p14="http://schemas.microsoft.com/office/powerpoint/2010/main" val="35849179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উৎপাদন</a:t>
            </a:r>
            <a:endParaRPr lang="en-US" dirty="0"/>
          </a:p>
        </p:txBody>
      </p:sp>
      <p:pic>
        <p:nvPicPr>
          <p:cNvPr id="7" name="Content Placeholder 6">
            <a:extLst>
              <a:ext uri="{FF2B5EF4-FFF2-40B4-BE49-F238E27FC236}">
                <a16:creationId xmlns:a16="http://schemas.microsoft.com/office/drawing/2014/main" id="{3FFC2055-0886-4B3D-A8EC-13C39BDB1A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8637" y="2741248"/>
            <a:ext cx="3897433" cy="3087260"/>
          </a:xfrm>
        </p:spPr>
      </p:pic>
      <p:pic>
        <p:nvPicPr>
          <p:cNvPr id="9" name="Picture 8">
            <a:extLst>
              <a:ext uri="{FF2B5EF4-FFF2-40B4-BE49-F238E27FC236}">
                <a16:creationId xmlns:a16="http://schemas.microsoft.com/office/drawing/2014/main" id="{1962B2DE-4C3B-4D2C-B54E-FEFCC85BFFC5}"/>
              </a:ext>
            </a:extLst>
          </p:cNvPr>
          <p:cNvPicPr>
            <a:picLocks noChangeAspect="1"/>
          </p:cNvPicPr>
          <p:nvPr/>
        </p:nvPicPr>
        <p:blipFill rotWithShape="1">
          <a:blip r:embed="rId3">
            <a:extLst>
              <a:ext uri="{28A0092B-C50C-407E-A947-70E740481C1C}">
                <a14:useLocalDpi xmlns:a14="http://schemas.microsoft.com/office/drawing/2010/main" val="0"/>
              </a:ext>
            </a:extLst>
          </a:blip>
          <a:srcRect l="55603" t="11288" b="27092"/>
          <a:stretch/>
        </p:blipFill>
        <p:spPr>
          <a:xfrm>
            <a:off x="6453809" y="2724961"/>
            <a:ext cx="4182660" cy="3070973"/>
          </a:xfrm>
          <a:prstGeom prst="rect">
            <a:avLst/>
          </a:prstGeom>
        </p:spPr>
      </p:pic>
    </p:spTree>
    <p:extLst>
      <p:ext uri="{BB962C8B-B14F-4D97-AF65-F5344CB8AC3E}">
        <p14:creationId xmlns:p14="http://schemas.microsoft.com/office/powerpoint/2010/main" val="25466838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ভালো বীজের বৈষিষ্ট্য</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797269"/>
            <a:ext cx="9905998" cy="4834759"/>
          </a:xfrm>
        </p:spPr>
        <p:txBody>
          <a:bodyPr>
            <a:normAutofit/>
          </a:bodyPr>
          <a:lstStyle/>
          <a:p>
            <a:pPr>
              <a:buFontTx/>
              <a:buChar char="-"/>
            </a:pPr>
            <a:r>
              <a:rPr lang="bn-IN" sz="2800" dirty="0"/>
              <a:t>বীজের জাত হবে বিশুদ্ধ</a:t>
            </a:r>
          </a:p>
          <a:p>
            <a:pPr>
              <a:buFontTx/>
              <a:buChar char="-"/>
            </a:pPr>
            <a:r>
              <a:rPr lang="bn-IN" sz="2800" dirty="0"/>
              <a:t>উচ্চফলনশীল</a:t>
            </a:r>
          </a:p>
          <a:p>
            <a:pPr>
              <a:buFontTx/>
              <a:buChar char="-"/>
            </a:pPr>
            <a:r>
              <a:rPr lang="bn-IN" sz="2800" dirty="0"/>
              <a:t>অন্য আগাছা বীজের মিশ্রণ থাকবে না</a:t>
            </a:r>
          </a:p>
          <a:p>
            <a:pPr>
              <a:buFontTx/>
              <a:buChar char="-"/>
            </a:pPr>
            <a:r>
              <a:rPr lang="bn-IN" sz="2800" dirty="0"/>
              <a:t>উজ্জলতা ও রঙ হবে সুন্দর</a:t>
            </a:r>
          </a:p>
          <a:p>
            <a:pPr>
              <a:buFontTx/>
              <a:buChar char="-"/>
            </a:pPr>
            <a:r>
              <a:rPr lang="bn-IN" sz="2800" dirty="0"/>
              <a:t>বীজ পোকায় কাটা বা ভাংগা থাকবে না</a:t>
            </a:r>
          </a:p>
          <a:p>
            <a:pPr>
              <a:buFontTx/>
              <a:buChar char="-"/>
            </a:pPr>
            <a:r>
              <a:rPr lang="bn-IN" sz="2800" dirty="0"/>
              <a:t>দানা বড়</a:t>
            </a:r>
          </a:p>
          <a:p>
            <a:pPr>
              <a:buFontTx/>
              <a:buChar char="-"/>
            </a:pPr>
            <a:r>
              <a:rPr lang="bn-IN" sz="2800" dirty="0"/>
              <a:t>আদ্রতা ১০-১২% থাকবে</a:t>
            </a:r>
            <a:endParaRPr lang="bn-IN" sz="2400" dirty="0"/>
          </a:p>
        </p:txBody>
      </p:sp>
    </p:spTree>
    <p:extLst>
      <p:ext uri="{BB962C8B-B14F-4D97-AF65-F5344CB8AC3E}">
        <p14:creationId xmlns:p14="http://schemas.microsoft.com/office/powerpoint/2010/main" val="22978853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উৎপাদন কৌশল</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144110"/>
            <a:ext cx="9905998" cy="4834759"/>
          </a:xfrm>
        </p:spPr>
        <p:txBody>
          <a:bodyPr>
            <a:normAutofit/>
          </a:bodyPr>
          <a:lstStyle/>
          <a:p>
            <a:pPr>
              <a:buFontTx/>
              <a:buChar char="-"/>
            </a:pPr>
            <a:r>
              <a:rPr lang="bn-IN" sz="2400" dirty="0"/>
              <a:t>অঞ্চল নির্বাচন</a:t>
            </a:r>
          </a:p>
          <a:p>
            <a:pPr>
              <a:buFontTx/>
              <a:buChar char="-"/>
            </a:pPr>
            <a:r>
              <a:rPr lang="bn-IN" sz="2400" dirty="0"/>
              <a:t>জমি নির্বাচন</a:t>
            </a:r>
          </a:p>
          <a:p>
            <a:pPr>
              <a:buFontTx/>
              <a:buChar char="-"/>
            </a:pPr>
            <a:r>
              <a:rPr lang="bn-IN" sz="2400" dirty="0"/>
              <a:t>পৃথকীকরণ দুরত্বঃ প্লটগত দূরত্ব, সময়গত দূরত্ব **</a:t>
            </a:r>
          </a:p>
          <a:p>
            <a:pPr>
              <a:buFontTx/>
              <a:buChar char="-"/>
            </a:pPr>
            <a:r>
              <a:rPr lang="bn-IN" sz="2400" dirty="0"/>
              <a:t>বিশুদ্ধ বীজ সংগ্রহ **</a:t>
            </a:r>
          </a:p>
          <a:p>
            <a:pPr>
              <a:buFontTx/>
              <a:buChar char="-"/>
            </a:pPr>
            <a:r>
              <a:rPr lang="bn-IN" sz="2400" dirty="0"/>
              <a:t>বীজ হার, বপনের সময়, জমি প্রস্তুতি</a:t>
            </a:r>
          </a:p>
          <a:p>
            <a:pPr>
              <a:buFontTx/>
              <a:buChar char="-"/>
            </a:pPr>
            <a:r>
              <a:rPr lang="bn-IN" sz="2400" dirty="0"/>
              <a:t>বীজ শোধন **</a:t>
            </a:r>
          </a:p>
          <a:p>
            <a:pPr>
              <a:buFontTx/>
              <a:buChar char="-"/>
            </a:pPr>
            <a:r>
              <a:rPr lang="bn-IN" sz="2400" dirty="0"/>
              <a:t>বীজ বপন</a:t>
            </a:r>
          </a:p>
          <a:p>
            <a:pPr>
              <a:buFontTx/>
              <a:buChar char="-"/>
            </a:pPr>
            <a:r>
              <a:rPr lang="bn-IN" sz="2400" dirty="0"/>
              <a:t>রোগিংঃ ফুল আসার আগে, ফুল আসার সময়ে, পরিপক্ক পর্যায়ে **</a:t>
            </a:r>
          </a:p>
          <a:p>
            <a:pPr>
              <a:buFontTx/>
              <a:buChar char="-"/>
            </a:pPr>
            <a:endParaRPr lang="bn-IN" sz="2400" dirty="0"/>
          </a:p>
        </p:txBody>
      </p:sp>
    </p:spTree>
    <p:extLst>
      <p:ext uri="{BB962C8B-B14F-4D97-AF65-F5344CB8AC3E}">
        <p14:creationId xmlns:p14="http://schemas.microsoft.com/office/powerpoint/2010/main" val="39462227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উৎপাদন কৌশল</a:t>
            </a:r>
            <a:endParaRPr lang="en-US" dirty="0"/>
          </a:p>
        </p:txBody>
      </p:sp>
      <p:pic>
        <p:nvPicPr>
          <p:cNvPr id="7" name="Content Placeholder 6">
            <a:extLst>
              <a:ext uri="{FF2B5EF4-FFF2-40B4-BE49-F238E27FC236}">
                <a16:creationId xmlns:a16="http://schemas.microsoft.com/office/drawing/2014/main" id="{63359BF2-8F0A-486D-8FD4-B87C6BACA44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26124"/>
          <a:stretch/>
        </p:blipFill>
        <p:spPr>
          <a:xfrm>
            <a:off x="6814519" y="2382561"/>
            <a:ext cx="3601691" cy="3245785"/>
          </a:xfrm>
        </p:spPr>
      </p:pic>
      <p:pic>
        <p:nvPicPr>
          <p:cNvPr id="9" name="Picture 8">
            <a:extLst>
              <a:ext uri="{FF2B5EF4-FFF2-40B4-BE49-F238E27FC236}">
                <a16:creationId xmlns:a16="http://schemas.microsoft.com/office/drawing/2014/main" id="{A25D0622-5375-4596-9D3B-5DF35B75F8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5790" y="2392476"/>
            <a:ext cx="3601693" cy="3241269"/>
          </a:xfrm>
          <a:prstGeom prst="rect">
            <a:avLst/>
          </a:prstGeom>
        </p:spPr>
      </p:pic>
    </p:spTree>
    <p:extLst>
      <p:ext uri="{BB962C8B-B14F-4D97-AF65-F5344CB8AC3E}">
        <p14:creationId xmlns:p14="http://schemas.microsoft.com/office/powerpoint/2010/main" val="28612458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পেয়াজের বীজ উৎপাদন কৌশল</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280745"/>
            <a:ext cx="9905998" cy="4834759"/>
          </a:xfrm>
        </p:spPr>
        <p:txBody>
          <a:bodyPr>
            <a:normAutofit/>
          </a:bodyPr>
          <a:lstStyle/>
          <a:p>
            <a:pPr>
              <a:buFontTx/>
              <a:buChar char="-"/>
            </a:pPr>
            <a:r>
              <a:rPr lang="bn-IN" sz="2400" dirty="0"/>
              <a:t>অঞ্চল নির্বাচনঃ ১৫ডিগ্রী, ৭৫-১০০ মিলি বৃষ্টিপাত</a:t>
            </a:r>
          </a:p>
          <a:p>
            <a:pPr>
              <a:buFontTx/>
              <a:buChar char="-"/>
            </a:pPr>
            <a:r>
              <a:rPr lang="bn-IN" sz="2400" dirty="0"/>
              <a:t>জমি নির্বাচনঃ দোয়াশ, বেলে দোয়াশ।</a:t>
            </a:r>
          </a:p>
          <a:p>
            <a:pPr>
              <a:buFontTx/>
              <a:buChar char="-"/>
            </a:pPr>
            <a:r>
              <a:rPr lang="bn-IN" sz="2400" dirty="0"/>
              <a:t>পৃথকীকরণ দুরত্বঃ প্লটগত দূরত্বঃ ১০০০-৪০০মিটার, সময়গত দূরত্ব **</a:t>
            </a:r>
          </a:p>
          <a:p>
            <a:pPr>
              <a:buFontTx/>
              <a:buChar char="-"/>
            </a:pPr>
            <a:r>
              <a:rPr lang="bn-IN" sz="2400" dirty="0"/>
              <a:t>বিশুদ্ধ বীজ সংগ্রহঃ বারি পেয়াজ ১, বারি পেয়াজ ২ **</a:t>
            </a:r>
          </a:p>
          <a:p>
            <a:pPr>
              <a:buFontTx/>
              <a:buChar char="-"/>
            </a:pPr>
            <a:r>
              <a:rPr lang="bn-IN" sz="2400" dirty="0"/>
              <a:t>বীজ হারঃ মাতৃকন্দঃ ২০-২৫ গ্রাম/শতক, বীজঃ ৩০০০-৫০০০ কেজি/হেক্টর, বপনের সময়, জমি প্রস্তুতি</a:t>
            </a:r>
          </a:p>
          <a:p>
            <a:pPr>
              <a:buFontTx/>
              <a:buChar char="-"/>
            </a:pPr>
            <a:r>
              <a:rPr lang="bn-IN" sz="2400" dirty="0"/>
              <a:t>বীজ শোধনঃ মাটি শোধন করতে হবে **</a:t>
            </a:r>
          </a:p>
          <a:p>
            <a:pPr>
              <a:buFontTx/>
              <a:buChar char="-"/>
            </a:pPr>
            <a:r>
              <a:rPr lang="bn-IN" sz="2400" dirty="0"/>
              <a:t>বীজ বপনঃ ২০</a:t>
            </a:r>
            <a:r>
              <a:rPr lang="en-US" sz="2400" dirty="0"/>
              <a:t>x</a:t>
            </a:r>
            <a:r>
              <a:rPr lang="bn-IN" sz="2400" dirty="0"/>
              <a:t>১০ সেমি</a:t>
            </a:r>
          </a:p>
          <a:p>
            <a:pPr>
              <a:buFontTx/>
              <a:buChar char="-"/>
            </a:pPr>
            <a:r>
              <a:rPr lang="bn-IN" sz="2400" dirty="0"/>
              <a:t>রোগিংঃ ফুল আসার আগে, ফুল আসার সময়ে, পরিপক্ক পর্যায়ে **</a:t>
            </a:r>
          </a:p>
          <a:p>
            <a:pPr>
              <a:buFontTx/>
              <a:buChar char="-"/>
            </a:pPr>
            <a:endParaRPr lang="bn-IN" sz="2400" dirty="0"/>
          </a:p>
        </p:txBody>
      </p:sp>
    </p:spTree>
    <p:extLst>
      <p:ext uri="{BB962C8B-B14F-4D97-AF65-F5344CB8AC3E}">
        <p14:creationId xmlns:p14="http://schemas.microsoft.com/office/powerpoint/2010/main" val="32807264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পেয়াজের রোগ ও বালাই</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797269"/>
            <a:ext cx="9905998" cy="4834759"/>
          </a:xfrm>
        </p:spPr>
        <p:txBody>
          <a:bodyPr>
            <a:normAutofit/>
          </a:bodyPr>
          <a:lstStyle/>
          <a:p>
            <a:pPr>
              <a:buFontTx/>
              <a:buChar char="-"/>
            </a:pPr>
            <a:r>
              <a:rPr lang="bn-IN" sz="2400" dirty="0"/>
              <a:t>ড্যাম্পিং অফঃ ছত্রাকের আক্রমনে, হালকা সবুজ থেকে হলুদ, ব্যাভিস্টিন ২গ্রাম/লিটার</a:t>
            </a:r>
          </a:p>
          <a:p>
            <a:pPr>
              <a:buFontTx/>
              <a:buChar char="-"/>
            </a:pPr>
            <a:r>
              <a:rPr lang="bn-IN" sz="2400" dirty="0"/>
              <a:t>পার্পল ব্লচঃ ছত্রাকের আক্রমনে, ছোট ছোট পানি ভেজা দাগ</a:t>
            </a:r>
          </a:p>
          <a:p>
            <a:pPr>
              <a:buFontTx/>
              <a:buChar char="-"/>
            </a:pPr>
            <a:r>
              <a:rPr lang="bn-IN" sz="2400" dirty="0"/>
              <a:t>থ্রিপস , জাব পোকা, মাছি</a:t>
            </a:r>
          </a:p>
        </p:txBody>
      </p:sp>
    </p:spTree>
    <p:extLst>
      <p:ext uri="{BB962C8B-B14F-4D97-AF65-F5344CB8AC3E}">
        <p14:creationId xmlns:p14="http://schemas.microsoft.com/office/powerpoint/2010/main" val="34096056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পেয়াজের রোগ ও বালাই</a:t>
            </a:r>
            <a:endParaRPr lang="en-US" dirty="0"/>
          </a:p>
        </p:txBody>
      </p:sp>
      <p:pic>
        <p:nvPicPr>
          <p:cNvPr id="7" name="Content Placeholder 6">
            <a:extLst>
              <a:ext uri="{FF2B5EF4-FFF2-40B4-BE49-F238E27FC236}">
                <a16:creationId xmlns:a16="http://schemas.microsoft.com/office/drawing/2014/main" id="{BF70A806-098C-447F-82FF-67C37CB503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8910" y="2124598"/>
            <a:ext cx="2840468" cy="2143125"/>
          </a:xfrm>
        </p:spPr>
      </p:pic>
      <p:pic>
        <p:nvPicPr>
          <p:cNvPr id="9" name="Picture 8">
            <a:extLst>
              <a:ext uri="{FF2B5EF4-FFF2-40B4-BE49-F238E27FC236}">
                <a16:creationId xmlns:a16="http://schemas.microsoft.com/office/drawing/2014/main" id="{DC6C109A-5017-4824-B8DD-4E8A57E96A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909" y="4453532"/>
            <a:ext cx="2840469" cy="2130352"/>
          </a:xfrm>
          <a:prstGeom prst="rect">
            <a:avLst/>
          </a:prstGeom>
        </p:spPr>
      </p:pic>
      <p:pic>
        <p:nvPicPr>
          <p:cNvPr id="11" name="Picture 10">
            <a:extLst>
              <a:ext uri="{FF2B5EF4-FFF2-40B4-BE49-F238E27FC236}">
                <a16:creationId xmlns:a16="http://schemas.microsoft.com/office/drawing/2014/main" id="{2DC236A2-0CE3-48BC-9300-FDA4F87BB4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97470" y="4453532"/>
            <a:ext cx="3205621" cy="2222235"/>
          </a:xfrm>
          <a:prstGeom prst="rect">
            <a:avLst/>
          </a:prstGeom>
        </p:spPr>
      </p:pic>
      <p:pic>
        <p:nvPicPr>
          <p:cNvPr id="13" name="Picture 12">
            <a:extLst>
              <a:ext uri="{FF2B5EF4-FFF2-40B4-BE49-F238E27FC236}">
                <a16:creationId xmlns:a16="http://schemas.microsoft.com/office/drawing/2014/main" id="{4CEF3F25-C73A-4F4B-8767-802FA83386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97469" y="2124598"/>
            <a:ext cx="3348000" cy="2218103"/>
          </a:xfrm>
          <a:prstGeom prst="rect">
            <a:avLst/>
          </a:prstGeom>
        </p:spPr>
      </p:pic>
      <p:pic>
        <p:nvPicPr>
          <p:cNvPr id="15" name="Picture 14">
            <a:extLst>
              <a:ext uri="{FF2B5EF4-FFF2-40B4-BE49-F238E27FC236}">
                <a16:creationId xmlns:a16="http://schemas.microsoft.com/office/drawing/2014/main" id="{3F53D07D-8BBD-45FF-9FE1-70F087DE1A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21216" y="2286001"/>
            <a:ext cx="4584414" cy="4297883"/>
          </a:xfrm>
          <a:prstGeom prst="rect">
            <a:avLst/>
          </a:prstGeom>
        </p:spPr>
      </p:pic>
    </p:spTree>
    <p:extLst>
      <p:ext uri="{BB962C8B-B14F-4D97-AF65-F5344CB8AC3E}">
        <p14:creationId xmlns:p14="http://schemas.microsoft.com/office/powerpoint/2010/main" val="264452100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আলু বীজ উৎপাদন</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375338"/>
            <a:ext cx="9905998" cy="4834759"/>
          </a:xfrm>
        </p:spPr>
        <p:txBody>
          <a:bodyPr>
            <a:normAutofit lnSpcReduction="10000"/>
          </a:bodyPr>
          <a:lstStyle/>
          <a:p>
            <a:pPr>
              <a:buFontTx/>
              <a:buChar char="-"/>
            </a:pPr>
            <a:r>
              <a:rPr lang="bn-IN" sz="2400" dirty="0"/>
              <a:t>অঞ্চল নির্বাচনঃ ১৫ডিগ্রী</a:t>
            </a:r>
          </a:p>
          <a:p>
            <a:pPr>
              <a:buFontTx/>
              <a:buChar char="-"/>
            </a:pPr>
            <a:r>
              <a:rPr lang="bn-IN" sz="2400" dirty="0"/>
              <a:t>জমি নির্বাচনঃ দোয়াশ, বেলে দোয়াশ।</a:t>
            </a:r>
          </a:p>
          <a:p>
            <a:pPr>
              <a:buFontTx/>
              <a:buChar char="-"/>
            </a:pPr>
            <a:r>
              <a:rPr lang="bn-IN" sz="2400" dirty="0"/>
              <a:t>পৃথকীকরণ দুরত্বঃ প্লটগত দূরত্বঃ ৩০মিটার, সময়গত দূরত্ব **</a:t>
            </a:r>
          </a:p>
          <a:p>
            <a:pPr>
              <a:buFontTx/>
              <a:buChar char="-"/>
            </a:pPr>
            <a:r>
              <a:rPr lang="bn-IN" sz="2400" dirty="0"/>
              <a:t>বিশুদ্ধ বীজ সংগ্রহঃ শীলাবতি, পাকড়ি, কুফরি, ডায়ামন্ট **</a:t>
            </a:r>
          </a:p>
          <a:p>
            <a:pPr>
              <a:buFontTx/>
              <a:buChar char="-"/>
            </a:pPr>
            <a:r>
              <a:rPr lang="bn-IN" sz="2400" dirty="0"/>
              <a:t>বীজ হারঃ ২০-২৫ গ্রাম আলু, বীজঃ ১৫০০-২০০০ কেজি/হেক্টর, বপনের সময়, জমি প্রস্তুতি</a:t>
            </a:r>
          </a:p>
          <a:p>
            <a:pPr>
              <a:buFontTx/>
              <a:buChar char="-"/>
            </a:pPr>
            <a:r>
              <a:rPr lang="bn-IN" sz="2400" dirty="0"/>
              <a:t>বীজ শোধনঃ ৩-৪ কেজি আলু ম্যানকোজেব বা সালফার ফানজিসাইডে ২০গ্রাম/লিটারে চুবিয়ে রাখা **</a:t>
            </a:r>
          </a:p>
          <a:p>
            <a:pPr>
              <a:buFontTx/>
              <a:buChar char="-"/>
            </a:pPr>
            <a:r>
              <a:rPr lang="bn-IN" sz="2400" dirty="0"/>
              <a:t>বীজ বপনঃ ২০</a:t>
            </a:r>
            <a:r>
              <a:rPr lang="en-US" sz="2400" dirty="0"/>
              <a:t>x</a:t>
            </a:r>
            <a:r>
              <a:rPr lang="bn-IN" sz="2400" dirty="0"/>
              <a:t>১০-১৫ সেমি</a:t>
            </a:r>
          </a:p>
          <a:p>
            <a:pPr>
              <a:buFontTx/>
              <a:buChar char="-"/>
            </a:pPr>
            <a:r>
              <a:rPr lang="bn-IN" sz="2400" dirty="0"/>
              <a:t>রোগিংঃ ফুল আসার আগে, ফুল আসার সময়ে, পরিপক্ক পর্যায়ে **</a:t>
            </a:r>
          </a:p>
          <a:p>
            <a:pPr>
              <a:buFontTx/>
              <a:buChar char="-"/>
            </a:pPr>
            <a:endParaRPr lang="bn-IN" sz="2400" dirty="0"/>
          </a:p>
        </p:txBody>
      </p:sp>
    </p:spTree>
    <p:extLst>
      <p:ext uri="{BB962C8B-B14F-4D97-AF65-F5344CB8AC3E}">
        <p14:creationId xmlns:p14="http://schemas.microsoft.com/office/powerpoint/2010/main" val="27732239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আলুর রোগ ও বালাই</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1933903"/>
            <a:ext cx="9905998" cy="4834759"/>
          </a:xfrm>
        </p:spPr>
        <p:txBody>
          <a:bodyPr>
            <a:normAutofit/>
          </a:bodyPr>
          <a:lstStyle/>
          <a:p>
            <a:pPr>
              <a:buFontTx/>
              <a:buChar char="-"/>
            </a:pPr>
            <a:r>
              <a:rPr lang="bn-IN" sz="2400" dirty="0"/>
              <a:t>আর্লি ব্লাইটঃ নাবী ধ্বসা রোগ,</a:t>
            </a:r>
          </a:p>
          <a:p>
            <a:pPr>
              <a:buFontTx/>
              <a:buChar char="-"/>
            </a:pPr>
            <a:r>
              <a:rPr lang="bn-IN" sz="2400" dirty="0"/>
              <a:t>লেইট ব্লাইটঃ মড়ক রোগ</a:t>
            </a:r>
          </a:p>
          <a:p>
            <a:pPr>
              <a:buFontTx/>
              <a:buChar char="-"/>
            </a:pPr>
            <a:r>
              <a:rPr lang="bn-IN" sz="2400" dirty="0"/>
              <a:t>ঢলে পড়া,</a:t>
            </a:r>
          </a:p>
          <a:p>
            <a:pPr>
              <a:buFontTx/>
              <a:buChar char="-"/>
            </a:pPr>
            <a:r>
              <a:rPr lang="bn-IN" sz="2400" dirty="0"/>
              <a:t>কান্ড পচা রোগ,</a:t>
            </a:r>
          </a:p>
          <a:p>
            <a:pPr>
              <a:buFontTx/>
              <a:buChar char="-"/>
            </a:pPr>
            <a:r>
              <a:rPr lang="bn-IN" sz="2400" dirty="0"/>
              <a:t>ড্রাই রট</a:t>
            </a:r>
          </a:p>
          <a:p>
            <a:pPr>
              <a:buFontTx/>
              <a:buChar char="-"/>
            </a:pPr>
            <a:r>
              <a:rPr lang="bn-IN" sz="2400" dirty="0"/>
              <a:t>কাটুই পোকা</a:t>
            </a:r>
          </a:p>
          <a:p>
            <a:pPr>
              <a:buFontTx/>
              <a:buChar char="-"/>
            </a:pPr>
            <a:r>
              <a:rPr lang="bn-IN" sz="2400" dirty="0"/>
              <a:t>জাব পোকা</a:t>
            </a:r>
          </a:p>
          <a:p>
            <a:pPr>
              <a:buFontTx/>
              <a:buChar char="-"/>
            </a:pPr>
            <a:r>
              <a:rPr lang="bn-IN" sz="2400" dirty="0"/>
              <a:t>সুতলী পোকা</a:t>
            </a:r>
          </a:p>
        </p:txBody>
      </p:sp>
    </p:spTree>
    <p:extLst>
      <p:ext uri="{BB962C8B-B14F-4D97-AF65-F5344CB8AC3E}">
        <p14:creationId xmlns:p14="http://schemas.microsoft.com/office/powerpoint/2010/main" val="23443803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আলুর রোগ ও বালাই</a:t>
            </a:r>
            <a:endParaRPr lang="en-US" dirty="0"/>
          </a:p>
        </p:txBody>
      </p:sp>
      <p:pic>
        <p:nvPicPr>
          <p:cNvPr id="7" name="Content Placeholder 6">
            <a:extLst>
              <a:ext uri="{FF2B5EF4-FFF2-40B4-BE49-F238E27FC236}">
                <a16:creationId xmlns:a16="http://schemas.microsoft.com/office/drawing/2014/main" id="{49FB1618-D36A-4B25-944C-7EE91620C1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5999" y="2337424"/>
            <a:ext cx="2847975" cy="3029706"/>
          </a:xfrm>
        </p:spPr>
      </p:pic>
      <p:pic>
        <p:nvPicPr>
          <p:cNvPr id="9" name="Picture 8">
            <a:extLst>
              <a:ext uri="{FF2B5EF4-FFF2-40B4-BE49-F238E27FC236}">
                <a16:creationId xmlns:a16="http://schemas.microsoft.com/office/drawing/2014/main" id="{0C21D200-5058-43E5-A262-177910F7D4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6624" y="2337425"/>
            <a:ext cx="2619375" cy="3029706"/>
          </a:xfrm>
          <a:prstGeom prst="rect">
            <a:avLst/>
          </a:prstGeom>
        </p:spPr>
      </p:pic>
      <p:pic>
        <p:nvPicPr>
          <p:cNvPr id="11" name="Picture 10">
            <a:extLst>
              <a:ext uri="{FF2B5EF4-FFF2-40B4-BE49-F238E27FC236}">
                <a16:creationId xmlns:a16="http://schemas.microsoft.com/office/drawing/2014/main" id="{9C062FC3-DEE5-4623-BB46-D0867CC063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43974" y="2337421"/>
            <a:ext cx="2819797" cy="2999697"/>
          </a:xfrm>
          <a:prstGeom prst="rect">
            <a:avLst/>
          </a:prstGeom>
        </p:spPr>
      </p:pic>
      <p:pic>
        <p:nvPicPr>
          <p:cNvPr id="13" name="Picture 12">
            <a:extLst>
              <a:ext uri="{FF2B5EF4-FFF2-40B4-BE49-F238E27FC236}">
                <a16:creationId xmlns:a16="http://schemas.microsoft.com/office/drawing/2014/main" id="{2FBD7455-0BE5-4D15-85FD-1F445CC8DE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014" y="2337422"/>
            <a:ext cx="3075610" cy="3029708"/>
          </a:xfrm>
          <a:prstGeom prst="rect">
            <a:avLst/>
          </a:prstGeom>
        </p:spPr>
      </p:pic>
    </p:spTree>
    <p:extLst>
      <p:ext uri="{BB962C8B-B14F-4D97-AF65-F5344CB8AC3E}">
        <p14:creationId xmlns:p14="http://schemas.microsoft.com/office/powerpoint/2010/main" val="11710831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আলুর হাম পুলিং</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698171"/>
            <a:ext cx="3397930" cy="4933857"/>
          </a:xfrm>
        </p:spPr>
        <p:txBody>
          <a:bodyPr>
            <a:normAutofit/>
          </a:bodyPr>
          <a:lstStyle/>
          <a:p>
            <a:pPr marL="0" indent="0">
              <a:buNone/>
            </a:pPr>
            <a:r>
              <a:rPr lang="bn-IN" sz="3200" dirty="0"/>
              <a:t>গোড়া সহ গাছ তুলে ফেলাকে । আলু সংগ্রহের ৭-১০ দিন পুর্বে করতে হয়। </a:t>
            </a:r>
          </a:p>
        </p:txBody>
      </p:sp>
      <p:pic>
        <p:nvPicPr>
          <p:cNvPr id="5" name="Picture 4">
            <a:extLst>
              <a:ext uri="{FF2B5EF4-FFF2-40B4-BE49-F238E27FC236}">
                <a16:creationId xmlns:a16="http://schemas.microsoft.com/office/drawing/2014/main" id="{11A47E9D-1620-4A33-B80F-B8BC074970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4742" y="2432958"/>
            <a:ext cx="6963910" cy="3216728"/>
          </a:xfrm>
          <a:prstGeom prst="rect">
            <a:avLst/>
          </a:prstGeom>
        </p:spPr>
      </p:pic>
    </p:spTree>
    <p:extLst>
      <p:ext uri="{BB962C8B-B14F-4D97-AF65-F5344CB8AC3E}">
        <p14:creationId xmlns:p14="http://schemas.microsoft.com/office/powerpoint/2010/main" val="12545997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সরিষার বীজ উৎপাদন</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259724"/>
            <a:ext cx="9905998" cy="4834759"/>
          </a:xfrm>
        </p:spPr>
        <p:txBody>
          <a:bodyPr>
            <a:normAutofit/>
          </a:bodyPr>
          <a:lstStyle/>
          <a:p>
            <a:pPr>
              <a:buFontTx/>
              <a:buChar char="-"/>
            </a:pPr>
            <a:r>
              <a:rPr lang="bn-IN" sz="2400" dirty="0"/>
              <a:t>অঞ্চল নির্বাচনঃ ১৫ডিগ্রী</a:t>
            </a:r>
          </a:p>
          <a:p>
            <a:pPr>
              <a:buFontTx/>
              <a:buChar char="-"/>
            </a:pPr>
            <a:r>
              <a:rPr lang="bn-IN" sz="2400" dirty="0"/>
              <a:t>জমি নির্বাচনঃ দোয়াশ, বেলে দোয়াশ।</a:t>
            </a:r>
          </a:p>
          <a:p>
            <a:pPr>
              <a:buFontTx/>
              <a:buChar char="-"/>
            </a:pPr>
            <a:r>
              <a:rPr lang="bn-IN" sz="2400" dirty="0"/>
              <a:t>পৃথকীকরণ দুরত্বঃ প্লটগত দূরত্বঃ ১০০-৪০০ মিটার, সময়গত দূরত্ব **</a:t>
            </a:r>
          </a:p>
          <a:p>
            <a:pPr>
              <a:buFontTx/>
              <a:buChar char="-"/>
            </a:pPr>
            <a:r>
              <a:rPr lang="bn-IN" sz="2400" dirty="0"/>
              <a:t>বিশুদ্ধ বীজ সংগ্রহঃ বারি সরিষা- ৬, ৭, ৮**</a:t>
            </a:r>
          </a:p>
          <a:p>
            <a:pPr>
              <a:buFontTx/>
              <a:buChar char="-"/>
            </a:pPr>
            <a:r>
              <a:rPr lang="bn-IN" sz="2400" dirty="0"/>
              <a:t>বীজ হারঃ ৭-৮ কেজি কেজি/হেক্টর, বপনের সময়, জমি প্রস্তুতি</a:t>
            </a:r>
          </a:p>
          <a:p>
            <a:pPr>
              <a:buFontTx/>
              <a:buChar char="-"/>
            </a:pPr>
            <a:r>
              <a:rPr lang="bn-IN" sz="2400" dirty="0"/>
              <a:t>বীজ শোধনঃ পার কেজি ২-৩ গ্রাম রোভরাল **</a:t>
            </a:r>
          </a:p>
          <a:p>
            <a:pPr>
              <a:buFontTx/>
              <a:buChar char="-"/>
            </a:pPr>
            <a:r>
              <a:rPr lang="bn-IN" sz="2400" dirty="0"/>
              <a:t>বীজ বপনঃ ২০</a:t>
            </a:r>
            <a:r>
              <a:rPr lang="en-US" sz="2400" dirty="0"/>
              <a:t>x</a:t>
            </a:r>
            <a:r>
              <a:rPr lang="bn-IN" sz="2400" dirty="0"/>
              <a:t>১০-১৫ সেমি</a:t>
            </a:r>
          </a:p>
          <a:p>
            <a:pPr>
              <a:buFontTx/>
              <a:buChar char="-"/>
            </a:pPr>
            <a:r>
              <a:rPr lang="bn-IN" sz="2400" dirty="0"/>
              <a:t>রোগিংঃ ফুল আসার আগে, ফুল আসার সময়ে, পরিপক্ক পর্যায়ে **</a:t>
            </a:r>
          </a:p>
          <a:p>
            <a:pPr>
              <a:buFontTx/>
              <a:buChar char="-"/>
            </a:pPr>
            <a:endParaRPr lang="bn-IN" sz="2400" dirty="0"/>
          </a:p>
        </p:txBody>
      </p:sp>
    </p:spTree>
    <p:extLst>
      <p:ext uri="{BB962C8B-B14F-4D97-AF65-F5344CB8AC3E}">
        <p14:creationId xmlns:p14="http://schemas.microsoft.com/office/powerpoint/2010/main" val="12066116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সরিষার রোগ ও বালাই</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123090"/>
            <a:ext cx="9905998" cy="4834759"/>
          </a:xfrm>
        </p:spPr>
        <p:txBody>
          <a:bodyPr>
            <a:normAutofit/>
          </a:bodyPr>
          <a:lstStyle/>
          <a:p>
            <a:pPr>
              <a:buFontTx/>
              <a:buChar char="-"/>
            </a:pPr>
            <a:r>
              <a:rPr lang="bn-IN" sz="2400" dirty="0"/>
              <a:t>পাতা ঝলসানো রোগঃ অলটারনারিয়া</a:t>
            </a:r>
          </a:p>
          <a:p>
            <a:pPr>
              <a:buFontTx/>
              <a:buChar char="-"/>
            </a:pPr>
            <a:r>
              <a:rPr lang="bn-IN" sz="2400" dirty="0"/>
              <a:t>মিলডিউঃ ছত্রাক</a:t>
            </a:r>
          </a:p>
          <a:p>
            <a:pPr>
              <a:buFontTx/>
              <a:buChar char="-"/>
            </a:pPr>
            <a:r>
              <a:rPr lang="bn-IN" sz="2400" dirty="0"/>
              <a:t>কান্ডপচা</a:t>
            </a:r>
          </a:p>
          <a:p>
            <a:pPr>
              <a:buFontTx/>
              <a:buChar char="-"/>
            </a:pPr>
            <a:r>
              <a:rPr lang="bn-IN" sz="2400" dirty="0"/>
              <a:t>পরজীবী উদ্ভিদঃ অরোবাঙ্কিক উদ্ভিদ</a:t>
            </a:r>
          </a:p>
          <a:p>
            <a:pPr>
              <a:buFontTx/>
              <a:buChar char="-"/>
            </a:pPr>
            <a:r>
              <a:rPr lang="bn-IN" sz="2400" dirty="0"/>
              <a:t>জাব পোকা,</a:t>
            </a:r>
          </a:p>
          <a:p>
            <a:pPr>
              <a:buFontTx/>
              <a:buChar char="-"/>
            </a:pPr>
            <a:r>
              <a:rPr lang="bn-IN" sz="2400" dirty="0"/>
              <a:t>করাত মাছি,</a:t>
            </a:r>
          </a:p>
          <a:p>
            <a:pPr>
              <a:buFontTx/>
              <a:buChar char="-"/>
            </a:pPr>
            <a:r>
              <a:rPr lang="bn-IN" sz="2400" dirty="0"/>
              <a:t>পাতা বিছা</a:t>
            </a:r>
          </a:p>
          <a:p>
            <a:pPr marL="0" indent="0">
              <a:buNone/>
            </a:pPr>
            <a:r>
              <a:rPr lang="bn-IN" sz="3600" dirty="0"/>
              <a:t>সরিষার ফলকে সিলিকুয়া বলে</a:t>
            </a:r>
            <a:endParaRPr lang="bn-IN" sz="2400" dirty="0"/>
          </a:p>
        </p:txBody>
      </p:sp>
    </p:spTree>
    <p:extLst>
      <p:ext uri="{BB962C8B-B14F-4D97-AF65-F5344CB8AC3E}">
        <p14:creationId xmlns:p14="http://schemas.microsoft.com/office/powerpoint/2010/main" val="19144177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সরিষার রোগ ও বালাই</a:t>
            </a:r>
            <a:endParaRPr lang="en-US" dirty="0"/>
          </a:p>
        </p:txBody>
      </p:sp>
      <p:pic>
        <p:nvPicPr>
          <p:cNvPr id="7" name="Content Placeholder 6">
            <a:extLst>
              <a:ext uri="{FF2B5EF4-FFF2-40B4-BE49-F238E27FC236}">
                <a16:creationId xmlns:a16="http://schemas.microsoft.com/office/drawing/2014/main" id="{35E84740-6E74-4C0F-97FC-482CC09D3B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599" y="2418586"/>
            <a:ext cx="3947057" cy="3393286"/>
          </a:xfrm>
        </p:spPr>
      </p:pic>
      <p:pic>
        <p:nvPicPr>
          <p:cNvPr id="9" name="Picture 8">
            <a:extLst>
              <a:ext uri="{FF2B5EF4-FFF2-40B4-BE49-F238E27FC236}">
                <a16:creationId xmlns:a16="http://schemas.microsoft.com/office/drawing/2014/main" id="{5C162785-00E8-4BCE-8365-EBF5C6BB42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6290" y="2418586"/>
            <a:ext cx="3947056" cy="3395615"/>
          </a:xfrm>
          <a:prstGeom prst="rect">
            <a:avLst/>
          </a:prstGeom>
        </p:spPr>
      </p:pic>
    </p:spTree>
    <p:extLst>
      <p:ext uri="{BB962C8B-B14F-4D97-AF65-F5344CB8AC3E}">
        <p14:creationId xmlns:p14="http://schemas.microsoft.com/office/powerpoint/2010/main" val="1776010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পক্রিয়াজাতকরণ</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2" y="1797269"/>
            <a:ext cx="4393973" cy="4834759"/>
          </a:xfrm>
        </p:spPr>
        <p:txBody>
          <a:bodyPr>
            <a:normAutofit/>
          </a:bodyPr>
          <a:lstStyle/>
          <a:p>
            <a:pPr>
              <a:buFontTx/>
              <a:buChar char="-"/>
            </a:pPr>
            <a:r>
              <a:rPr lang="bn-IN" sz="3200" dirty="0"/>
              <a:t>মাড়াইকরণঃ ফসল হতে বীজ ছাড়ানো</a:t>
            </a:r>
          </a:p>
          <a:p>
            <a:pPr>
              <a:buFontTx/>
              <a:buChar char="-"/>
            </a:pPr>
            <a:r>
              <a:rPr lang="bn-IN" sz="3200" dirty="0"/>
              <a:t>পরিষ্কারকরণঃ অন্য বীজ ,পাথর আলাদা করা</a:t>
            </a:r>
          </a:p>
          <a:p>
            <a:pPr>
              <a:buFontTx/>
              <a:buChar char="-"/>
            </a:pPr>
            <a:r>
              <a:rPr lang="bn-IN" sz="3200" dirty="0"/>
              <a:t>শুকানোঃ ৮-১২%</a:t>
            </a:r>
          </a:p>
        </p:txBody>
      </p:sp>
      <p:pic>
        <p:nvPicPr>
          <p:cNvPr id="5" name="Picture 4">
            <a:extLst>
              <a:ext uri="{FF2B5EF4-FFF2-40B4-BE49-F238E27FC236}">
                <a16:creationId xmlns:a16="http://schemas.microsoft.com/office/drawing/2014/main" id="{37C1AC08-D29D-4877-A8A8-339385F2D7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9270" y="4449534"/>
            <a:ext cx="3821517" cy="1961277"/>
          </a:xfrm>
          <a:prstGeom prst="rect">
            <a:avLst/>
          </a:prstGeom>
        </p:spPr>
      </p:pic>
      <p:pic>
        <p:nvPicPr>
          <p:cNvPr id="7" name="Picture 6">
            <a:extLst>
              <a:ext uri="{FF2B5EF4-FFF2-40B4-BE49-F238E27FC236}">
                <a16:creationId xmlns:a16="http://schemas.microsoft.com/office/drawing/2014/main" id="{3C63CAC5-75D1-434A-B3F1-E6BD096E4F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9270" y="2142018"/>
            <a:ext cx="3821517" cy="2147207"/>
          </a:xfrm>
          <a:prstGeom prst="rect">
            <a:avLst/>
          </a:prstGeom>
        </p:spPr>
      </p:pic>
    </p:spTree>
    <p:extLst>
      <p:ext uri="{BB962C8B-B14F-4D97-AF65-F5344CB8AC3E}">
        <p14:creationId xmlns:p14="http://schemas.microsoft.com/office/powerpoint/2010/main" val="30394698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শুকানো পদ্ধতি</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956895"/>
            <a:ext cx="9905998" cy="1631731"/>
          </a:xfrm>
        </p:spPr>
        <p:txBody>
          <a:bodyPr>
            <a:normAutofit/>
          </a:bodyPr>
          <a:lstStyle/>
          <a:p>
            <a:pPr>
              <a:buFontTx/>
              <a:buChar char="-"/>
            </a:pPr>
            <a:r>
              <a:rPr lang="bn-IN" sz="3200" dirty="0"/>
              <a:t>সনাতন পদ্ধতি</a:t>
            </a:r>
          </a:p>
          <a:p>
            <a:pPr>
              <a:buFontTx/>
              <a:buChar char="-"/>
            </a:pPr>
            <a:r>
              <a:rPr lang="bn-IN" sz="3200" dirty="0"/>
              <a:t>আধুনিক পদ্ধতি</a:t>
            </a:r>
          </a:p>
        </p:txBody>
      </p:sp>
      <p:sp>
        <p:nvSpPr>
          <p:cNvPr id="4" name="Content Placeholder 2">
            <a:extLst>
              <a:ext uri="{FF2B5EF4-FFF2-40B4-BE49-F238E27FC236}">
                <a16:creationId xmlns:a16="http://schemas.microsoft.com/office/drawing/2014/main" id="{68D91AE7-F9F5-45B1-9FF7-6E293BBF4B4E}"/>
              </a:ext>
            </a:extLst>
          </p:cNvPr>
          <p:cNvSpPr txBox="1">
            <a:spLocks/>
          </p:cNvSpPr>
          <p:nvPr/>
        </p:nvSpPr>
        <p:spPr>
          <a:xfrm>
            <a:off x="1141413" y="4280338"/>
            <a:ext cx="9905998" cy="2341179"/>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a:buFontTx/>
              <a:buChar char="-"/>
            </a:pPr>
            <a:r>
              <a:rPr lang="bn-IN" sz="3200" dirty="0"/>
              <a:t>বস্তায় সংরক্ষন</a:t>
            </a:r>
          </a:p>
          <a:p>
            <a:pPr>
              <a:buFontTx/>
              <a:buChar char="-"/>
            </a:pPr>
            <a:r>
              <a:rPr lang="bn-IN" sz="3200" dirty="0"/>
              <a:t>ডোলে সংরক্ষন</a:t>
            </a:r>
          </a:p>
          <a:p>
            <a:pPr>
              <a:buFontTx/>
              <a:buChar char="-"/>
            </a:pPr>
            <a:r>
              <a:rPr lang="bn-IN" sz="3200" dirty="0"/>
              <a:t>মটকায় সংরক্ষন</a:t>
            </a:r>
          </a:p>
          <a:p>
            <a:pPr>
              <a:buFontTx/>
              <a:buChar char="-"/>
            </a:pPr>
            <a:r>
              <a:rPr lang="bn-IN" sz="3200" dirty="0"/>
              <a:t>হিমাগারে সংরক্ষন</a:t>
            </a:r>
          </a:p>
        </p:txBody>
      </p:sp>
      <p:sp>
        <p:nvSpPr>
          <p:cNvPr id="5" name="Title 1">
            <a:extLst>
              <a:ext uri="{FF2B5EF4-FFF2-40B4-BE49-F238E27FC236}">
                <a16:creationId xmlns:a16="http://schemas.microsoft.com/office/drawing/2014/main" id="{E6F925B1-6EF9-4328-94A1-EB5C73E2F60F}"/>
              </a:ext>
            </a:extLst>
          </p:cNvPr>
          <p:cNvSpPr txBox="1">
            <a:spLocks/>
          </p:cNvSpPr>
          <p:nvPr/>
        </p:nvSpPr>
        <p:spPr>
          <a:xfrm>
            <a:off x="1141413" y="2896915"/>
            <a:ext cx="9905998" cy="19050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bn-IN" dirty="0"/>
              <a:t>বীজ সংরক্ষন</a:t>
            </a:r>
            <a:endParaRPr lang="en-US" dirty="0"/>
          </a:p>
        </p:txBody>
      </p:sp>
    </p:spTree>
    <p:extLst>
      <p:ext uri="{BB962C8B-B14F-4D97-AF65-F5344CB8AC3E}">
        <p14:creationId xmlns:p14="http://schemas.microsoft.com/office/powerpoint/2010/main" val="344854838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অনুজীব সার </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797269"/>
            <a:ext cx="9905998" cy="4834759"/>
          </a:xfrm>
        </p:spPr>
        <p:txBody>
          <a:bodyPr>
            <a:normAutofit/>
          </a:bodyPr>
          <a:lstStyle/>
          <a:p>
            <a:pPr>
              <a:buFontTx/>
              <a:buChar char="-"/>
            </a:pPr>
            <a:r>
              <a:rPr lang="bn-IN" sz="3200" dirty="0"/>
              <a:t>অনুজীব বা জীবানু দিয়ে সে সার বানানো হয়, সাথে যুক্ত থাকে নানা জৈব পদার্থ যেমনঃ গোবর, কম্পোস্ট, লতাপাতা ইত্যাদি। যেমনঃ ট্রাইকোডার্মা, রাইজোবিয়াম, আজোলা </a:t>
            </a:r>
          </a:p>
        </p:txBody>
      </p:sp>
    </p:spTree>
    <p:extLst>
      <p:ext uri="{BB962C8B-B14F-4D97-AF65-F5344CB8AC3E}">
        <p14:creationId xmlns:p14="http://schemas.microsoft.com/office/powerpoint/2010/main" val="32082908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অনুজীবের প্রকারভেদ </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797269"/>
            <a:ext cx="9905998" cy="4834759"/>
          </a:xfrm>
        </p:spPr>
        <p:txBody>
          <a:bodyPr>
            <a:normAutofit/>
          </a:bodyPr>
          <a:lstStyle/>
          <a:p>
            <a:pPr>
              <a:buFont typeface="Courier New" panose="02070309020205020404" pitchFamily="49" charset="0"/>
              <a:buChar char="o"/>
            </a:pPr>
            <a:r>
              <a:rPr lang="bn-IN" sz="3200" dirty="0"/>
              <a:t>নাইট্রোজেন সংবোধনকারীঃ যারা বাতাস থেকে নাইট্রোজেন আত্বীকরণ করতে পারে নিজের ভিতর। রাইজোবিয়াম ব্যাক্টেরিয়া, নীলাভ সবুজ শ্যাওলা, এজোটোব্যাক্টর</a:t>
            </a:r>
          </a:p>
          <a:p>
            <a:pPr>
              <a:buFont typeface="Courier New" panose="02070309020205020404" pitchFamily="49" charset="0"/>
              <a:buChar char="o"/>
            </a:pPr>
            <a:r>
              <a:rPr lang="bn-IN" sz="3200" dirty="0"/>
              <a:t>ফসফরাস দ্রবীভূতকারীঃ মাটিস্থ ফসফরাস আত্বীকরণ করতে পারে। এস্পারজিলাস ছত্রাক, পেনিছিলিয়াম ছত্রাক, ব্যাসিলাস ব্যাক্টেরিয়া </a:t>
            </a:r>
          </a:p>
          <a:p>
            <a:pPr>
              <a:buFont typeface="Courier New" panose="02070309020205020404" pitchFamily="49" charset="0"/>
              <a:buChar char="o"/>
            </a:pPr>
            <a:r>
              <a:rPr lang="bn-IN" sz="3200" dirty="0"/>
              <a:t>কম্পোস্ট তৈরীকারীঃ ট্রাইকোডার্মা</a:t>
            </a:r>
          </a:p>
        </p:txBody>
      </p:sp>
    </p:spTree>
    <p:extLst>
      <p:ext uri="{BB962C8B-B14F-4D97-AF65-F5344CB8AC3E}">
        <p14:creationId xmlns:p14="http://schemas.microsoft.com/office/powerpoint/2010/main" val="22429399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08413" y="342085"/>
            <a:ext cx="10571998" cy="1560288"/>
          </a:xfrm>
        </p:spPr>
        <p:txBody>
          <a:bodyPr/>
          <a:lstStyle/>
          <a:p>
            <a:r>
              <a:rPr lang="bn-IN" dirty="0"/>
              <a:t>অনুজীব সার(</a:t>
            </a:r>
            <a:r>
              <a:rPr lang="en-US" dirty="0"/>
              <a:t>Bio fertilizer</a:t>
            </a:r>
            <a:r>
              <a:rPr lang="bn-IN" dirty="0"/>
              <a:t>) ও অনুজীবনাশক</a:t>
            </a:r>
            <a:r>
              <a:rPr lang="en-US" dirty="0"/>
              <a:t>(Bio Pesticide)</a:t>
            </a:r>
            <a:r>
              <a:rPr lang="bn-IN" dirty="0"/>
              <a:t> আলাদা জিনিস ***</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722180"/>
            <a:ext cx="9905998" cy="3993931"/>
          </a:xfrm>
        </p:spPr>
        <p:txBody>
          <a:bodyPr>
            <a:normAutofit fontScale="92500" lnSpcReduction="20000"/>
          </a:bodyPr>
          <a:lstStyle/>
          <a:p>
            <a:pPr>
              <a:buFontTx/>
              <a:buChar char="-"/>
            </a:pPr>
            <a:r>
              <a:rPr lang="bn-IN" sz="3200" dirty="0"/>
              <a:t>অনুজীব স্যার নিজে অনুজীব, মাটিতে নাইট্রোজেন, ফসফরাস বা কম্পোস্ট পাচানোর দ্বারা পুষ্টি যোগ করে, যেমনঃ রাইজোবিয়াম, পেনিসিলিয়াম, ট্রাইকোডার্মা</a:t>
            </a:r>
          </a:p>
          <a:p>
            <a:pPr marL="0" indent="0">
              <a:buNone/>
            </a:pPr>
            <a:endParaRPr lang="bn-IN" sz="3200" dirty="0"/>
          </a:p>
          <a:p>
            <a:pPr>
              <a:buFontTx/>
              <a:buChar char="-"/>
            </a:pPr>
            <a:r>
              <a:rPr lang="bn-IN" sz="3200" dirty="0"/>
              <a:t>অনুজীবনাশক নিজেরা অনুজীব, এরা অন্য ক্ষতিকর অনুজীব মারতে বা ধ্বংস করতে পারে। যেমনঃ ট্রাইকোডার্মা অন্য ছত্রাক মারে, ব্যাসিলাস, সিউডোমোনাস ব্যাক্টেরিয়া অন্য ছত্রাক বা ব্যাক্টেরিয়া মারে। পেনিসিলিয়াম বিষ প্রয়োগের দ্বারা অন্য ছত্রাক বা ব্যাক্টেরিয়া মারে।</a:t>
            </a:r>
          </a:p>
          <a:p>
            <a:pPr>
              <a:buFontTx/>
              <a:buChar char="-"/>
            </a:pPr>
            <a:endParaRPr lang="bn-IN" sz="3200" dirty="0"/>
          </a:p>
        </p:txBody>
      </p:sp>
    </p:spTree>
    <p:extLst>
      <p:ext uri="{BB962C8B-B14F-4D97-AF65-F5344CB8AC3E}">
        <p14:creationId xmlns:p14="http://schemas.microsoft.com/office/powerpoint/2010/main" val="1272293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অনুজীব সারের গুরুত্ব</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a:bodyPr>
          <a:lstStyle/>
          <a:p>
            <a:pPr>
              <a:buFontTx/>
              <a:buChar char="-"/>
            </a:pPr>
            <a:r>
              <a:rPr lang="bn-IN" sz="3200" dirty="0"/>
              <a:t>বাতাসের নাইট্রোজেন মাটিতে যোগ করে</a:t>
            </a:r>
          </a:p>
          <a:p>
            <a:pPr>
              <a:buFontTx/>
              <a:buChar char="-"/>
            </a:pPr>
            <a:r>
              <a:rPr lang="bn-IN" sz="3200" dirty="0"/>
              <a:t>মাটির ফসফরাস উন্মুক্ত করে</a:t>
            </a:r>
          </a:p>
          <a:p>
            <a:pPr>
              <a:buFontTx/>
              <a:buChar char="-"/>
            </a:pPr>
            <a:r>
              <a:rPr lang="bn-IN" sz="3200" dirty="0"/>
              <a:t>আমিষের পরিমাণ বারে ডালে</a:t>
            </a:r>
          </a:p>
          <a:p>
            <a:pPr>
              <a:buFontTx/>
              <a:buChar char="-"/>
            </a:pPr>
            <a:r>
              <a:rPr lang="bn-IN" sz="3200" dirty="0"/>
              <a:t>মাটি, জলাশয় ও প্রানীর ক্ষতি করে না</a:t>
            </a:r>
          </a:p>
          <a:p>
            <a:pPr>
              <a:buFontTx/>
              <a:buChar char="-"/>
            </a:pPr>
            <a:r>
              <a:rPr lang="bn-IN" sz="3200" dirty="0"/>
              <a:t>পরিবেশবান্ধব</a:t>
            </a:r>
          </a:p>
          <a:p>
            <a:pPr>
              <a:buFontTx/>
              <a:buChar char="-"/>
            </a:pPr>
            <a:r>
              <a:rPr lang="bn-IN" sz="3200" dirty="0"/>
              <a:t>রাসায়নিক সার ৪০% কম লাগে</a:t>
            </a:r>
          </a:p>
          <a:p>
            <a:pPr marL="0" indent="0">
              <a:buNone/>
            </a:pPr>
            <a:endParaRPr lang="bn-IN" sz="3200" dirty="0"/>
          </a:p>
        </p:txBody>
      </p:sp>
    </p:spTree>
    <p:extLst>
      <p:ext uri="{BB962C8B-B14F-4D97-AF65-F5344CB8AC3E}">
        <p14:creationId xmlns:p14="http://schemas.microsoft.com/office/powerpoint/2010/main" val="13807085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রাইজোবিয়াম সার</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10483028" cy="3993931"/>
          </a:xfrm>
        </p:spPr>
        <p:txBody>
          <a:bodyPr>
            <a:normAutofit/>
          </a:bodyPr>
          <a:lstStyle/>
          <a:p>
            <a:r>
              <a:rPr lang="en-US" sz="3200" dirty="0"/>
              <a:t> </a:t>
            </a:r>
            <a:r>
              <a:rPr lang="bn-IN" sz="3200" dirty="0"/>
              <a:t>স্ট্রেইন নির্বাচন</a:t>
            </a:r>
          </a:p>
          <a:p>
            <a:r>
              <a:rPr lang="en-US" sz="3200" dirty="0"/>
              <a:t> </a:t>
            </a:r>
            <a:r>
              <a:rPr lang="bn-IN" sz="3200" dirty="0"/>
              <a:t>আবাদ মাধ্যমঃ কঠিন ও তরল</a:t>
            </a:r>
          </a:p>
          <a:p>
            <a:r>
              <a:rPr lang="en-US" sz="3200" dirty="0"/>
              <a:t> </a:t>
            </a:r>
            <a:r>
              <a:rPr lang="bn-IN" sz="3200" dirty="0"/>
              <a:t>পিট মাটি প্রস্তুর করণ</a:t>
            </a:r>
          </a:p>
          <a:p>
            <a:r>
              <a:rPr lang="en-US" sz="3200" dirty="0"/>
              <a:t> </a:t>
            </a:r>
            <a:r>
              <a:rPr lang="bn-IN" sz="3200" dirty="0"/>
              <a:t>অনুজীব প্রবেশকরণঃ পলিথিনের পিট মাটিতে ইঞ্জেকশন দিয়ে</a:t>
            </a:r>
          </a:p>
          <a:p>
            <a:r>
              <a:rPr lang="en-US" sz="3200" dirty="0"/>
              <a:t> </a:t>
            </a:r>
            <a:r>
              <a:rPr lang="bn-IN" sz="3200" dirty="0"/>
              <a:t>বাজারে বিক্রি</a:t>
            </a:r>
          </a:p>
        </p:txBody>
      </p:sp>
    </p:spTree>
    <p:extLst>
      <p:ext uri="{BB962C8B-B14F-4D97-AF65-F5344CB8AC3E}">
        <p14:creationId xmlns:p14="http://schemas.microsoft.com/office/powerpoint/2010/main" val="9154163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রাইজোবিয়াম সার</a:t>
            </a:r>
            <a:endParaRPr lang="en-US" dirty="0"/>
          </a:p>
        </p:txBody>
      </p:sp>
      <p:pic>
        <p:nvPicPr>
          <p:cNvPr id="7" name="Content Placeholder 6">
            <a:extLst>
              <a:ext uri="{FF2B5EF4-FFF2-40B4-BE49-F238E27FC236}">
                <a16:creationId xmlns:a16="http://schemas.microsoft.com/office/drawing/2014/main" id="{0E4025C6-64BF-44A0-8A2A-71392D0A9C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2589386"/>
            <a:ext cx="5071468" cy="3160739"/>
          </a:xfrm>
        </p:spPr>
      </p:pic>
      <p:pic>
        <p:nvPicPr>
          <p:cNvPr id="9" name="Picture 8">
            <a:extLst>
              <a:ext uri="{FF2B5EF4-FFF2-40B4-BE49-F238E27FC236}">
                <a16:creationId xmlns:a16="http://schemas.microsoft.com/office/drawing/2014/main" id="{CE4F80FC-BCC7-43A2-811B-8E4B5E3F66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7440" y="2589385"/>
            <a:ext cx="3612273" cy="3160739"/>
          </a:xfrm>
          <a:prstGeom prst="rect">
            <a:avLst/>
          </a:prstGeom>
        </p:spPr>
      </p:pic>
    </p:spTree>
    <p:extLst>
      <p:ext uri="{BB962C8B-B14F-4D97-AF65-F5344CB8AC3E}">
        <p14:creationId xmlns:p14="http://schemas.microsoft.com/office/powerpoint/2010/main" val="25971915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এজোলা সার</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fontScale="92500" lnSpcReduction="10000"/>
          </a:bodyPr>
          <a:lstStyle/>
          <a:p>
            <a:r>
              <a:rPr lang="en-US" sz="3200" dirty="0"/>
              <a:t> </a:t>
            </a:r>
            <a:r>
              <a:rPr lang="bn-IN" sz="3200" dirty="0"/>
              <a:t>এজোলা ফার্ণ, নীলাভ সবুজ শৈবালের সাথে মিথস্ক্রিয়া তৈরী করে</a:t>
            </a:r>
          </a:p>
          <a:p>
            <a:r>
              <a:rPr lang="en-US" sz="3200" dirty="0"/>
              <a:t> </a:t>
            </a:r>
            <a:r>
              <a:rPr lang="bn-IN" sz="3200" dirty="0"/>
              <a:t>শ্যাওলা হেটারোসিস্ট কোষে নাইট্রোজেন সংবন্ধন করে ।</a:t>
            </a:r>
          </a:p>
          <a:p>
            <a:r>
              <a:rPr lang="en-US" sz="3200" dirty="0"/>
              <a:t> </a:t>
            </a:r>
            <a:r>
              <a:rPr lang="bn-IN" sz="3200" dirty="0"/>
              <a:t>ধানক্ষেতে এজোলা ছেড়ে চাষঃ ৫০০-৮০০গ্রাম/বর্গমিটারে ছেড়ে দেব, ছাড়ার আগে ২গ্রাম কার্বোফুরান/বর্গমিটার দেবো, টিএসপি সার দেবো। এতে ধানক্ষেতে নাইট্রোজেন কম লাগবে</a:t>
            </a:r>
          </a:p>
          <a:p>
            <a:r>
              <a:rPr lang="en-US" sz="3200" dirty="0"/>
              <a:t> </a:t>
            </a:r>
            <a:r>
              <a:rPr lang="bn-IN" sz="3200" dirty="0"/>
              <a:t>খামারে ট্রে বানাবো, এজোলা ছাড়বো, ফসফেট সার দেবো, এজোলা শুকিয়ে বাজারজাতকরণ করা হবে। </a:t>
            </a:r>
          </a:p>
        </p:txBody>
      </p:sp>
    </p:spTree>
    <p:extLst>
      <p:ext uri="{BB962C8B-B14F-4D97-AF65-F5344CB8AC3E}">
        <p14:creationId xmlns:p14="http://schemas.microsoft.com/office/powerpoint/2010/main" val="40830854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এজোলা সার</a:t>
            </a:r>
            <a:endParaRPr lang="en-US" dirty="0"/>
          </a:p>
        </p:txBody>
      </p:sp>
      <p:pic>
        <p:nvPicPr>
          <p:cNvPr id="7" name="Content Placeholder 6">
            <a:extLst>
              <a:ext uri="{FF2B5EF4-FFF2-40B4-BE49-F238E27FC236}">
                <a16:creationId xmlns:a16="http://schemas.microsoft.com/office/drawing/2014/main" id="{73E35784-5CA3-4B50-9578-28FEC22870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49599" y="2659508"/>
            <a:ext cx="4623848" cy="3467493"/>
          </a:xfrm>
        </p:spPr>
      </p:pic>
      <p:pic>
        <p:nvPicPr>
          <p:cNvPr id="9" name="Picture 8">
            <a:extLst>
              <a:ext uri="{FF2B5EF4-FFF2-40B4-BE49-F238E27FC236}">
                <a16:creationId xmlns:a16="http://schemas.microsoft.com/office/drawing/2014/main" id="{74929520-16C3-46FD-89EE-E105EA5811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6331" y="2659116"/>
            <a:ext cx="4623848" cy="3467886"/>
          </a:xfrm>
          <a:prstGeom prst="rect">
            <a:avLst/>
          </a:prstGeom>
        </p:spPr>
      </p:pic>
    </p:spTree>
    <p:extLst>
      <p:ext uri="{BB962C8B-B14F-4D97-AF65-F5344CB8AC3E}">
        <p14:creationId xmlns:p14="http://schemas.microsoft.com/office/powerpoint/2010/main" val="39129474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ট্রাইকোডার্মা সার</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fontScale="92500" lnSpcReduction="10000"/>
          </a:bodyPr>
          <a:lstStyle/>
          <a:p>
            <a:r>
              <a:rPr lang="en-US" sz="3200" dirty="0"/>
              <a:t> </a:t>
            </a:r>
            <a:r>
              <a:rPr lang="bn-IN" sz="3200" dirty="0"/>
              <a:t>জাতঃ </a:t>
            </a:r>
            <a:r>
              <a:rPr lang="en-US" sz="3200" i="1" dirty="0"/>
              <a:t>T. </a:t>
            </a:r>
            <a:r>
              <a:rPr lang="en-US" sz="3200" i="1" dirty="0" err="1"/>
              <a:t>viride</a:t>
            </a:r>
            <a:r>
              <a:rPr lang="en-US" sz="3200" i="1" dirty="0"/>
              <a:t>, T. </a:t>
            </a:r>
            <a:r>
              <a:rPr lang="en-US" sz="3200" i="1" dirty="0" err="1"/>
              <a:t>harzianum</a:t>
            </a:r>
            <a:endParaRPr lang="en-US" sz="3200" i="1" dirty="0"/>
          </a:p>
          <a:p>
            <a:r>
              <a:rPr lang="en-US" sz="3200" i="1" dirty="0"/>
              <a:t> </a:t>
            </a:r>
            <a:r>
              <a:rPr lang="bn-IN" sz="3200" i="1" dirty="0"/>
              <a:t>হাউজ তৈরীঃ ১মিটার </a:t>
            </a:r>
            <a:r>
              <a:rPr lang="en-US" sz="3200" i="1" dirty="0"/>
              <a:t>x</a:t>
            </a:r>
            <a:r>
              <a:rPr lang="bn-IN" sz="3200" i="1" dirty="0"/>
              <a:t> ১মিটার</a:t>
            </a:r>
            <a:r>
              <a:rPr lang="en-US" sz="3200" i="1" dirty="0"/>
              <a:t> x</a:t>
            </a:r>
            <a:r>
              <a:rPr lang="bn-IN" sz="3200" i="1" dirty="0"/>
              <a:t> ৪৫ সেমি</a:t>
            </a:r>
          </a:p>
          <a:p>
            <a:r>
              <a:rPr lang="en-US" sz="3200" i="1" dirty="0"/>
              <a:t> </a:t>
            </a:r>
            <a:r>
              <a:rPr lang="bn-IN" sz="3200" i="1" dirty="0"/>
              <a:t>হাসমুরগীর বিষ্টা, কচুরিপানা, আবর্জনা দিয়ে ভরাট</a:t>
            </a:r>
          </a:p>
          <a:p>
            <a:r>
              <a:rPr lang="en-US" sz="3200" i="1" dirty="0"/>
              <a:t> </a:t>
            </a:r>
            <a:r>
              <a:rPr lang="bn-IN" sz="3200" i="1" dirty="0"/>
              <a:t>৫ টনে ১ লিটার ট্রাইকোডার্মা ইনোকুলেশন</a:t>
            </a:r>
          </a:p>
          <a:p>
            <a:r>
              <a:rPr lang="en-US" sz="3200" i="1" dirty="0"/>
              <a:t> </a:t>
            </a:r>
            <a:r>
              <a:rPr lang="bn-IN" sz="3200" i="1" dirty="0"/>
              <a:t>শেড তৈরী ও আইল তৈরী যাতে বৃষ্টির পানি না পরে</a:t>
            </a:r>
          </a:p>
          <a:p>
            <a:r>
              <a:rPr lang="en-US" sz="3200" i="1" dirty="0"/>
              <a:t> </a:t>
            </a:r>
            <a:r>
              <a:rPr lang="bn-IN" sz="3200" i="1" dirty="0"/>
              <a:t>৭ দিন পর পর আবর্জনা উলোট পালট করে দিতে হবে</a:t>
            </a:r>
          </a:p>
          <a:p>
            <a:r>
              <a:rPr lang="en-US" sz="3200" i="1" dirty="0"/>
              <a:t> </a:t>
            </a:r>
            <a:r>
              <a:rPr lang="bn-IN" sz="3200" i="1" dirty="0"/>
              <a:t>বস্তায় সংরক্ষনঃ যখন ঝরঝরা চা পাতার মত হবে তখন</a:t>
            </a:r>
          </a:p>
        </p:txBody>
      </p:sp>
    </p:spTree>
    <p:extLst>
      <p:ext uri="{BB962C8B-B14F-4D97-AF65-F5344CB8AC3E}">
        <p14:creationId xmlns:p14="http://schemas.microsoft.com/office/powerpoint/2010/main" val="31629196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ট্রাইকোডার্মা সার</a:t>
            </a:r>
            <a:endParaRPr lang="en-US" dirty="0"/>
          </a:p>
        </p:txBody>
      </p:sp>
      <p:pic>
        <p:nvPicPr>
          <p:cNvPr id="7" name="Content Placeholder 6">
            <a:extLst>
              <a:ext uri="{FF2B5EF4-FFF2-40B4-BE49-F238E27FC236}">
                <a16:creationId xmlns:a16="http://schemas.microsoft.com/office/drawing/2014/main" id="{8A96F3E7-74E2-4C95-8233-EA9916A8C4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78925" y="2348624"/>
            <a:ext cx="4803226" cy="4062188"/>
          </a:xfrm>
        </p:spPr>
      </p:pic>
    </p:spTree>
    <p:extLst>
      <p:ext uri="{BB962C8B-B14F-4D97-AF65-F5344CB8AC3E}">
        <p14:creationId xmlns:p14="http://schemas.microsoft.com/office/powerpoint/2010/main" val="23414470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পাটের রিবন রেটিং</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70235"/>
            <a:ext cx="5206835" cy="4140578"/>
          </a:xfrm>
        </p:spPr>
        <p:txBody>
          <a:bodyPr>
            <a:normAutofit fontScale="92500" lnSpcReduction="10000"/>
          </a:bodyPr>
          <a:lstStyle/>
          <a:p>
            <a:r>
              <a:rPr lang="bn-IN" sz="3200" i="1" dirty="0"/>
              <a:t>পাট গাছ কাটার পর কাচা অবস্থায় ফিতার মত আশ ছাড়ানোকে রিবন রেটিং বলে</a:t>
            </a:r>
          </a:p>
          <a:p>
            <a:r>
              <a:rPr lang="bn-IN" sz="3200" i="1" dirty="0"/>
              <a:t>ছাল্করণ বা রিবনিংঃ রিবনার নামের ইংরেজী </a:t>
            </a:r>
            <a:r>
              <a:rPr lang="en-US" sz="3200" i="1" dirty="0"/>
              <a:t>U </a:t>
            </a:r>
            <a:r>
              <a:rPr lang="bn-IN" sz="3200" i="1" dirty="0"/>
              <a:t>আকৃতির বাশের হুকের মেশিন, পরবর্তীতে স্থায়ী লোহার সিঙ্গেল রোলার রিবনার ও ডাবল রোলার রিবনার ব্যাবহৃত হয়। </a:t>
            </a:r>
          </a:p>
        </p:txBody>
      </p:sp>
      <p:pic>
        <p:nvPicPr>
          <p:cNvPr id="5" name="Picture 4">
            <a:extLst>
              <a:ext uri="{FF2B5EF4-FFF2-40B4-BE49-F238E27FC236}">
                <a16:creationId xmlns:a16="http://schemas.microsoft.com/office/drawing/2014/main" id="{1515D281-42E3-4C6B-9CA3-C1D4B49448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7945" y="2622946"/>
            <a:ext cx="5002069" cy="3315398"/>
          </a:xfrm>
          <a:prstGeom prst="rect">
            <a:avLst/>
          </a:prstGeom>
        </p:spPr>
      </p:pic>
    </p:spTree>
    <p:extLst>
      <p:ext uri="{BB962C8B-B14F-4D97-AF65-F5344CB8AC3E}">
        <p14:creationId xmlns:p14="http://schemas.microsoft.com/office/powerpoint/2010/main" val="40557505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পাটের ছাল ছাড়ানোর উপায়</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fontScale="92500" lnSpcReduction="20000"/>
          </a:bodyPr>
          <a:lstStyle/>
          <a:p>
            <a:r>
              <a:rPr lang="bn-IN" sz="3200" i="1" dirty="0"/>
              <a:t>বাশ দিয়ে </a:t>
            </a:r>
            <a:r>
              <a:rPr lang="en-US" sz="3200" i="1" dirty="0"/>
              <a:t>u </a:t>
            </a:r>
            <a:r>
              <a:rPr lang="bn-IN" sz="3200" i="1" dirty="0"/>
              <a:t>আকৃতির হুক বানানো</a:t>
            </a:r>
          </a:p>
          <a:p>
            <a:r>
              <a:rPr lang="bn-IN" sz="3200" i="1" dirty="0"/>
              <a:t>বাশের একপ্রান্ত মাটিতে পুতে দেবো</a:t>
            </a:r>
          </a:p>
          <a:p>
            <a:r>
              <a:rPr lang="bn-IN" sz="3200" i="1" dirty="0"/>
              <a:t>পাটের একপাশের গোড়া ৮-১০ সেমি থেথলে আশ বের করে নেবো</a:t>
            </a:r>
          </a:p>
          <a:p>
            <a:r>
              <a:rPr lang="bn-IN" sz="3200" i="1" dirty="0"/>
              <a:t>থেথলানো গোরা থেকে পাঠের ফিতা হুকে আটকাবো</a:t>
            </a:r>
          </a:p>
          <a:p>
            <a:r>
              <a:rPr lang="bn-IN" sz="3200" i="1" dirty="0"/>
              <a:t>এরপর দুই হাত দিয়ে টান দিলেই ফিতার মত আশ খুলে আসবে’</a:t>
            </a:r>
          </a:p>
          <a:p>
            <a:r>
              <a:rPr lang="bn-IN" sz="3200" i="1" dirty="0"/>
              <a:t>এরপর গোলাকার মোড়কে বাধবো</a:t>
            </a:r>
          </a:p>
          <a:p>
            <a:endParaRPr lang="bn-IN" sz="3200" i="1" dirty="0"/>
          </a:p>
        </p:txBody>
      </p:sp>
    </p:spTree>
    <p:extLst>
      <p:ext uri="{BB962C8B-B14F-4D97-AF65-F5344CB8AC3E}">
        <p14:creationId xmlns:p14="http://schemas.microsoft.com/office/powerpoint/2010/main" val="37942221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পাটের দ্রুত পচানোর উপায়</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fontScale="92500" lnSpcReduction="20000"/>
          </a:bodyPr>
          <a:lstStyle/>
          <a:p>
            <a:r>
              <a:rPr lang="bn-IN" sz="3200" i="1" dirty="0"/>
              <a:t>একটি আবদ্ধ স্থানে বা বড় কন্টেইনারে আগে থেকে পাট পচানো পানি মেশানো থাকবে</a:t>
            </a:r>
          </a:p>
          <a:p>
            <a:r>
              <a:rPr lang="bn-IN" sz="3200" i="1" dirty="0"/>
              <a:t>এরপর পানিতে পাট দিয়ে দেবো</a:t>
            </a:r>
          </a:p>
          <a:p>
            <a:r>
              <a:rPr lang="bn-IN" sz="3200" i="1" dirty="0"/>
              <a:t>ইউরিয়া সার দিলে পচানো ব্যাক্টেরিয়া দ্রুত বাড়বে</a:t>
            </a:r>
          </a:p>
          <a:p>
            <a:r>
              <a:rPr lang="bn-IN" sz="3200" i="1" dirty="0"/>
              <a:t>৭-১০ দিন প্রতিদিন পরীক্ষা করে দেখবো ছাল আলাদা হয়েছে কিনা</a:t>
            </a:r>
          </a:p>
          <a:p>
            <a:r>
              <a:rPr lang="bn-IN" sz="3200" i="1" dirty="0"/>
              <a:t>লেইট হয়ে গেলে পাটের কোয়ালিট খারাপ হবে, ছিড়ে যাবে ফিতা </a:t>
            </a:r>
          </a:p>
        </p:txBody>
      </p:sp>
    </p:spTree>
    <p:extLst>
      <p:ext uri="{BB962C8B-B14F-4D97-AF65-F5344CB8AC3E}">
        <p14:creationId xmlns:p14="http://schemas.microsoft.com/office/powerpoint/2010/main" val="6105193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রেশম চাষ</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a:bodyPr>
          <a:lstStyle/>
          <a:p>
            <a:r>
              <a:rPr lang="bn-IN" sz="3200" i="1" dirty="0"/>
              <a:t> </a:t>
            </a:r>
            <a:r>
              <a:rPr lang="en-US" sz="3200" i="1" dirty="0"/>
              <a:t>Sericulture </a:t>
            </a:r>
            <a:r>
              <a:rPr lang="bn-IN" sz="3200" i="1" dirty="0"/>
              <a:t>ইংরেজী শব্দ</a:t>
            </a:r>
          </a:p>
          <a:p>
            <a:r>
              <a:rPr lang="en-US" sz="3200" i="1" dirty="0"/>
              <a:t> </a:t>
            </a:r>
            <a:r>
              <a:rPr lang="bn-IN" sz="3200" i="1" dirty="0"/>
              <a:t>ল্যাটিন </a:t>
            </a:r>
            <a:r>
              <a:rPr lang="en-US" sz="3200" i="1" dirty="0"/>
              <a:t>SERIO </a:t>
            </a:r>
            <a:r>
              <a:rPr lang="bn-IN" sz="3200" i="1" dirty="0"/>
              <a:t>অর্থ সিল্ক বা রেশম </a:t>
            </a:r>
            <a:r>
              <a:rPr lang="en-US" sz="3200" i="1" dirty="0" err="1"/>
              <a:t>Cultura</a:t>
            </a:r>
            <a:r>
              <a:rPr lang="en-US" sz="3200" i="1" dirty="0"/>
              <a:t> </a:t>
            </a:r>
            <a:r>
              <a:rPr lang="bn-IN" sz="3200" i="1" dirty="0"/>
              <a:t>অর্থ</a:t>
            </a:r>
            <a:r>
              <a:rPr lang="en-US" sz="3200" i="1" dirty="0"/>
              <a:t> </a:t>
            </a:r>
            <a:r>
              <a:rPr lang="bn-IN" sz="3200" i="1" dirty="0"/>
              <a:t>চাষ </a:t>
            </a:r>
          </a:p>
          <a:p>
            <a:r>
              <a:rPr lang="bn-IN" sz="3200" i="1" dirty="0"/>
              <a:t> ১৯৭৭ সালে</a:t>
            </a:r>
            <a:r>
              <a:rPr lang="en-US" sz="3200" i="1" dirty="0"/>
              <a:t> </a:t>
            </a:r>
            <a:r>
              <a:rPr lang="bn-IN" sz="3200" i="1" dirty="0"/>
              <a:t>সরকারী </a:t>
            </a:r>
            <a:r>
              <a:rPr lang="en-US" sz="3200" i="1" dirty="0"/>
              <a:t>Bangladesh Sericulture Development Board </a:t>
            </a:r>
            <a:r>
              <a:rPr lang="bn-IN" sz="3200" i="1" dirty="0"/>
              <a:t>(</a:t>
            </a:r>
            <a:r>
              <a:rPr lang="en-US" sz="3200" i="1" dirty="0"/>
              <a:t>BSDB</a:t>
            </a:r>
            <a:r>
              <a:rPr lang="bn-IN" sz="3200" i="1" dirty="0"/>
              <a:t>)</a:t>
            </a:r>
            <a:r>
              <a:rPr lang="en-US" sz="3200" i="1" dirty="0"/>
              <a:t> </a:t>
            </a:r>
            <a:r>
              <a:rPr lang="bn-IN" sz="3200" i="1" dirty="0"/>
              <a:t>প্রতিষ্ঠিত হয়</a:t>
            </a:r>
          </a:p>
          <a:p>
            <a:r>
              <a:rPr lang="bn-IN" sz="3200" i="1" dirty="0"/>
              <a:t> </a:t>
            </a:r>
            <a:r>
              <a:rPr lang="en-US" sz="3200" i="1" dirty="0"/>
              <a:t>Bangladesh Sericulture Foundation</a:t>
            </a:r>
          </a:p>
          <a:p>
            <a:r>
              <a:rPr lang="en-US" sz="3200" i="1" dirty="0"/>
              <a:t> Silk Development Board</a:t>
            </a:r>
            <a:endParaRPr lang="bn-IN" sz="3200" i="1" dirty="0"/>
          </a:p>
        </p:txBody>
      </p:sp>
    </p:spTree>
    <p:extLst>
      <p:ext uri="{BB962C8B-B14F-4D97-AF65-F5344CB8AC3E}">
        <p14:creationId xmlns:p14="http://schemas.microsoft.com/office/powerpoint/2010/main" val="17124887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রেশমের অর্থনৈতিক গুরুত্ব</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a:bodyPr>
          <a:lstStyle/>
          <a:p>
            <a:r>
              <a:rPr lang="bn-IN" sz="3200" i="1" dirty="0"/>
              <a:t> মূল্যবান রেশমী কাপড় তৈরি</a:t>
            </a:r>
          </a:p>
          <a:p>
            <a:r>
              <a:rPr lang="bn-IN" sz="3200" i="1" dirty="0"/>
              <a:t> ১১ ভাগ আদ্রতা তাই সকল ঋতুতেই আরাম পাওয়া যায়</a:t>
            </a:r>
          </a:p>
          <a:p>
            <a:r>
              <a:rPr lang="bn-IN" sz="3200" i="1" dirty="0"/>
              <a:t> সার্জিক্যাল সুতা</a:t>
            </a:r>
          </a:p>
          <a:p>
            <a:r>
              <a:rPr lang="bn-IN" sz="3200" i="1" dirty="0"/>
              <a:t> পিউপার দেহ নিঃসৃত তেল ও দেহাবাশেষ হাসমুরগির খাদ্য</a:t>
            </a:r>
          </a:p>
          <a:p>
            <a:r>
              <a:rPr lang="bn-IN" sz="3200" i="1" dirty="0"/>
              <a:t> কর্মসসস্থান সৃষ্টি</a:t>
            </a:r>
          </a:p>
        </p:txBody>
      </p:sp>
    </p:spTree>
    <p:extLst>
      <p:ext uri="{BB962C8B-B14F-4D97-AF65-F5344CB8AC3E}">
        <p14:creationId xmlns:p14="http://schemas.microsoft.com/office/powerpoint/2010/main" val="527227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রেশম</a:t>
            </a:r>
            <a:r>
              <a:rPr lang="en-US" dirty="0"/>
              <a:t> </a:t>
            </a:r>
            <a:r>
              <a:rPr lang="bn-IN" dirty="0"/>
              <a:t>চাষের ধাপসমূহ </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a:bodyPr>
          <a:lstStyle/>
          <a:p>
            <a:r>
              <a:rPr lang="bn-IN" sz="3200" i="1" dirty="0"/>
              <a:t> তুত গাছ রোপন, পরিচর্যা ও পাতা সংগ্রহ</a:t>
            </a:r>
          </a:p>
          <a:p>
            <a:r>
              <a:rPr lang="bn-IN" sz="3200" i="1" dirty="0"/>
              <a:t> রেশম লার্ভা বা পলু ও মুককীট পালন </a:t>
            </a:r>
          </a:p>
          <a:p>
            <a:r>
              <a:rPr lang="bn-IN" sz="3200" i="1" dirty="0"/>
              <a:t> কোকুন সংগ্রহ ও পক্রিয়াজাতকরণ</a:t>
            </a:r>
          </a:p>
          <a:p>
            <a:r>
              <a:rPr lang="bn-IN" sz="3200" i="1" dirty="0"/>
              <a:t> সুতা তৈরী</a:t>
            </a:r>
          </a:p>
        </p:txBody>
      </p:sp>
    </p:spTree>
    <p:extLst>
      <p:ext uri="{BB962C8B-B14F-4D97-AF65-F5344CB8AC3E}">
        <p14:creationId xmlns:p14="http://schemas.microsoft.com/office/powerpoint/2010/main" val="10936354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sz="4000" i="1" dirty="0"/>
              <a:t>তুত গাছ রোপন, পরিচর্যা ও পাতা সংগ্রহ</a:t>
            </a:r>
            <a:r>
              <a:rPr lang="bn-IN" dirty="0"/>
              <a:t> </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38703"/>
            <a:ext cx="9905998" cy="4393325"/>
          </a:xfrm>
        </p:spPr>
        <p:txBody>
          <a:bodyPr>
            <a:normAutofit fontScale="92500" lnSpcReduction="20000"/>
          </a:bodyPr>
          <a:lstStyle/>
          <a:p>
            <a:r>
              <a:rPr lang="bn-IN" sz="3200" i="1" dirty="0"/>
              <a:t> তুত গাছ </a:t>
            </a:r>
            <a:r>
              <a:rPr lang="en-US" sz="3200" dirty="0"/>
              <a:t>Morus </a:t>
            </a:r>
            <a:r>
              <a:rPr lang="en-US" sz="3200" i="1" dirty="0"/>
              <a:t>indica, Morus rubra &amp; Morus nigra</a:t>
            </a:r>
          </a:p>
          <a:p>
            <a:r>
              <a:rPr lang="en-US" sz="3200" i="1" dirty="0"/>
              <a:t> </a:t>
            </a:r>
            <a:r>
              <a:rPr lang="bn-IN" sz="3200" i="1" dirty="0"/>
              <a:t>বন্যামুক্ত উচু জমি, দোয়াশ, বেলে দোয়াশ, পিএইচ ৬-৭</a:t>
            </a:r>
          </a:p>
          <a:p>
            <a:r>
              <a:rPr lang="bn-IN" sz="3200" i="1" dirty="0"/>
              <a:t> তুত গাছের বীজ ও কলম, জোড় কলম ব্যাবহৃত হয়</a:t>
            </a:r>
          </a:p>
          <a:p>
            <a:r>
              <a:rPr lang="bn-IN" sz="3200" i="1" dirty="0"/>
              <a:t> ৩ </a:t>
            </a:r>
            <a:r>
              <a:rPr lang="en-US" sz="3200" i="1" dirty="0"/>
              <a:t>x </a:t>
            </a:r>
            <a:r>
              <a:rPr lang="bn-IN" sz="3200" i="1" dirty="0"/>
              <a:t>১.৫ মিটার দুরুত্বে রোপন</a:t>
            </a:r>
          </a:p>
          <a:p>
            <a:r>
              <a:rPr lang="bn-IN" sz="3200" i="1" dirty="0"/>
              <a:t> ১০-১৫ দিনে কুশিপাতা বের হয়,</a:t>
            </a:r>
          </a:p>
          <a:p>
            <a:r>
              <a:rPr lang="bn-IN" sz="3200" i="1" dirty="0"/>
              <a:t> ২০-২৫ বছর পাতা পাওয়া যায়</a:t>
            </a:r>
          </a:p>
          <a:p>
            <a:r>
              <a:rPr lang="bn-IN" sz="3200" i="1" dirty="0"/>
              <a:t> পাউডারি মিল্ডিউ, লিফস্পট, গোলাপি মিলিবাগ, কান্ড ছিদ্রকারী পোকা, উইপোকা</a:t>
            </a:r>
          </a:p>
        </p:txBody>
      </p:sp>
    </p:spTree>
    <p:extLst>
      <p:ext uri="{BB962C8B-B14F-4D97-AF65-F5344CB8AC3E}">
        <p14:creationId xmlns:p14="http://schemas.microsoft.com/office/powerpoint/2010/main" val="32923308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sz="4000" i="1" dirty="0"/>
              <a:t>তুত গাছ রোপন, পরিচর্যা ও পাতা সংগ্রহ</a:t>
            </a:r>
            <a:r>
              <a:rPr lang="bn-IN" dirty="0"/>
              <a:t> </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38703"/>
            <a:ext cx="4954587" cy="4393325"/>
          </a:xfrm>
        </p:spPr>
        <p:txBody>
          <a:bodyPr>
            <a:normAutofit/>
          </a:bodyPr>
          <a:lstStyle/>
          <a:p>
            <a:r>
              <a:rPr lang="bn-IN" sz="3200" i="1" dirty="0"/>
              <a:t> </a:t>
            </a:r>
            <a:r>
              <a:rPr lang="bn-IN" sz="3200" dirty="0"/>
              <a:t>২ মাস পর পর প্রায় কয়েক বছর পাতা সংগ্রহ করা যায়। প্রতি গাছ থেকে ৮-১০ কেজি পাতা পাওয়া যায়।</a:t>
            </a:r>
            <a:endParaRPr lang="bn-IN" sz="3200" i="1" dirty="0"/>
          </a:p>
        </p:txBody>
      </p:sp>
      <p:pic>
        <p:nvPicPr>
          <p:cNvPr id="5" name="Picture 4">
            <a:extLst>
              <a:ext uri="{FF2B5EF4-FFF2-40B4-BE49-F238E27FC236}">
                <a16:creationId xmlns:a16="http://schemas.microsoft.com/office/drawing/2014/main" id="{C9BB2731-11A6-4D1B-B065-8EF9360636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2644" y="2526096"/>
            <a:ext cx="4737943" cy="3548884"/>
          </a:xfrm>
          <a:prstGeom prst="rect">
            <a:avLst/>
          </a:prstGeom>
        </p:spPr>
      </p:pic>
    </p:spTree>
    <p:extLst>
      <p:ext uri="{BB962C8B-B14F-4D97-AF65-F5344CB8AC3E}">
        <p14:creationId xmlns:p14="http://schemas.microsoft.com/office/powerpoint/2010/main" val="38025968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sz="4000" i="1" dirty="0"/>
              <a:t>রেশম লার্ভা বা পলু ও মুককীট পালন</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38703"/>
            <a:ext cx="9905998" cy="4393325"/>
          </a:xfrm>
        </p:spPr>
        <p:txBody>
          <a:bodyPr>
            <a:normAutofit lnSpcReduction="10000"/>
          </a:bodyPr>
          <a:lstStyle/>
          <a:p>
            <a:r>
              <a:rPr lang="bn-IN" sz="3200" i="1" dirty="0"/>
              <a:t> রেশম পোকা </a:t>
            </a:r>
            <a:r>
              <a:rPr lang="en-US" sz="3200" i="1" dirty="0"/>
              <a:t>Bombyx mori </a:t>
            </a:r>
            <a:endParaRPr lang="bn-IN" sz="3200" i="1" dirty="0"/>
          </a:p>
          <a:p>
            <a:r>
              <a:rPr lang="bn-IN" sz="3200" i="1" dirty="0"/>
              <a:t> ২৫০০-৫০০০ ডিম দেয়, ৯-১২ দিন পর লার্ভা বা পলু বের হয় (শুককীট) </a:t>
            </a:r>
          </a:p>
          <a:p>
            <a:r>
              <a:rPr lang="bn-IN" sz="3200" i="1" dirty="0"/>
              <a:t> শুককীট পর্যায় ১ সামান্য কুচি করা পাতা খায়, শুককীট পর্যায় ২ বড় পাতা খায়, পর্যায় ৩ দ্রুত পাতা খায়</a:t>
            </a:r>
          </a:p>
          <a:p>
            <a:r>
              <a:rPr lang="bn-IN" sz="3200" i="1" dirty="0"/>
              <a:t> শেষ পর্যায় রোজের পলু আত্নরক্ষার্থে মুখ দিয়ে রেশম নিঃসরণ করে গুটি তৈরী করে</a:t>
            </a:r>
          </a:p>
          <a:p>
            <a:r>
              <a:rPr lang="bn-IN" sz="3200" i="1" dirty="0"/>
              <a:t> মুককীট , তারপর রেশম পোকা হয়</a:t>
            </a:r>
          </a:p>
        </p:txBody>
      </p:sp>
    </p:spTree>
    <p:extLst>
      <p:ext uri="{BB962C8B-B14F-4D97-AF65-F5344CB8AC3E}">
        <p14:creationId xmlns:p14="http://schemas.microsoft.com/office/powerpoint/2010/main" val="14735761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sz="4000" i="1" dirty="0"/>
              <a:t>রেশম </a:t>
            </a:r>
            <a:r>
              <a:rPr lang="bn-IN" i="1" dirty="0"/>
              <a:t>পোকার জীবনচক্র (৪টি ধাপ)</a:t>
            </a:r>
            <a:endParaRPr lang="en-US" dirty="0"/>
          </a:p>
        </p:txBody>
      </p:sp>
      <p:pic>
        <p:nvPicPr>
          <p:cNvPr id="4" name="Content Placeholder 3">
            <a:extLst>
              <a:ext uri="{FF2B5EF4-FFF2-40B4-BE49-F238E27FC236}">
                <a16:creationId xmlns:a16="http://schemas.microsoft.com/office/drawing/2014/main" id="{0F902DD7-471C-49FF-B809-604E11D125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65379" y="2082154"/>
            <a:ext cx="6063763" cy="4504511"/>
          </a:xfrm>
        </p:spPr>
      </p:pic>
      <p:sp>
        <p:nvSpPr>
          <p:cNvPr id="7" name="TextBox 6">
            <a:extLst>
              <a:ext uri="{FF2B5EF4-FFF2-40B4-BE49-F238E27FC236}">
                <a16:creationId xmlns:a16="http://schemas.microsoft.com/office/drawing/2014/main" id="{42F8A023-315D-4F6D-B51B-0A9C0F9418F0}"/>
              </a:ext>
            </a:extLst>
          </p:cNvPr>
          <p:cNvSpPr txBox="1"/>
          <p:nvPr/>
        </p:nvSpPr>
        <p:spPr>
          <a:xfrm>
            <a:off x="262759" y="2291255"/>
            <a:ext cx="4845269" cy="5016758"/>
          </a:xfrm>
          <a:prstGeom prst="rect">
            <a:avLst/>
          </a:prstGeom>
          <a:noFill/>
        </p:spPr>
        <p:txBody>
          <a:bodyPr wrap="square" rtlCol="0">
            <a:spAutoFit/>
          </a:bodyPr>
          <a:lstStyle/>
          <a:p>
            <a:pPr marL="514350" indent="-514350">
              <a:buAutoNum type="arabicParenR"/>
            </a:pPr>
            <a:r>
              <a:rPr lang="bn-IN" sz="3200" dirty="0"/>
              <a:t>ডিম</a:t>
            </a:r>
          </a:p>
          <a:p>
            <a:pPr marL="514350" indent="-514350">
              <a:buAutoNum type="arabicParenR"/>
            </a:pPr>
            <a:r>
              <a:rPr lang="bn-IN" sz="3200" dirty="0"/>
              <a:t>লার্ভা বা পলু বা শুককীট</a:t>
            </a:r>
          </a:p>
          <a:p>
            <a:pPr marL="971550" lvl="1" indent="-514350">
              <a:buAutoNum type="arabicParenR"/>
            </a:pPr>
            <a:r>
              <a:rPr lang="bn-IN" sz="3200" dirty="0"/>
              <a:t>১ম পর্যায়</a:t>
            </a:r>
          </a:p>
          <a:p>
            <a:pPr marL="971550" lvl="1" indent="-514350">
              <a:buAutoNum type="arabicParenR"/>
            </a:pPr>
            <a:r>
              <a:rPr lang="bn-IN" sz="3200" dirty="0"/>
              <a:t>২য় পর্যায়</a:t>
            </a:r>
          </a:p>
          <a:p>
            <a:pPr marL="971550" lvl="1" indent="-514350">
              <a:buAutoNum type="arabicParenR"/>
            </a:pPr>
            <a:r>
              <a:rPr lang="bn-IN" sz="3200" dirty="0"/>
              <a:t>৩য় পর্যায়</a:t>
            </a:r>
            <a:endParaRPr lang="en-US" sz="3200" dirty="0"/>
          </a:p>
          <a:p>
            <a:pPr marL="971550" lvl="1" indent="-514350">
              <a:buAutoNum type="arabicParenR"/>
            </a:pPr>
            <a:r>
              <a:rPr lang="bn-IN" sz="3200" dirty="0"/>
              <a:t>শেষ পর্যায়</a:t>
            </a:r>
          </a:p>
          <a:p>
            <a:pPr marL="514350" indent="-514350">
              <a:buAutoNum type="arabicParenR"/>
            </a:pPr>
            <a:r>
              <a:rPr lang="bn-IN" sz="3200" dirty="0"/>
              <a:t>পিউপা বা মুককীট</a:t>
            </a:r>
          </a:p>
          <a:p>
            <a:pPr marL="514350" indent="-514350">
              <a:buAutoNum type="arabicParenR"/>
            </a:pPr>
            <a:r>
              <a:rPr lang="bn-IN" sz="3200" dirty="0"/>
              <a:t>পূর্ণাংগ মথ বা রেশম পোকা</a:t>
            </a:r>
          </a:p>
          <a:p>
            <a:pPr marL="514350" indent="-514350">
              <a:buAutoNum type="arabicParenR"/>
            </a:pPr>
            <a:endParaRPr lang="en-US" sz="3200" dirty="0"/>
          </a:p>
        </p:txBody>
      </p:sp>
    </p:spTree>
    <p:extLst>
      <p:ext uri="{BB962C8B-B14F-4D97-AF65-F5344CB8AC3E}">
        <p14:creationId xmlns:p14="http://schemas.microsoft.com/office/powerpoint/2010/main" val="7741419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i="1" dirty="0"/>
              <a:t>কোকুন সংগ্রহ ও পক্রিয়াজাতকরণ</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38703"/>
            <a:ext cx="9905998" cy="4393325"/>
          </a:xfrm>
        </p:spPr>
        <p:txBody>
          <a:bodyPr>
            <a:normAutofit lnSpcReduction="10000"/>
          </a:bodyPr>
          <a:lstStyle/>
          <a:p>
            <a:r>
              <a:rPr lang="bn-IN" sz="3200" i="1" dirty="0"/>
              <a:t> শুককীটের লালা দিয়ে কীড়া জালিকা তৈরি করে জালিকার ভিতরে নিজেকে গুটিয়ে নেয়, জালিকা স্তরে স্তরে জমে পুরু হয়ে শুককীট ভিতরে আবদ্ধ হয়ে পরে মুককীটে পরিনন হয় একে </a:t>
            </a:r>
            <a:r>
              <a:rPr lang="en-US" sz="3200" i="1" dirty="0"/>
              <a:t>Cocoon </a:t>
            </a:r>
            <a:r>
              <a:rPr lang="bn-IN" sz="3200" i="1" dirty="0"/>
              <a:t>কোকুন বলে</a:t>
            </a:r>
          </a:p>
          <a:p>
            <a:r>
              <a:rPr lang="bn-IN" sz="3200" i="1" dirty="0"/>
              <a:t> ২৩-২৪ ডিগ্রি, ৭০% আদ্রতায় ভালো গুটি পাওয়া যায়</a:t>
            </a:r>
          </a:p>
          <a:p>
            <a:r>
              <a:rPr lang="bn-IN" sz="3200" i="1" dirty="0"/>
              <a:t> সিদ্ধ করা পর ভিতরে মুককীট মারা যায়</a:t>
            </a:r>
          </a:p>
          <a:p>
            <a:r>
              <a:rPr lang="bn-IN" sz="3200" i="1" dirty="0"/>
              <a:t>সুতা ঢিলা হলে চড়কীর মুখে লাগিয়ে পেচানো হয়</a:t>
            </a:r>
          </a:p>
          <a:p>
            <a:r>
              <a:rPr lang="bn-IN" sz="3200" i="1" dirty="0"/>
              <a:t> এক গুটিতে ৪০০-১০০০ মিটার সুতা পাওয়া যায় </a:t>
            </a:r>
          </a:p>
        </p:txBody>
      </p:sp>
    </p:spTree>
    <p:extLst>
      <p:ext uri="{BB962C8B-B14F-4D97-AF65-F5344CB8AC3E}">
        <p14:creationId xmlns:p14="http://schemas.microsoft.com/office/powerpoint/2010/main" val="5768342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i="1" dirty="0"/>
              <a:t>কোকুন সংগ্রহ ও পক্রিয়াজাতকরণ</a:t>
            </a:r>
            <a:br>
              <a:rPr lang="en-US" i="1" dirty="0"/>
            </a:br>
            <a:r>
              <a:rPr lang="bn-IN" sz="2800" dirty="0">
                <a:solidFill>
                  <a:srgbClr val="FFC000"/>
                </a:solidFill>
              </a:rPr>
              <a:t>রেশম পলুর রোগ দমন ও ব্যাবস্থাপনা</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91255"/>
            <a:ext cx="9905998" cy="4393325"/>
          </a:xfrm>
        </p:spPr>
        <p:txBody>
          <a:bodyPr>
            <a:normAutofit fontScale="85000" lnSpcReduction="20000"/>
          </a:bodyPr>
          <a:lstStyle/>
          <a:p>
            <a:r>
              <a:rPr lang="bn-IN" sz="3200" i="1" dirty="0"/>
              <a:t> </a:t>
            </a:r>
            <a:r>
              <a:rPr lang="bn-IN" sz="3200" dirty="0"/>
              <a:t>কালশিরা রোগঃ ভাইরাস (</a:t>
            </a:r>
            <a:r>
              <a:rPr lang="en-US" sz="3200" dirty="0" err="1"/>
              <a:t>BmIFV</a:t>
            </a:r>
            <a:r>
              <a:rPr lang="en-US" sz="3200" dirty="0"/>
              <a:t>, </a:t>
            </a:r>
            <a:r>
              <a:rPr lang="en-US" sz="3200" dirty="0" err="1"/>
              <a:t>BmDNV</a:t>
            </a:r>
            <a:r>
              <a:rPr lang="bn-IN" sz="3200" dirty="0"/>
              <a:t>) ও ব্যাক্টেরিয়ায়ার (</a:t>
            </a:r>
            <a:r>
              <a:rPr lang="en-US" sz="3200" i="1" dirty="0"/>
              <a:t>Streptococcus</a:t>
            </a:r>
            <a:r>
              <a:rPr lang="bn-IN" sz="3200" dirty="0"/>
              <a:t>) মিলিত সংক্রমণে । পলুর ত্বক হলুদ বর্ণের হয়, দেহের অন্ত্রের পচন ঘটে এবং মৃত্যু হয়।প্রতিরোধঃ তুত পাতা ও পলুঘর পরিচ্ছন্ন রাখতে হয়।</a:t>
            </a:r>
          </a:p>
          <a:p>
            <a:r>
              <a:rPr lang="bn-IN" sz="3200" i="1" dirty="0"/>
              <a:t> </a:t>
            </a:r>
            <a:r>
              <a:rPr lang="bn-IN" sz="3200" dirty="0"/>
              <a:t>কাটা রোগঃ</a:t>
            </a:r>
            <a:r>
              <a:rPr lang="en-US" sz="3200" dirty="0"/>
              <a:t> </a:t>
            </a:r>
            <a:r>
              <a:rPr lang="en-US" sz="3200" i="1" dirty="0"/>
              <a:t>Nosema</a:t>
            </a:r>
            <a:r>
              <a:rPr lang="en-US" sz="3200" dirty="0"/>
              <a:t> </a:t>
            </a:r>
            <a:r>
              <a:rPr lang="en-US" sz="3200" i="1" dirty="0" err="1"/>
              <a:t>bombycis</a:t>
            </a:r>
            <a:r>
              <a:rPr lang="en-US" sz="3200" i="1" dirty="0"/>
              <a:t> </a:t>
            </a:r>
            <a:r>
              <a:rPr lang="bn-IN" sz="3200" dirty="0"/>
              <a:t>পরজীবী এর জন্য দায়ী। পেব্রিন রোগ মারাত্বক সংক্রামক, ইউরোপে রেশম শিল্প ধ্বংস করে, ক্ষতি ০-১০০%। গোলমরিচের মত গুটি তৈরী করে। ২% ব্লিচিং পাউডার দিতে হয়। </a:t>
            </a:r>
            <a:endParaRPr lang="bn-IN" sz="3200" i="1" dirty="0"/>
          </a:p>
          <a:p>
            <a:r>
              <a:rPr lang="bn-IN" sz="3200" i="1" dirty="0"/>
              <a:t> </a:t>
            </a:r>
            <a:r>
              <a:rPr lang="bn-IN" sz="3200" dirty="0"/>
              <a:t>রসা রোগঃ পলিহেড্রাল বা মুক্ত ভাইরাস দায়ী। </a:t>
            </a:r>
          </a:p>
          <a:p>
            <a:r>
              <a:rPr lang="bn-IN" sz="3200" i="1" dirty="0"/>
              <a:t> </a:t>
            </a:r>
            <a:r>
              <a:rPr lang="bn-IN" sz="3200" dirty="0"/>
              <a:t>চুনাকাঠি রোগঃ </a:t>
            </a:r>
            <a:r>
              <a:rPr lang="en-US" sz="3200" i="1" dirty="0"/>
              <a:t>Beauveria </a:t>
            </a:r>
            <a:r>
              <a:rPr lang="en-US" sz="3200" i="1" dirty="0" err="1"/>
              <a:t>bassiana</a:t>
            </a:r>
            <a:r>
              <a:rPr lang="en-US" sz="3200" i="1" dirty="0"/>
              <a:t> </a:t>
            </a:r>
            <a:r>
              <a:rPr lang="bn-IN" sz="3200" dirty="0"/>
              <a:t>ছত্রাক দায়ী। পলু ৩-৫ দিনের মধ্যে মারা যায়, চুন দিতে হয়। </a:t>
            </a:r>
          </a:p>
        </p:txBody>
      </p:sp>
    </p:spTree>
    <p:extLst>
      <p:ext uri="{BB962C8B-B14F-4D97-AF65-F5344CB8AC3E}">
        <p14:creationId xmlns:p14="http://schemas.microsoft.com/office/powerpoint/2010/main" val="19718071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i="1" dirty="0"/>
              <a:t>রেশম পোকা ও রেশম সুতা</a:t>
            </a:r>
            <a:br>
              <a:rPr lang="en-US" i="1" dirty="0"/>
            </a:br>
            <a:endParaRPr lang="en-US" sz="2800" dirty="0">
              <a:solidFill>
                <a:srgbClr val="FFC000"/>
              </a:solidFill>
            </a:endParaRPr>
          </a:p>
        </p:txBody>
      </p:sp>
      <p:sp>
        <p:nvSpPr>
          <p:cNvPr id="4" name="Arrow: Right 3">
            <a:extLst>
              <a:ext uri="{FF2B5EF4-FFF2-40B4-BE49-F238E27FC236}">
                <a16:creationId xmlns:a16="http://schemas.microsoft.com/office/drawing/2014/main" id="{2205D6F0-3071-4513-B38A-05591A8CE7B8}"/>
              </a:ext>
            </a:extLst>
          </p:cNvPr>
          <p:cNvSpPr/>
          <p:nvPr/>
        </p:nvSpPr>
        <p:spPr>
          <a:xfrm>
            <a:off x="2890344" y="3221919"/>
            <a:ext cx="5454870" cy="1765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hlinkClick r:id="rId2" action="ppaction://hlinkfile"/>
            <a:extLst>
              <a:ext uri="{FF2B5EF4-FFF2-40B4-BE49-F238E27FC236}">
                <a16:creationId xmlns:a16="http://schemas.microsoft.com/office/drawing/2014/main" id="{A5F70EAA-241B-444D-B628-36D413984710}"/>
              </a:ext>
            </a:extLst>
          </p:cNvPr>
          <p:cNvSpPr txBox="1"/>
          <p:nvPr/>
        </p:nvSpPr>
        <p:spPr>
          <a:xfrm>
            <a:off x="3058511" y="3689289"/>
            <a:ext cx="4519448" cy="830997"/>
          </a:xfrm>
          <a:prstGeom prst="rect">
            <a:avLst/>
          </a:prstGeom>
          <a:noFill/>
        </p:spPr>
        <p:txBody>
          <a:bodyPr wrap="square" rtlCol="0">
            <a:spAutoFit/>
          </a:bodyPr>
          <a:lstStyle/>
          <a:p>
            <a:r>
              <a:rPr lang="bn-IN" sz="4800" dirty="0"/>
              <a:t>ভিডিও দেখুন</a:t>
            </a:r>
            <a:endParaRPr lang="en-US" sz="4800" dirty="0"/>
          </a:p>
        </p:txBody>
      </p:sp>
    </p:spTree>
    <p:extLst>
      <p:ext uri="{BB962C8B-B14F-4D97-AF65-F5344CB8AC3E}">
        <p14:creationId xmlns:p14="http://schemas.microsoft.com/office/powerpoint/2010/main" val="29891904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উৎপাদন</a:t>
            </a:r>
            <a:br>
              <a:rPr lang="en-US" i="1" dirty="0"/>
            </a:br>
            <a:r>
              <a:rPr lang="bn-IN" sz="2800" dirty="0">
                <a:solidFill>
                  <a:srgbClr val="FFC000"/>
                </a:solidFill>
              </a:rPr>
              <a:t>মাশরুমের ধারণা</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91255"/>
            <a:ext cx="9905998" cy="4393325"/>
          </a:xfrm>
        </p:spPr>
        <p:txBody>
          <a:bodyPr>
            <a:normAutofit/>
          </a:bodyPr>
          <a:lstStyle/>
          <a:p>
            <a:r>
              <a:rPr lang="bn-IN" sz="3200" i="1" dirty="0"/>
              <a:t> </a:t>
            </a:r>
            <a:r>
              <a:rPr lang="bn-IN" sz="3200" dirty="0"/>
              <a:t>মাশরুম হল মৃতজীবী ছত্রাকের ভক্ষণযোগ্য প্রজনন অঙ্গ। ছত্রাক বাছাই করে মাত্র ১০ টি প্রজাতি খাওয়ার জন্য নির্বাচন করা হয়েছে।</a:t>
            </a:r>
          </a:p>
        </p:txBody>
      </p:sp>
    </p:spTree>
    <p:extLst>
      <p:ext uri="{BB962C8B-B14F-4D97-AF65-F5344CB8AC3E}">
        <p14:creationId xmlns:p14="http://schemas.microsoft.com/office/powerpoint/2010/main" val="16774385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উৎপাদন</a:t>
            </a:r>
            <a:br>
              <a:rPr lang="en-US" i="1" dirty="0"/>
            </a:br>
            <a:r>
              <a:rPr lang="bn-IN" sz="2800" dirty="0">
                <a:solidFill>
                  <a:srgbClr val="FFC000"/>
                </a:solidFill>
              </a:rPr>
              <a:t>মাশরুমের প্রকারভেদ</a:t>
            </a:r>
            <a:endParaRPr lang="en-US" sz="2800" dirty="0">
              <a:solidFill>
                <a:srgbClr val="FFC000"/>
              </a:solidFill>
            </a:endParaRPr>
          </a:p>
        </p:txBody>
      </p:sp>
      <p:pic>
        <p:nvPicPr>
          <p:cNvPr id="9" name="Picture 8">
            <a:extLst>
              <a:ext uri="{FF2B5EF4-FFF2-40B4-BE49-F238E27FC236}">
                <a16:creationId xmlns:a16="http://schemas.microsoft.com/office/drawing/2014/main" id="{550BAE9B-4C7F-4145-AD4D-72853B0B78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4315" y="1894161"/>
            <a:ext cx="2333625" cy="2333625"/>
          </a:xfrm>
          <a:prstGeom prst="rect">
            <a:avLst/>
          </a:prstGeom>
        </p:spPr>
      </p:pic>
      <p:pic>
        <p:nvPicPr>
          <p:cNvPr id="11" name="Picture 10">
            <a:extLst>
              <a:ext uri="{FF2B5EF4-FFF2-40B4-BE49-F238E27FC236}">
                <a16:creationId xmlns:a16="http://schemas.microsoft.com/office/drawing/2014/main" id="{59BF4F6B-E5AA-4DA8-A5E2-5147D15C6D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8971" y="1902543"/>
            <a:ext cx="3097486" cy="2323115"/>
          </a:xfrm>
          <a:prstGeom prst="rect">
            <a:avLst/>
          </a:prstGeom>
        </p:spPr>
      </p:pic>
      <p:pic>
        <p:nvPicPr>
          <p:cNvPr id="17" name="Picture 16">
            <a:extLst>
              <a:ext uri="{FF2B5EF4-FFF2-40B4-BE49-F238E27FC236}">
                <a16:creationId xmlns:a16="http://schemas.microsoft.com/office/drawing/2014/main" id="{3ADEA974-E889-4719-9A0F-3EF8399581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0581" y="4236887"/>
            <a:ext cx="4022528" cy="2618984"/>
          </a:xfrm>
          <a:prstGeom prst="rect">
            <a:avLst/>
          </a:prstGeom>
        </p:spPr>
      </p:pic>
      <p:pic>
        <p:nvPicPr>
          <p:cNvPr id="19" name="Picture 18">
            <a:extLst>
              <a:ext uri="{FF2B5EF4-FFF2-40B4-BE49-F238E27FC236}">
                <a16:creationId xmlns:a16="http://schemas.microsoft.com/office/drawing/2014/main" id="{87DADCB9-D349-4B0F-A20B-75B0DC83AE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13109" y="4263166"/>
            <a:ext cx="2853647" cy="2623242"/>
          </a:xfrm>
          <a:prstGeom prst="rect">
            <a:avLst/>
          </a:prstGeom>
        </p:spPr>
      </p:pic>
      <p:pic>
        <p:nvPicPr>
          <p:cNvPr id="20" name="Picture 19">
            <a:extLst>
              <a:ext uri="{FF2B5EF4-FFF2-40B4-BE49-F238E27FC236}">
                <a16:creationId xmlns:a16="http://schemas.microsoft.com/office/drawing/2014/main" id="{C07F19F7-E184-4678-98BD-9A70AB629A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4689" y="1894162"/>
            <a:ext cx="2323115" cy="2342008"/>
          </a:xfrm>
          <a:prstGeom prst="rect">
            <a:avLst/>
          </a:prstGeom>
        </p:spPr>
      </p:pic>
      <p:pic>
        <p:nvPicPr>
          <p:cNvPr id="21" name="Picture 20">
            <a:extLst>
              <a:ext uri="{FF2B5EF4-FFF2-40B4-BE49-F238E27FC236}">
                <a16:creationId xmlns:a16="http://schemas.microsoft.com/office/drawing/2014/main" id="{471904D7-072C-4A02-8825-FC555A4F07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8815" y="1871014"/>
            <a:ext cx="2333625" cy="2367284"/>
          </a:xfrm>
          <a:prstGeom prst="rect">
            <a:avLst/>
          </a:prstGeom>
        </p:spPr>
      </p:pic>
      <p:pic>
        <p:nvPicPr>
          <p:cNvPr id="22" name="Picture 21">
            <a:extLst>
              <a:ext uri="{FF2B5EF4-FFF2-40B4-BE49-F238E27FC236}">
                <a16:creationId xmlns:a16="http://schemas.microsoft.com/office/drawing/2014/main" id="{903C0B6E-150C-4772-A9D6-F515A6EB13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3471" y="1871013"/>
            <a:ext cx="3097486" cy="2353234"/>
          </a:xfrm>
          <a:prstGeom prst="rect">
            <a:avLst/>
          </a:prstGeom>
        </p:spPr>
      </p:pic>
      <p:pic>
        <p:nvPicPr>
          <p:cNvPr id="23" name="Picture 22">
            <a:extLst>
              <a:ext uri="{FF2B5EF4-FFF2-40B4-BE49-F238E27FC236}">
                <a16:creationId xmlns:a16="http://schemas.microsoft.com/office/drawing/2014/main" id="{03DBF588-61C7-46E1-8BF5-6AEE0FED01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31988" y="1871013"/>
            <a:ext cx="3334768" cy="2353234"/>
          </a:xfrm>
          <a:prstGeom prst="rect">
            <a:avLst/>
          </a:prstGeom>
        </p:spPr>
      </p:pic>
      <p:pic>
        <p:nvPicPr>
          <p:cNvPr id="24" name="Picture 23">
            <a:extLst>
              <a:ext uri="{FF2B5EF4-FFF2-40B4-BE49-F238E27FC236}">
                <a16:creationId xmlns:a16="http://schemas.microsoft.com/office/drawing/2014/main" id="{B1728358-B382-41F7-8727-09610378C7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4689" y="4249527"/>
            <a:ext cx="4275893" cy="2618984"/>
          </a:xfrm>
          <a:prstGeom prst="rect">
            <a:avLst/>
          </a:prstGeom>
        </p:spPr>
      </p:pic>
    </p:spTree>
    <p:extLst>
      <p:ext uri="{BB962C8B-B14F-4D97-AF65-F5344CB8AC3E}">
        <p14:creationId xmlns:p14="http://schemas.microsoft.com/office/powerpoint/2010/main" val="41527821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উৎপাদন</a:t>
            </a:r>
            <a:br>
              <a:rPr lang="en-US" i="1" dirty="0"/>
            </a:br>
            <a:r>
              <a:rPr lang="bn-IN" sz="2800" dirty="0">
                <a:solidFill>
                  <a:srgbClr val="FFC000"/>
                </a:solidFill>
              </a:rPr>
              <a:t>মাশরুম চাষের ধাপ </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91255"/>
            <a:ext cx="3724877" cy="4393325"/>
          </a:xfrm>
        </p:spPr>
        <p:txBody>
          <a:bodyPr>
            <a:normAutofit lnSpcReduction="10000"/>
          </a:bodyPr>
          <a:lstStyle/>
          <a:p>
            <a:r>
              <a:rPr lang="en-US" sz="3200" i="1" dirty="0"/>
              <a:t> </a:t>
            </a:r>
            <a:r>
              <a:rPr lang="bn-IN" sz="3200" dirty="0"/>
              <a:t>মাশরুম মূলত দুইটি ধাপে চাষ করা হয়ে থাকে</a:t>
            </a:r>
          </a:p>
          <a:p>
            <a:pPr lvl="1"/>
            <a:r>
              <a:rPr lang="bn-IN" sz="3000" dirty="0"/>
              <a:t> মাশরুমের বীজ (স্পন) উৎপাদন। টিস্যু কালচার পদ্ধতিতে চাষ করা হয়।</a:t>
            </a:r>
          </a:p>
          <a:p>
            <a:pPr lvl="1"/>
            <a:r>
              <a:rPr lang="bn-IN" sz="3000" dirty="0"/>
              <a:t> মাশরুম চাষ </a:t>
            </a:r>
          </a:p>
        </p:txBody>
      </p:sp>
      <p:pic>
        <p:nvPicPr>
          <p:cNvPr id="5" name="Picture 4">
            <a:extLst>
              <a:ext uri="{FF2B5EF4-FFF2-40B4-BE49-F238E27FC236}">
                <a16:creationId xmlns:a16="http://schemas.microsoft.com/office/drawing/2014/main" id="{F475D67C-EA6E-4A61-8158-9F1EB9F64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7115" y="4329764"/>
            <a:ext cx="2081049" cy="2081049"/>
          </a:xfrm>
          <a:prstGeom prst="rect">
            <a:avLst/>
          </a:prstGeom>
        </p:spPr>
      </p:pic>
      <p:pic>
        <p:nvPicPr>
          <p:cNvPr id="7" name="Picture 6">
            <a:extLst>
              <a:ext uri="{FF2B5EF4-FFF2-40B4-BE49-F238E27FC236}">
                <a16:creationId xmlns:a16="http://schemas.microsoft.com/office/drawing/2014/main" id="{D4E36A79-EF7E-4B8C-9948-3CDBFACFF4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3964" y="2251344"/>
            <a:ext cx="3115587" cy="4159469"/>
          </a:xfrm>
          <a:prstGeom prst="rect">
            <a:avLst/>
          </a:prstGeom>
        </p:spPr>
      </p:pic>
      <p:pic>
        <p:nvPicPr>
          <p:cNvPr id="9" name="Picture 8">
            <a:extLst>
              <a:ext uri="{FF2B5EF4-FFF2-40B4-BE49-F238E27FC236}">
                <a16:creationId xmlns:a16="http://schemas.microsoft.com/office/drawing/2014/main" id="{23EABF16-D54B-4DD8-B59D-5F78A196DB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7628" y="2222934"/>
            <a:ext cx="2081049" cy="2081049"/>
          </a:xfrm>
          <a:prstGeom prst="rect">
            <a:avLst/>
          </a:prstGeom>
        </p:spPr>
      </p:pic>
    </p:spTree>
    <p:extLst>
      <p:ext uri="{BB962C8B-B14F-4D97-AF65-F5344CB8AC3E}">
        <p14:creationId xmlns:p14="http://schemas.microsoft.com/office/powerpoint/2010/main" val="11868459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উৎপাদন</a:t>
            </a:r>
            <a:br>
              <a:rPr lang="en-US" i="1" dirty="0"/>
            </a:br>
            <a:r>
              <a:rPr lang="bn-IN" sz="2800" dirty="0">
                <a:solidFill>
                  <a:srgbClr val="FFC000"/>
                </a:solidFill>
              </a:rPr>
              <a:t>মাশরুম স্পন চাষের ধাপ সমূহ </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91255"/>
            <a:ext cx="9831387" cy="4393325"/>
          </a:xfrm>
        </p:spPr>
        <p:txBody>
          <a:bodyPr>
            <a:normAutofit/>
          </a:bodyPr>
          <a:lstStyle/>
          <a:p>
            <a:pPr marL="514350" indent="-514350">
              <a:buFont typeface="+mj-lt"/>
              <a:buAutoNum type="arabicPeriod"/>
            </a:pPr>
            <a:r>
              <a:rPr lang="en-US" sz="3200" i="1" dirty="0"/>
              <a:t> </a:t>
            </a:r>
            <a:r>
              <a:rPr lang="bn-IN" sz="3200" dirty="0"/>
              <a:t>চাষঘর তৈরী করা</a:t>
            </a:r>
          </a:p>
          <a:p>
            <a:pPr marL="514350" indent="-514350">
              <a:buFont typeface="+mj-lt"/>
              <a:buAutoNum type="arabicPeriod"/>
            </a:pPr>
            <a:r>
              <a:rPr lang="bn-IN" sz="3200" dirty="0"/>
              <a:t> তাক নির্মাণ করা</a:t>
            </a:r>
          </a:p>
          <a:p>
            <a:pPr marL="514350" indent="-514350">
              <a:buFont typeface="+mj-lt"/>
              <a:buAutoNum type="arabicPeriod"/>
            </a:pPr>
            <a:r>
              <a:rPr lang="bn-IN" sz="3200" dirty="0"/>
              <a:t> সরঞ্জাম সংগ্রহ করা এবং</a:t>
            </a:r>
          </a:p>
          <a:p>
            <a:pPr marL="514350" indent="-514350">
              <a:buFont typeface="+mj-lt"/>
              <a:buAutoNum type="arabicPeriod"/>
            </a:pPr>
            <a:r>
              <a:rPr lang="bn-IN" sz="3200" dirty="0"/>
              <a:t> বীজ বা স্পন সংগ্রহ করা, পরিবহন ও সংরক্ষন করা</a:t>
            </a:r>
          </a:p>
          <a:p>
            <a:pPr marL="457200" lvl="1" indent="0">
              <a:buNone/>
            </a:pPr>
            <a:endParaRPr lang="bn-IN" sz="3000" dirty="0"/>
          </a:p>
        </p:txBody>
      </p:sp>
    </p:spTree>
    <p:extLst>
      <p:ext uri="{BB962C8B-B14F-4D97-AF65-F5344CB8AC3E}">
        <p14:creationId xmlns:p14="http://schemas.microsoft.com/office/powerpoint/2010/main" val="38513041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স্পন উৎপাদনঃ চাষঘর তৈরী করা</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68167" y="2291255"/>
            <a:ext cx="7851226" cy="4393325"/>
          </a:xfrm>
        </p:spPr>
        <p:txBody>
          <a:bodyPr>
            <a:normAutofit fontScale="92500"/>
          </a:bodyPr>
          <a:lstStyle/>
          <a:p>
            <a:r>
              <a:rPr lang="en-US" sz="3200" i="1" dirty="0"/>
              <a:t> </a:t>
            </a:r>
            <a:r>
              <a:rPr lang="bn-IN" sz="3200"/>
              <a:t>কাঁচা ঘর</a:t>
            </a:r>
            <a:r>
              <a:rPr lang="bn-IN" sz="3200" dirty="0"/>
              <a:t>, পাকা ঘর অথবা সেমিপাকা ঘর </a:t>
            </a:r>
          </a:p>
          <a:p>
            <a:r>
              <a:rPr lang="bn-IN" sz="3200" dirty="0"/>
              <a:t> তাপমাত্রাঃ ২০-৩০ ডিগ্রী সেলসিয়াস</a:t>
            </a:r>
          </a:p>
          <a:p>
            <a:r>
              <a:rPr lang="bn-IN" sz="3200" dirty="0"/>
              <a:t> আদ্রতাঃ ৮০-৯০%, মিহি পানির ঝরনা রাখলে ভালো</a:t>
            </a:r>
          </a:p>
          <a:p>
            <a:r>
              <a:rPr lang="bn-IN" sz="3200" dirty="0"/>
              <a:t> আলোঃ হালকা আলোযুক্ত</a:t>
            </a:r>
          </a:p>
          <a:p>
            <a:r>
              <a:rPr lang="bn-IN" sz="3200" dirty="0"/>
              <a:t> অক্সিজেনঃ কাঠের গুড়া থেকে জারনে খাদ্য খায়</a:t>
            </a:r>
          </a:p>
          <a:p>
            <a:r>
              <a:rPr lang="bn-IN" sz="3200" dirty="0"/>
              <a:t> বায়ুপ্রবাহঃ কার্বন ডাই অক্সাইড বের করে দেয়া</a:t>
            </a:r>
            <a:endParaRPr lang="bn-IN" sz="3000" dirty="0"/>
          </a:p>
        </p:txBody>
      </p:sp>
      <p:pic>
        <p:nvPicPr>
          <p:cNvPr id="5" name="Picture 4">
            <a:extLst>
              <a:ext uri="{FF2B5EF4-FFF2-40B4-BE49-F238E27FC236}">
                <a16:creationId xmlns:a16="http://schemas.microsoft.com/office/drawing/2014/main" id="{176A501B-A983-4A01-878A-461974BA41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8259" y="2291255"/>
            <a:ext cx="3949973" cy="4203641"/>
          </a:xfrm>
          <a:prstGeom prst="rect">
            <a:avLst/>
          </a:prstGeom>
        </p:spPr>
      </p:pic>
    </p:spTree>
    <p:extLst>
      <p:ext uri="{BB962C8B-B14F-4D97-AF65-F5344CB8AC3E}">
        <p14:creationId xmlns:p14="http://schemas.microsoft.com/office/powerpoint/2010/main" val="30592401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স্পন উৎপাদনঃ তাক নির্মাণ করা</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68167" y="2291255"/>
            <a:ext cx="6779171" cy="4393325"/>
          </a:xfrm>
        </p:spPr>
        <p:txBody>
          <a:bodyPr>
            <a:normAutofit/>
          </a:bodyPr>
          <a:lstStyle/>
          <a:p>
            <a:r>
              <a:rPr lang="en-US" sz="2800" i="1" dirty="0"/>
              <a:t> </a:t>
            </a:r>
            <a:r>
              <a:rPr lang="bn-IN" sz="2800" dirty="0"/>
              <a:t>বাশের চাটাই দিয়ে ১.৫-২ মিটার উচ্চতা বিশিষ্ট র‍্যাক। রঙ করতে হবে ঘুন থেকে বাচতে</a:t>
            </a:r>
          </a:p>
          <a:p>
            <a:r>
              <a:rPr lang="bn-IN" sz="2800" dirty="0"/>
              <a:t> বাশের বদলে পিভিসি পাইপ দেয়া যেতে পারে </a:t>
            </a:r>
          </a:p>
          <a:p>
            <a:r>
              <a:rPr lang="bn-IN" sz="2800" dirty="0"/>
              <a:t> পানি স্প্রে সুবিধার্থে তাকের ব্যাবধান ২৫-৩০ সেমি হলে ভালো। বা স্পন প্যাকেটের আড়াই গুন উচ্চতা।</a:t>
            </a:r>
          </a:p>
        </p:txBody>
      </p:sp>
      <p:pic>
        <p:nvPicPr>
          <p:cNvPr id="5" name="Picture 4">
            <a:extLst>
              <a:ext uri="{FF2B5EF4-FFF2-40B4-BE49-F238E27FC236}">
                <a16:creationId xmlns:a16="http://schemas.microsoft.com/office/drawing/2014/main" id="{176A501B-A983-4A01-878A-461974BA416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31724" y="2381967"/>
            <a:ext cx="5296509" cy="3967269"/>
          </a:xfrm>
          <a:prstGeom prst="rect">
            <a:avLst/>
          </a:prstGeom>
        </p:spPr>
      </p:pic>
      <p:sp>
        <p:nvSpPr>
          <p:cNvPr id="6" name="TextBox 5">
            <a:extLst>
              <a:ext uri="{FF2B5EF4-FFF2-40B4-BE49-F238E27FC236}">
                <a16:creationId xmlns:a16="http://schemas.microsoft.com/office/drawing/2014/main" id="{1B676837-2572-46D4-B0BD-1AE2C8A89855}"/>
              </a:ext>
            </a:extLst>
          </p:cNvPr>
          <p:cNvSpPr txBox="1"/>
          <p:nvPr/>
        </p:nvSpPr>
        <p:spPr>
          <a:xfrm>
            <a:off x="9133490" y="2638096"/>
            <a:ext cx="2659117" cy="830997"/>
          </a:xfrm>
          <a:prstGeom prst="rect">
            <a:avLst/>
          </a:prstGeom>
          <a:solidFill>
            <a:schemeClr val="bg2"/>
          </a:solidFill>
        </p:spPr>
        <p:txBody>
          <a:bodyPr wrap="square" rtlCol="0">
            <a:spAutoFit/>
          </a:bodyPr>
          <a:lstStyle/>
          <a:p>
            <a:pPr algn="ctr"/>
            <a:r>
              <a:rPr lang="bn-IN" sz="2400" dirty="0"/>
              <a:t>মাশরুমের তাক</a:t>
            </a:r>
          </a:p>
          <a:p>
            <a:endParaRPr lang="bn-IN" sz="2400" dirty="0"/>
          </a:p>
        </p:txBody>
      </p:sp>
    </p:spTree>
    <p:extLst>
      <p:ext uri="{BB962C8B-B14F-4D97-AF65-F5344CB8AC3E}">
        <p14:creationId xmlns:p14="http://schemas.microsoft.com/office/powerpoint/2010/main" val="22338703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স্পন উৎপাদনঃ সরঞ্জাম সংগ্রহ</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891862" y="3005960"/>
            <a:ext cx="7767146" cy="2385848"/>
          </a:xfrm>
        </p:spPr>
        <p:txBody>
          <a:bodyPr>
            <a:normAutofit/>
          </a:bodyPr>
          <a:lstStyle/>
          <a:p>
            <a:r>
              <a:rPr lang="en-US" sz="3200" i="1" dirty="0"/>
              <a:t> </a:t>
            </a:r>
            <a:r>
              <a:rPr lang="bn-IN" sz="3200" dirty="0"/>
              <a:t>ছোট আকারের হ্যান্ড স্প্রে, একটি থার্মোমিটার, ব্লেড ও বালতি। </a:t>
            </a:r>
            <a:endParaRPr lang="bn-IN" sz="3000" dirty="0"/>
          </a:p>
        </p:txBody>
      </p:sp>
    </p:spTree>
    <p:extLst>
      <p:ext uri="{BB962C8B-B14F-4D97-AF65-F5344CB8AC3E}">
        <p14:creationId xmlns:p14="http://schemas.microsoft.com/office/powerpoint/2010/main" val="35926521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স্পন উৎপাদনঃ স্পন সংগ্রহ, পরিবহন ও সংরক্ষণ</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6568262" cy="3975538"/>
          </a:xfrm>
        </p:spPr>
        <p:txBody>
          <a:bodyPr>
            <a:normAutofit fontScale="92500" lnSpcReduction="20000"/>
          </a:bodyPr>
          <a:lstStyle/>
          <a:p>
            <a:r>
              <a:rPr lang="en-US" sz="3200" i="1" dirty="0"/>
              <a:t> </a:t>
            </a:r>
            <a:r>
              <a:rPr lang="bn-IN" sz="3200" dirty="0"/>
              <a:t> মানসম্মত স্পন প্যাকেট সংগ্রহ</a:t>
            </a:r>
          </a:p>
          <a:p>
            <a:r>
              <a:rPr lang="bn-IN" sz="3200" dirty="0"/>
              <a:t> প্যাকেটটি সুষমভাবে মাইসেলিয়াম দ্বারা পূর্ণ হবে</a:t>
            </a:r>
          </a:p>
          <a:p>
            <a:r>
              <a:rPr lang="bn-IN" sz="3200" dirty="0"/>
              <a:t> ঠান্ডা পরিবেশে সন্ধায় পরিবহন করা</a:t>
            </a:r>
          </a:p>
          <a:p>
            <a:r>
              <a:rPr lang="bn-IN" sz="3200" dirty="0"/>
              <a:t> ছিদ্রযুক্ত বস্তা ব্যাবহার করা</a:t>
            </a:r>
          </a:p>
          <a:p>
            <a:r>
              <a:rPr lang="bn-IN" sz="3200" dirty="0"/>
              <a:t> ২৫ ডিগ্রি সেলসিয়াস তাপমাত্রা প্যাকেট না কেটে ১ মাস সংগ্ররন করা যেতে পারে ।</a:t>
            </a:r>
            <a:endParaRPr lang="bn-IN" sz="3000" dirty="0"/>
          </a:p>
        </p:txBody>
      </p:sp>
      <p:pic>
        <p:nvPicPr>
          <p:cNvPr id="5" name="Picture 4">
            <a:extLst>
              <a:ext uri="{FF2B5EF4-FFF2-40B4-BE49-F238E27FC236}">
                <a16:creationId xmlns:a16="http://schemas.microsoft.com/office/drawing/2014/main" id="{E0714889-2355-48A0-B7C3-0C3D9EB711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0510" y="2299138"/>
            <a:ext cx="3975538" cy="3975538"/>
          </a:xfrm>
          <a:prstGeom prst="rect">
            <a:avLst/>
          </a:prstGeom>
        </p:spPr>
      </p:pic>
    </p:spTree>
    <p:extLst>
      <p:ext uri="{BB962C8B-B14F-4D97-AF65-F5344CB8AC3E}">
        <p14:creationId xmlns:p14="http://schemas.microsoft.com/office/powerpoint/2010/main" val="4396737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সাশ্রয়ী মাশরুম চাষ পদ্ধতি</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6568262" cy="3975538"/>
          </a:xfrm>
        </p:spPr>
        <p:txBody>
          <a:bodyPr>
            <a:normAutofit fontScale="85000" lnSpcReduction="20000"/>
          </a:bodyPr>
          <a:lstStyle/>
          <a:p>
            <a:r>
              <a:rPr lang="en-US" sz="3200" i="1" dirty="0"/>
              <a:t> </a:t>
            </a:r>
            <a:r>
              <a:rPr lang="bn-IN" sz="3200" dirty="0"/>
              <a:t> ধানের খড়ের সাথে স্পন প্যাকেট ভেংগে মেশাবো</a:t>
            </a:r>
          </a:p>
          <a:p>
            <a:r>
              <a:rPr lang="bn-IN" sz="3200" dirty="0"/>
              <a:t> প্রতি বেডে ১.৫-২ কেজি খড়</a:t>
            </a:r>
          </a:p>
          <a:p>
            <a:r>
              <a:rPr lang="bn-IN" sz="3200" dirty="0"/>
              <a:t> প্রতি বেডে ২০০ গ্রাম স্পন </a:t>
            </a:r>
          </a:p>
          <a:p>
            <a:r>
              <a:rPr lang="bn-IN" sz="3200" dirty="0"/>
              <a:t> ৪০</a:t>
            </a:r>
            <a:r>
              <a:rPr lang="en-US" sz="3200" dirty="0"/>
              <a:t>x</a:t>
            </a:r>
            <a:r>
              <a:rPr lang="bn-IN" sz="3200" dirty="0"/>
              <a:t>৮০ বর্গসেমি পলিথিন ব্যাগ</a:t>
            </a:r>
          </a:p>
          <a:p>
            <a:r>
              <a:rPr lang="bn-IN" sz="3200" dirty="0"/>
              <a:t> ২০-৩০ ডিগ্রি তাপমাত্রা , আদ্রতা ৭০-৮০%</a:t>
            </a:r>
          </a:p>
          <a:p>
            <a:r>
              <a:rPr lang="bn-IN" sz="3200" dirty="0"/>
              <a:t> কিছুটা ক্ষারত্ব লাগবে , ২০০ গ্রাম চুন/কেজি খড়</a:t>
            </a:r>
            <a:endParaRPr lang="bn-IN" sz="3000" dirty="0"/>
          </a:p>
        </p:txBody>
      </p:sp>
      <p:pic>
        <p:nvPicPr>
          <p:cNvPr id="5" name="Picture 4">
            <a:extLst>
              <a:ext uri="{FF2B5EF4-FFF2-40B4-BE49-F238E27FC236}">
                <a16:creationId xmlns:a16="http://schemas.microsoft.com/office/drawing/2014/main" id="{E0714889-2355-48A0-B7C3-0C3D9EB711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451834" y="2256599"/>
            <a:ext cx="4154214" cy="4154214"/>
          </a:xfrm>
          <a:prstGeom prst="rect">
            <a:avLst/>
          </a:prstGeom>
        </p:spPr>
      </p:pic>
    </p:spTree>
    <p:extLst>
      <p:ext uri="{BB962C8B-B14F-4D97-AF65-F5344CB8AC3E}">
        <p14:creationId xmlns:p14="http://schemas.microsoft.com/office/powerpoint/2010/main" val="2776510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সাশ্রয়ী মাশরুম চাষ পদ্ধতি</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6568262" cy="3975538"/>
          </a:xfrm>
        </p:spPr>
        <p:txBody>
          <a:bodyPr>
            <a:normAutofit fontScale="92500" lnSpcReduction="20000"/>
          </a:bodyPr>
          <a:lstStyle/>
          <a:p>
            <a:r>
              <a:rPr lang="en-US" sz="3200" i="1" dirty="0"/>
              <a:t> </a:t>
            </a:r>
            <a:r>
              <a:rPr lang="bn-IN" sz="3200" dirty="0"/>
              <a:t> ২.৫ -৪ সেমি খড়ের টুকরো করবো </a:t>
            </a:r>
          </a:p>
          <a:p>
            <a:r>
              <a:rPr lang="bn-IN" sz="3200" dirty="0"/>
              <a:t> রাতে পানিতে ভিজিয়ে রাখবো,</a:t>
            </a:r>
          </a:p>
          <a:p>
            <a:r>
              <a:rPr lang="bn-IN" sz="3200" dirty="0"/>
              <a:t> পানি ঝড়িয়ে আবার ফুটন্ত পানিতে রাখবো ।</a:t>
            </a:r>
          </a:p>
          <a:p>
            <a:r>
              <a:rPr lang="bn-IN" sz="3200" dirty="0"/>
              <a:t> প্যাকেটে প্রথমে খড় তারপর স্পন তারপর আবার খড় দেবো </a:t>
            </a:r>
          </a:p>
          <a:p>
            <a:r>
              <a:rPr lang="bn-IN" sz="3200" dirty="0"/>
              <a:t> মাইসেলিয়া পূর্ণ হয়ে গেলে প্যাকেট ৬-৭ টি স্থানে কেটে তাকে সাজিয়ে রাখবো</a:t>
            </a:r>
            <a:endParaRPr lang="bn-IN" sz="3000" dirty="0"/>
          </a:p>
        </p:txBody>
      </p:sp>
      <p:pic>
        <p:nvPicPr>
          <p:cNvPr id="5" name="Picture 4">
            <a:extLst>
              <a:ext uri="{FF2B5EF4-FFF2-40B4-BE49-F238E27FC236}">
                <a16:creationId xmlns:a16="http://schemas.microsoft.com/office/drawing/2014/main" id="{E0714889-2355-48A0-B7C3-0C3D9EB711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451834" y="2256599"/>
            <a:ext cx="4154214" cy="4154214"/>
          </a:xfrm>
          <a:prstGeom prst="rect">
            <a:avLst/>
          </a:prstGeom>
        </p:spPr>
      </p:pic>
    </p:spTree>
    <p:extLst>
      <p:ext uri="{BB962C8B-B14F-4D97-AF65-F5344CB8AC3E}">
        <p14:creationId xmlns:p14="http://schemas.microsoft.com/office/powerpoint/2010/main" val="27687061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bn-IN" dirty="0"/>
              <a:t>ওয়েস্টার মাশরুম চাষের আধুনিক পদ্ধতি</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5762296" cy="3975538"/>
          </a:xfrm>
        </p:spPr>
        <p:txBody>
          <a:bodyPr>
            <a:normAutofit fontScale="47500" lnSpcReduction="20000"/>
          </a:bodyPr>
          <a:lstStyle/>
          <a:p>
            <a:r>
              <a:rPr lang="en-US" sz="3200" i="1" dirty="0"/>
              <a:t> </a:t>
            </a:r>
            <a:r>
              <a:rPr lang="en-US" sz="3200" dirty="0" err="1"/>
              <a:t>কাঠের</a:t>
            </a:r>
            <a:r>
              <a:rPr lang="en-US" sz="3200" dirty="0"/>
              <a:t> </a:t>
            </a:r>
            <a:r>
              <a:rPr lang="en-US" sz="3200" dirty="0" err="1"/>
              <a:t>গুড়া</a:t>
            </a:r>
            <a:r>
              <a:rPr lang="en-US" sz="3200" dirty="0"/>
              <a:t> </a:t>
            </a:r>
            <a:r>
              <a:rPr lang="en-US" sz="3200" dirty="0" err="1"/>
              <a:t>প্লাস্টিকের</a:t>
            </a:r>
            <a:r>
              <a:rPr lang="en-US" sz="3200" dirty="0"/>
              <a:t> </a:t>
            </a:r>
            <a:r>
              <a:rPr lang="en-US" sz="3200" dirty="0" err="1"/>
              <a:t>গামলায়</a:t>
            </a:r>
            <a:endParaRPr lang="en-US" sz="3200" dirty="0"/>
          </a:p>
          <a:p>
            <a:r>
              <a:rPr lang="en-US" sz="3200" dirty="0"/>
              <a:t> </a:t>
            </a:r>
            <a:r>
              <a:rPr lang="en-US" sz="3200" dirty="0" err="1"/>
              <a:t>গুড়ার</a:t>
            </a:r>
            <a:r>
              <a:rPr lang="en-US" sz="3200" dirty="0"/>
              <a:t> ১/৪ </a:t>
            </a:r>
            <a:r>
              <a:rPr lang="en-US" sz="3200" dirty="0" err="1"/>
              <a:t>ভাগ</a:t>
            </a:r>
            <a:r>
              <a:rPr lang="en-US" sz="3200" dirty="0"/>
              <a:t> </a:t>
            </a:r>
            <a:r>
              <a:rPr lang="en-US" sz="3200" dirty="0" err="1"/>
              <a:t>ধানের</a:t>
            </a:r>
            <a:r>
              <a:rPr lang="en-US" sz="3200" dirty="0"/>
              <a:t> </a:t>
            </a:r>
            <a:r>
              <a:rPr lang="en-US" sz="3200" dirty="0" err="1"/>
              <a:t>কুড়া</a:t>
            </a:r>
            <a:r>
              <a:rPr lang="en-US" sz="3200" dirty="0"/>
              <a:t> + </a:t>
            </a:r>
            <a:r>
              <a:rPr lang="en-US" sz="3200" dirty="0" err="1"/>
              <a:t>গুড়ার</a:t>
            </a:r>
            <a:r>
              <a:rPr lang="en-US" sz="3200" dirty="0"/>
              <a:t> ৬৫% </a:t>
            </a:r>
            <a:r>
              <a:rPr lang="en-US" sz="3200" dirty="0" err="1"/>
              <a:t>পানি</a:t>
            </a:r>
            <a:r>
              <a:rPr lang="en-US" sz="3200" dirty="0"/>
              <a:t> </a:t>
            </a:r>
            <a:r>
              <a:rPr lang="en-US" sz="3200" dirty="0" err="1"/>
              <a:t>দিতে</a:t>
            </a:r>
            <a:r>
              <a:rPr lang="en-US" sz="3200" dirty="0"/>
              <a:t> </a:t>
            </a:r>
            <a:r>
              <a:rPr lang="en-US" sz="3200" dirty="0" err="1"/>
              <a:t>হবে</a:t>
            </a:r>
            <a:endParaRPr lang="en-US" sz="3200" dirty="0"/>
          </a:p>
          <a:p>
            <a:r>
              <a:rPr lang="en-US" sz="3200" dirty="0"/>
              <a:t> </a:t>
            </a:r>
            <a:r>
              <a:rPr lang="en-US" sz="3200" dirty="0" err="1"/>
              <a:t>পলিথিন</a:t>
            </a:r>
            <a:r>
              <a:rPr lang="en-US" sz="3200" dirty="0"/>
              <a:t> </a:t>
            </a:r>
            <a:r>
              <a:rPr lang="en-US" sz="3200" dirty="0" err="1"/>
              <a:t>ব্যাগে</a:t>
            </a:r>
            <a:r>
              <a:rPr lang="en-US" sz="3200" dirty="0"/>
              <a:t> ৫০০ </a:t>
            </a:r>
            <a:r>
              <a:rPr lang="en-US" sz="3200" dirty="0" err="1"/>
              <a:t>গ্রাম</a:t>
            </a:r>
            <a:r>
              <a:rPr lang="en-US" sz="3200" dirty="0"/>
              <a:t> </a:t>
            </a:r>
            <a:r>
              <a:rPr lang="en-US" sz="3200" dirty="0" err="1"/>
              <a:t>গুড়া</a:t>
            </a:r>
            <a:r>
              <a:rPr lang="en-US" sz="3200" dirty="0"/>
              <a:t>, </a:t>
            </a:r>
            <a:r>
              <a:rPr lang="en-US" sz="3200" dirty="0" err="1"/>
              <a:t>মুখ</a:t>
            </a:r>
            <a:r>
              <a:rPr lang="en-US" sz="3200" dirty="0"/>
              <a:t> </a:t>
            </a:r>
            <a:r>
              <a:rPr lang="en-US" sz="3200" dirty="0" err="1"/>
              <a:t>কটন</a:t>
            </a:r>
            <a:r>
              <a:rPr lang="en-US" sz="3200" dirty="0"/>
              <a:t> </a:t>
            </a:r>
            <a:r>
              <a:rPr lang="en-US" sz="3200" dirty="0" err="1"/>
              <a:t>প্লাগ</a:t>
            </a:r>
            <a:r>
              <a:rPr lang="en-US" sz="3200" dirty="0"/>
              <a:t> </a:t>
            </a:r>
            <a:r>
              <a:rPr lang="en-US" sz="3200" dirty="0" err="1"/>
              <a:t>দ্বারা</a:t>
            </a:r>
            <a:r>
              <a:rPr lang="en-US" sz="3200" dirty="0"/>
              <a:t> </a:t>
            </a:r>
            <a:r>
              <a:rPr lang="en-US" sz="3200" dirty="0" err="1"/>
              <a:t>বন্ধ</a:t>
            </a:r>
            <a:r>
              <a:rPr lang="en-US" sz="3200" dirty="0"/>
              <a:t> </a:t>
            </a:r>
            <a:r>
              <a:rPr lang="en-US" sz="3200" dirty="0" err="1"/>
              <a:t>করতে</a:t>
            </a:r>
            <a:r>
              <a:rPr lang="en-US" sz="3200" dirty="0"/>
              <a:t> </a:t>
            </a:r>
            <a:r>
              <a:rPr lang="en-US" sz="3200" dirty="0" err="1"/>
              <a:t>হবে</a:t>
            </a:r>
            <a:endParaRPr lang="en-US" sz="3200" dirty="0"/>
          </a:p>
          <a:p>
            <a:r>
              <a:rPr lang="en-US" sz="3200" dirty="0"/>
              <a:t> </a:t>
            </a:r>
            <a:r>
              <a:rPr lang="en-US" sz="3200" dirty="0" err="1"/>
              <a:t>ব্যাগগুলো</a:t>
            </a:r>
            <a:r>
              <a:rPr lang="en-US" sz="3200" dirty="0"/>
              <a:t> </a:t>
            </a:r>
            <a:r>
              <a:rPr lang="en-US" sz="3200" dirty="0" err="1"/>
              <a:t>অটোক্লেভে</a:t>
            </a:r>
            <a:r>
              <a:rPr lang="en-US" sz="3200" dirty="0"/>
              <a:t> </a:t>
            </a:r>
            <a:r>
              <a:rPr lang="en-US" sz="3200" dirty="0" err="1"/>
              <a:t>জীবাণু</a:t>
            </a:r>
            <a:r>
              <a:rPr lang="en-US" sz="3200" dirty="0"/>
              <a:t> </a:t>
            </a:r>
            <a:r>
              <a:rPr lang="en-US" sz="3200" dirty="0" err="1"/>
              <a:t>শোধন</a:t>
            </a:r>
            <a:r>
              <a:rPr lang="en-US" sz="3200" dirty="0"/>
              <a:t> </a:t>
            </a:r>
            <a:r>
              <a:rPr lang="en-US" sz="3200" dirty="0" err="1"/>
              <a:t>করতে</a:t>
            </a:r>
            <a:r>
              <a:rPr lang="en-US" sz="3200" dirty="0"/>
              <a:t> </a:t>
            </a:r>
            <a:r>
              <a:rPr lang="en-US" sz="3200" dirty="0" err="1"/>
              <a:t>হবে</a:t>
            </a:r>
            <a:endParaRPr lang="en-US" sz="3200" dirty="0"/>
          </a:p>
          <a:p>
            <a:r>
              <a:rPr lang="en-US" sz="3200" dirty="0"/>
              <a:t> এরপর </a:t>
            </a:r>
            <a:r>
              <a:rPr lang="en-US" sz="3200" dirty="0" err="1"/>
              <a:t>প্যাকেটে</a:t>
            </a:r>
            <a:r>
              <a:rPr lang="en-US" sz="3200" dirty="0"/>
              <a:t> </a:t>
            </a:r>
            <a:r>
              <a:rPr lang="en-US" sz="3200" dirty="0" err="1"/>
              <a:t>মাশরুমের</a:t>
            </a:r>
            <a:r>
              <a:rPr lang="en-US" sz="3200" dirty="0"/>
              <a:t> </a:t>
            </a:r>
            <a:r>
              <a:rPr lang="en-US" sz="3200" dirty="0" err="1"/>
              <a:t>স্পন</a:t>
            </a:r>
            <a:r>
              <a:rPr lang="en-US" sz="3200" dirty="0"/>
              <a:t> </a:t>
            </a:r>
            <a:r>
              <a:rPr lang="en-US" sz="3200" dirty="0" err="1"/>
              <a:t>ঢুকিয়ে</a:t>
            </a:r>
            <a:r>
              <a:rPr lang="en-US" sz="3200" dirty="0"/>
              <a:t> </a:t>
            </a:r>
            <a:r>
              <a:rPr lang="en-US" sz="3200" dirty="0" err="1"/>
              <a:t>দিতে</a:t>
            </a:r>
            <a:r>
              <a:rPr lang="en-US" sz="3200" dirty="0"/>
              <a:t> </a:t>
            </a:r>
            <a:r>
              <a:rPr lang="en-US" sz="3200" dirty="0" err="1"/>
              <a:t>হবে</a:t>
            </a:r>
            <a:endParaRPr lang="en-US" sz="3200" dirty="0"/>
          </a:p>
          <a:p>
            <a:r>
              <a:rPr lang="en-US" sz="3200" dirty="0"/>
              <a:t> </a:t>
            </a:r>
            <a:r>
              <a:rPr lang="en-US" sz="3200" dirty="0" err="1"/>
              <a:t>গরমে</a:t>
            </a:r>
            <a:r>
              <a:rPr lang="en-US" sz="3200" dirty="0"/>
              <a:t> </a:t>
            </a:r>
            <a:r>
              <a:rPr lang="en-US" sz="3200" dirty="0" err="1"/>
              <a:t>দিনে</a:t>
            </a:r>
            <a:r>
              <a:rPr lang="en-US" sz="3200" dirty="0"/>
              <a:t> ৪/৫ </a:t>
            </a:r>
            <a:r>
              <a:rPr lang="en-US" sz="3200" dirty="0" err="1"/>
              <a:t>বার</a:t>
            </a:r>
            <a:r>
              <a:rPr lang="en-US" sz="3200" dirty="0"/>
              <a:t> ও </a:t>
            </a:r>
            <a:r>
              <a:rPr lang="en-US" sz="3200" dirty="0" err="1"/>
              <a:t>শীতে</a:t>
            </a:r>
            <a:r>
              <a:rPr lang="en-US" sz="3200" dirty="0"/>
              <a:t> </a:t>
            </a:r>
            <a:r>
              <a:rPr lang="en-US" sz="3200" dirty="0" err="1"/>
              <a:t>দিনে</a:t>
            </a:r>
            <a:r>
              <a:rPr lang="en-US" sz="3200" dirty="0"/>
              <a:t> ২/৩ </a:t>
            </a:r>
            <a:r>
              <a:rPr lang="en-US" sz="3200" dirty="0" err="1"/>
              <a:t>বার</a:t>
            </a:r>
            <a:r>
              <a:rPr lang="en-US" sz="3200" dirty="0"/>
              <a:t> </a:t>
            </a:r>
            <a:r>
              <a:rPr lang="en-US" sz="3200" dirty="0" err="1"/>
              <a:t>পানির</a:t>
            </a:r>
            <a:r>
              <a:rPr lang="en-US" sz="3200" dirty="0"/>
              <a:t> </a:t>
            </a:r>
            <a:r>
              <a:rPr lang="en-US" sz="3200" dirty="0" err="1"/>
              <a:t>স্প্রে</a:t>
            </a:r>
            <a:r>
              <a:rPr lang="en-US" sz="3200" dirty="0"/>
              <a:t> </a:t>
            </a:r>
            <a:r>
              <a:rPr lang="en-US" sz="3200" dirty="0" err="1"/>
              <a:t>করতে</a:t>
            </a:r>
            <a:r>
              <a:rPr lang="en-US" sz="3200" dirty="0"/>
              <a:t> </a:t>
            </a:r>
            <a:r>
              <a:rPr lang="en-US" sz="3200" dirty="0" err="1"/>
              <a:t>হবে</a:t>
            </a:r>
            <a:endParaRPr lang="en-US" sz="3200" dirty="0"/>
          </a:p>
          <a:p>
            <a:r>
              <a:rPr lang="en-US" sz="3000" dirty="0" err="1"/>
              <a:t>তাপমাত্রা</a:t>
            </a:r>
            <a:r>
              <a:rPr lang="en-US" sz="3000" dirty="0"/>
              <a:t> ২০-২৫ </a:t>
            </a:r>
            <a:r>
              <a:rPr lang="en-US" sz="3000" dirty="0" err="1"/>
              <a:t>ডিগ্রি</a:t>
            </a:r>
            <a:r>
              <a:rPr lang="en-US" sz="3000" dirty="0"/>
              <a:t> </a:t>
            </a:r>
            <a:r>
              <a:rPr lang="en-US" sz="3000" dirty="0" err="1"/>
              <a:t>থাকবে</a:t>
            </a:r>
            <a:endParaRPr lang="en-US" sz="3000" dirty="0"/>
          </a:p>
          <a:p>
            <a:r>
              <a:rPr lang="en-US" sz="3000" dirty="0" err="1"/>
              <a:t>ব্যাগে</a:t>
            </a:r>
            <a:r>
              <a:rPr lang="en-US" sz="3000" dirty="0"/>
              <a:t> </a:t>
            </a:r>
            <a:r>
              <a:rPr lang="en-US" sz="3000" dirty="0" err="1"/>
              <a:t>সাদা</a:t>
            </a:r>
            <a:r>
              <a:rPr lang="en-US" sz="3000" dirty="0"/>
              <a:t> </a:t>
            </a:r>
            <a:r>
              <a:rPr lang="en-US" sz="3000" dirty="0" err="1"/>
              <a:t>মাইসেলিয়া</a:t>
            </a:r>
            <a:r>
              <a:rPr lang="en-US" sz="3000" dirty="0"/>
              <a:t> </a:t>
            </a:r>
            <a:r>
              <a:rPr lang="en-US" sz="3000" dirty="0" err="1"/>
              <a:t>দেখলে</a:t>
            </a:r>
            <a:r>
              <a:rPr lang="en-US" sz="3000" dirty="0"/>
              <a:t> </a:t>
            </a:r>
            <a:r>
              <a:rPr lang="en-US" sz="3000" dirty="0" err="1"/>
              <a:t>চামচ</a:t>
            </a:r>
            <a:r>
              <a:rPr lang="en-US" sz="3000" dirty="0"/>
              <a:t> </a:t>
            </a:r>
            <a:r>
              <a:rPr lang="en-US" sz="3000" dirty="0" err="1"/>
              <a:t>দিয়ে</a:t>
            </a:r>
            <a:r>
              <a:rPr lang="en-US" sz="3000" dirty="0"/>
              <a:t> </a:t>
            </a:r>
            <a:r>
              <a:rPr lang="en-US" sz="3000" dirty="0" err="1"/>
              <a:t>চেছে</a:t>
            </a:r>
            <a:r>
              <a:rPr lang="en-US" sz="3000" dirty="0"/>
              <a:t> </a:t>
            </a:r>
            <a:r>
              <a:rPr lang="en-US" sz="3000" dirty="0" err="1"/>
              <a:t>ফেলবো</a:t>
            </a:r>
            <a:r>
              <a:rPr lang="en-US" sz="3000" dirty="0"/>
              <a:t> ও D </a:t>
            </a:r>
            <a:r>
              <a:rPr lang="en-US" sz="3000" dirty="0" err="1"/>
              <a:t>আকৃতিতে</a:t>
            </a:r>
            <a:r>
              <a:rPr lang="en-US" sz="3000" dirty="0"/>
              <a:t> </a:t>
            </a:r>
            <a:r>
              <a:rPr lang="en-US" sz="3000" dirty="0" err="1"/>
              <a:t>ব্যাগ</a:t>
            </a:r>
            <a:r>
              <a:rPr lang="en-US" sz="3000" dirty="0"/>
              <a:t> </a:t>
            </a:r>
            <a:r>
              <a:rPr lang="en-US" sz="3000" dirty="0" err="1"/>
              <a:t>কেটে</a:t>
            </a:r>
            <a:r>
              <a:rPr lang="en-US" sz="3000" dirty="0"/>
              <a:t> </a:t>
            </a:r>
            <a:r>
              <a:rPr lang="en-US" sz="3000" dirty="0" err="1"/>
              <a:t>দেব</a:t>
            </a:r>
            <a:r>
              <a:rPr lang="en-US" sz="3000" dirty="0"/>
              <a:t> </a:t>
            </a:r>
          </a:p>
          <a:p>
            <a:r>
              <a:rPr lang="en-US" sz="3000" dirty="0"/>
              <a:t>১০-১৫ </a:t>
            </a:r>
            <a:r>
              <a:rPr lang="en-US" sz="3000" dirty="0" err="1"/>
              <a:t>দিনের</a:t>
            </a:r>
            <a:r>
              <a:rPr lang="en-US" sz="3000" dirty="0"/>
              <a:t> </a:t>
            </a:r>
            <a:r>
              <a:rPr lang="en-US" sz="3000" dirty="0" err="1"/>
              <a:t>মধ্যেই</a:t>
            </a:r>
            <a:r>
              <a:rPr lang="en-US" sz="3000" dirty="0"/>
              <a:t> </a:t>
            </a:r>
            <a:r>
              <a:rPr lang="en-US" sz="3000" dirty="0" err="1"/>
              <a:t>মাধরুম</a:t>
            </a:r>
            <a:r>
              <a:rPr lang="en-US" sz="3000" dirty="0"/>
              <a:t> </a:t>
            </a:r>
            <a:r>
              <a:rPr lang="en-US" sz="3000" dirty="0" err="1"/>
              <a:t>গজাবে</a:t>
            </a:r>
            <a:r>
              <a:rPr lang="en-US" sz="3000" dirty="0"/>
              <a:t>। ৬-৭ </a:t>
            </a:r>
            <a:r>
              <a:rPr lang="en-US" sz="3000" dirty="0" err="1"/>
              <a:t>বার</a:t>
            </a:r>
            <a:r>
              <a:rPr lang="en-US" sz="3000" dirty="0"/>
              <a:t> ২০০- ২৫০ </a:t>
            </a:r>
            <a:r>
              <a:rPr lang="en-US" sz="3000" dirty="0" err="1"/>
              <a:t>গ্রাম</a:t>
            </a:r>
            <a:r>
              <a:rPr lang="en-US" sz="3000" dirty="0"/>
              <a:t> </a:t>
            </a:r>
            <a:r>
              <a:rPr lang="en-US" sz="3000" dirty="0" err="1"/>
              <a:t>মাশরুম</a:t>
            </a:r>
            <a:r>
              <a:rPr lang="en-US" sz="3000" dirty="0"/>
              <a:t> </a:t>
            </a:r>
            <a:r>
              <a:rPr lang="en-US" sz="3000" dirty="0" err="1"/>
              <a:t>পাওয়া</a:t>
            </a:r>
            <a:r>
              <a:rPr lang="en-US" sz="3000" dirty="0"/>
              <a:t> </a:t>
            </a:r>
            <a:r>
              <a:rPr lang="en-US" sz="3000" dirty="0" err="1"/>
              <a:t>যায়</a:t>
            </a:r>
            <a:endParaRPr lang="en-US" sz="3000" dirty="0"/>
          </a:p>
        </p:txBody>
      </p:sp>
      <p:pic>
        <p:nvPicPr>
          <p:cNvPr id="5" name="Picture 4">
            <a:extLst>
              <a:ext uri="{FF2B5EF4-FFF2-40B4-BE49-F238E27FC236}">
                <a16:creationId xmlns:a16="http://schemas.microsoft.com/office/drawing/2014/main" id="{E0714889-2355-48A0-B7C3-0C3D9EB711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14524" y="2647293"/>
            <a:ext cx="5091524" cy="3279227"/>
          </a:xfrm>
          <a:prstGeom prst="rect">
            <a:avLst/>
          </a:prstGeom>
        </p:spPr>
      </p:pic>
    </p:spTree>
    <p:extLst>
      <p:ext uri="{BB962C8B-B14F-4D97-AF65-F5344CB8AC3E}">
        <p14:creationId xmlns:p14="http://schemas.microsoft.com/office/powerpoint/2010/main" val="5114398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মাশরুমের</a:t>
            </a:r>
            <a:r>
              <a:rPr lang="en-US" dirty="0"/>
              <a:t> </a:t>
            </a:r>
            <a:r>
              <a:rPr lang="en-US" dirty="0" err="1"/>
              <a:t>রোগ</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5762296" cy="3975538"/>
          </a:xfrm>
        </p:spPr>
        <p:txBody>
          <a:bodyPr>
            <a:normAutofit fontScale="85000" lnSpcReduction="10000"/>
          </a:bodyPr>
          <a:lstStyle/>
          <a:p>
            <a:r>
              <a:rPr lang="en-US" sz="3200" i="1" dirty="0"/>
              <a:t> </a:t>
            </a:r>
            <a:r>
              <a:rPr lang="en-US" sz="3200" dirty="0" err="1"/>
              <a:t>পচন</a:t>
            </a:r>
            <a:r>
              <a:rPr lang="en-US" sz="3200" dirty="0"/>
              <a:t> </a:t>
            </a:r>
            <a:r>
              <a:rPr lang="en-US" sz="3200" dirty="0" err="1"/>
              <a:t>রোগঃ</a:t>
            </a:r>
            <a:r>
              <a:rPr lang="en-US" sz="3200" dirty="0"/>
              <a:t> </a:t>
            </a:r>
            <a:r>
              <a:rPr lang="en-US" sz="3200" dirty="0" err="1"/>
              <a:t>হলদে</a:t>
            </a:r>
            <a:r>
              <a:rPr lang="en-US" sz="3200" dirty="0"/>
              <a:t> </a:t>
            </a:r>
            <a:r>
              <a:rPr lang="en-US" sz="3200" dirty="0" err="1"/>
              <a:t>বাদামী</a:t>
            </a:r>
            <a:r>
              <a:rPr lang="en-US" sz="3200" dirty="0"/>
              <a:t> </a:t>
            </a:r>
            <a:r>
              <a:rPr lang="en-US" sz="3200" dirty="0" err="1"/>
              <a:t>রঙয়ের</a:t>
            </a:r>
            <a:r>
              <a:rPr lang="en-US" sz="3200" dirty="0"/>
              <a:t> </a:t>
            </a:r>
            <a:r>
              <a:rPr lang="en-US" sz="3200" dirty="0" err="1"/>
              <a:t>পানি</a:t>
            </a:r>
            <a:r>
              <a:rPr lang="en-US" sz="3200" dirty="0"/>
              <a:t> </a:t>
            </a:r>
            <a:r>
              <a:rPr lang="en-US" sz="3200" dirty="0" err="1"/>
              <a:t>ফুলের</a:t>
            </a:r>
            <a:r>
              <a:rPr lang="en-US" sz="3200" dirty="0"/>
              <a:t> উপর </a:t>
            </a:r>
            <a:r>
              <a:rPr lang="en-US" sz="3200" dirty="0" err="1"/>
              <a:t>দেখা</a:t>
            </a:r>
            <a:r>
              <a:rPr lang="en-US" sz="3200" dirty="0"/>
              <a:t> </a:t>
            </a:r>
            <a:r>
              <a:rPr lang="en-US" sz="3200" dirty="0" err="1"/>
              <a:t>যায়</a:t>
            </a:r>
            <a:r>
              <a:rPr lang="en-US" sz="3200" dirty="0"/>
              <a:t>, </a:t>
            </a:r>
            <a:r>
              <a:rPr lang="en-US" sz="3200" dirty="0" err="1"/>
              <a:t>ফুল</a:t>
            </a:r>
            <a:r>
              <a:rPr lang="en-US" sz="3200" dirty="0"/>
              <a:t> </a:t>
            </a:r>
            <a:r>
              <a:rPr lang="en-US" sz="3200" dirty="0" err="1"/>
              <a:t>কুচকে</a:t>
            </a:r>
            <a:r>
              <a:rPr lang="en-US" sz="3200" dirty="0"/>
              <a:t> </a:t>
            </a:r>
            <a:r>
              <a:rPr lang="en-US" sz="3200" dirty="0" err="1"/>
              <a:t>যায়</a:t>
            </a:r>
            <a:r>
              <a:rPr lang="en-US" sz="3200" dirty="0"/>
              <a:t>।</a:t>
            </a:r>
          </a:p>
          <a:p>
            <a:r>
              <a:rPr lang="en-US" sz="3200" dirty="0"/>
              <a:t> </a:t>
            </a:r>
            <a:r>
              <a:rPr lang="en-US" sz="3200" dirty="0" err="1"/>
              <a:t>ফুসকুড়ি</a:t>
            </a:r>
            <a:r>
              <a:rPr lang="en-US" sz="3200" dirty="0"/>
              <a:t> </a:t>
            </a:r>
            <a:r>
              <a:rPr lang="en-US" sz="3200" dirty="0" err="1"/>
              <a:t>রোগঃ</a:t>
            </a:r>
            <a:r>
              <a:rPr lang="en-US" sz="3200" dirty="0"/>
              <a:t> </a:t>
            </a:r>
            <a:r>
              <a:rPr lang="en-US" sz="3200" dirty="0" err="1"/>
              <a:t>ফুলের</a:t>
            </a:r>
            <a:r>
              <a:rPr lang="en-US" sz="3200" dirty="0"/>
              <a:t> উপর </a:t>
            </a:r>
            <a:r>
              <a:rPr lang="en-US" sz="3200" dirty="0" err="1"/>
              <a:t>বাদামী</a:t>
            </a:r>
            <a:r>
              <a:rPr lang="en-US" sz="3200" dirty="0"/>
              <a:t> </a:t>
            </a:r>
            <a:r>
              <a:rPr lang="en-US" sz="3200" dirty="0" err="1"/>
              <a:t>দাগ</a:t>
            </a:r>
            <a:r>
              <a:rPr lang="en-US" sz="3200" dirty="0"/>
              <a:t> </a:t>
            </a:r>
            <a:r>
              <a:rPr lang="en-US" sz="3200" dirty="0" err="1"/>
              <a:t>হয়</a:t>
            </a:r>
            <a:r>
              <a:rPr lang="en-US" sz="3200" dirty="0"/>
              <a:t>।</a:t>
            </a:r>
          </a:p>
          <a:p>
            <a:endParaRPr lang="en-US" sz="3200" dirty="0"/>
          </a:p>
          <a:p>
            <a:pPr marL="0" indent="0">
              <a:buNone/>
            </a:pPr>
            <a:r>
              <a:rPr lang="en-US" sz="3200" dirty="0" err="1"/>
              <a:t>প্রতিকারঃ</a:t>
            </a:r>
            <a:r>
              <a:rPr lang="en-US" sz="3200" dirty="0"/>
              <a:t> </a:t>
            </a:r>
            <a:r>
              <a:rPr lang="en-US" sz="3200" dirty="0" err="1"/>
              <a:t>চাষের</a:t>
            </a:r>
            <a:r>
              <a:rPr lang="en-US" sz="3200" dirty="0"/>
              <a:t> </a:t>
            </a:r>
            <a:r>
              <a:rPr lang="en-US" sz="3200" dirty="0" err="1"/>
              <a:t>মেঝেতে</a:t>
            </a:r>
            <a:r>
              <a:rPr lang="en-US" sz="3200" dirty="0"/>
              <a:t> </a:t>
            </a:r>
            <a:r>
              <a:rPr lang="en-US" sz="3200" dirty="0" err="1"/>
              <a:t>জিবানুনাশক</a:t>
            </a:r>
            <a:r>
              <a:rPr lang="en-US" sz="3200" dirty="0"/>
              <a:t> </a:t>
            </a:r>
            <a:r>
              <a:rPr lang="en-US" sz="3200" dirty="0" err="1"/>
              <a:t>স্যাভলন</a:t>
            </a:r>
            <a:r>
              <a:rPr lang="en-US" sz="3200" dirty="0"/>
              <a:t> </a:t>
            </a:r>
            <a:r>
              <a:rPr lang="en-US" sz="3200" dirty="0" err="1"/>
              <a:t>দিয়ে</a:t>
            </a:r>
            <a:r>
              <a:rPr lang="en-US" sz="3200" dirty="0"/>
              <a:t> </a:t>
            </a:r>
            <a:r>
              <a:rPr lang="en-US" sz="3200" dirty="0" err="1"/>
              <a:t>মুছতে</a:t>
            </a:r>
            <a:r>
              <a:rPr lang="en-US" sz="3200" dirty="0"/>
              <a:t> </a:t>
            </a:r>
            <a:r>
              <a:rPr lang="en-US" sz="3200" dirty="0" err="1"/>
              <a:t>হবে</a:t>
            </a:r>
            <a:r>
              <a:rPr lang="en-US" sz="3200" dirty="0"/>
              <a:t>। </a:t>
            </a:r>
            <a:r>
              <a:rPr lang="en-US" sz="3200" dirty="0" err="1"/>
              <a:t>ব্যাবহৃত</a:t>
            </a:r>
            <a:r>
              <a:rPr lang="en-US" sz="3200" dirty="0"/>
              <a:t> </a:t>
            </a:r>
            <a:r>
              <a:rPr lang="en-US" sz="3200" dirty="0" err="1"/>
              <a:t>জিনিসপত্র</a:t>
            </a:r>
            <a:r>
              <a:rPr lang="en-US" sz="3200" dirty="0"/>
              <a:t> </a:t>
            </a:r>
            <a:r>
              <a:rPr lang="en-US" sz="3200" dirty="0" err="1"/>
              <a:t>পানিতে</a:t>
            </a:r>
            <a:r>
              <a:rPr lang="en-US" sz="3200" dirty="0"/>
              <a:t> </a:t>
            </a:r>
            <a:r>
              <a:rPr lang="en-US" sz="3200" dirty="0" err="1"/>
              <a:t>ফুটাতে</a:t>
            </a:r>
            <a:r>
              <a:rPr lang="en-US" sz="3200" dirty="0"/>
              <a:t> </a:t>
            </a:r>
            <a:r>
              <a:rPr lang="en-US" sz="3200" dirty="0" err="1"/>
              <a:t>হবে</a:t>
            </a:r>
            <a:r>
              <a:rPr lang="en-US" sz="3200" dirty="0"/>
              <a:t>।</a:t>
            </a:r>
            <a:endParaRPr lang="en-US" sz="3000" dirty="0"/>
          </a:p>
        </p:txBody>
      </p:sp>
      <p:pic>
        <p:nvPicPr>
          <p:cNvPr id="1026" name="Picture 2" descr="Dark rotten mushrooms in the woods. Rotten black mycelium. Autumn season  Stock Photo - Alamy">
            <a:extLst>
              <a:ext uri="{FF2B5EF4-FFF2-40B4-BE49-F238E27FC236}">
                <a16:creationId xmlns:a16="http://schemas.microsoft.com/office/drawing/2014/main" id="{14D9D98B-5114-BB08-DBD7-13BD21BB5A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2475"/>
          <a:stretch/>
        </p:blipFill>
        <p:spPr bwMode="auto">
          <a:xfrm>
            <a:off x="7363533" y="2127802"/>
            <a:ext cx="3120379" cy="20085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poiled mushroom stock image. Image of close, disease - 239150499">
            <a:extLst>
              <a:ext uri="{FF2B5EF4-FFF2-40B4-BE49-F238E27FC236}">
                <a16:creationId xmlns:a16="http://schemas.microsoft.com/office/drawing/2014/main" id="{32A7264F-EF34-8431-82A6-5B30E5FD03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3533" y="4329530"/>
            <a:ext cx="3120378" cy="2078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94304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মাশরুমের</a:t>
            </a:r>
            <a:r>
              <a:rPr lang="en-US" dirty="0"/>
              <a:t> </a:t>
            </a:r>
            <a:r>
              <a:rPr lang="en-US" dirty="0" err="1"/>
              <a:t>বালাই</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5762296" cy="3975538"/>
          </a:xfrm>
        </p:spPr>
        <p:txBody>
          <a:bodyPr>
            <a:normAutofit fontScale="92500" lnSpcReduction="20000"/>
          </a:bodyPr>
          <a:lstStyle/>
          <a:p>
            <a:r>
              <a:rPr lang="en-US" sz="3200" i="1" dirty="0"/>
              <a:t> </a:t>
            </a:r>
            <a:r>
              <a:rPr lang="en-US" sz="3200" dirty="0" err="1"/>
              <a:t>মাছি</a:t>
            </a:r>
            <a:endParaRPr lang="en-US" sz="3200" dirty="0"/>
          </a:p>
          <a:p>
            <a:r>
              <a:rPr lang="en-US" sz="3200" dirty="0"/>
              <a:t> </a:t>
            </a:r>
            <a:r>
              <a:rPr lang="en-US" sz="3200" dirty="0" err="1"/>
              <a:t>মাকড়</a:t>
            </a:r>
            <a:endParaRPr lang="en-US" sz="3200" dirty="0"/>
          </a:p>
          <a:p>
            <a:r>
              <a:rPr lang="en-US" sz="3200" dirty="0"/>
              <a:t> </a:t>
            </a:r>
            <a:r>
              <a:rPr lang="en-US" sz="3200" dirty="0" err="1"/>
              <a:t>পিপড়া</a:t>
            </a:r>
            <a:r>
              <a:rPr lang="en-US" sz="3200" dirty="0"/>
              <a:t> </a:t>
            </a:r>
          </a:p>
          <a:p>
            <a:r>
              <a:rPr lang="en-US" sz="3200" dirty="0"/>
              <a:t> </a:t>
            </a:r>
            <a:r>
              <a:rPr lang="en-US" sz="3200" dirty="0" err="1"/>
              <a:t>তেলাপোকা</a:t>
            </a:r>
            <a:endParaRPr lang="en-US" sz="3200" dirty="0"/>
          </a:p>
          <a:p>
            <a:pPr marL="0" indent="0">
              <a:buNone/>
            </a:pPr>
            <a:r>
              <a:rPr lang="en-US" sz="3200" dirty="0" err="1"/>
              <a:t>প্রতিকারঃ</a:t>
            </a:r>
            <a:r>
              <a:rPr lang="en-US" sz="3200" dirty="0"/>
              <a:t> </a:t>
            </a:r>
            <a:r>
              <a:rPr lang="en-US" sz="3200" dirty="0" err="1"/>
              <a:t>ঠান্ডা</a:t>
            </a:r>
            <a:r>
              <a:rPr lang="en-US" sz="3200" dirty="0"/>
              <a:t> </a:t>
            </a:r>
            <a:r>
              <a:rPr lang="en-US" sz="3200" dirty="0" err="1"/>
              <a:t>পানির</a:t>
            </a:r>
            <a:r>
              <a:rPr lang="en-US" sz="3200" dirty="0"/>
              <a:t> </a:t>
            </a:r>
            <a:r>
              <a:rPr lang="en-US" sz="3200" dirty="0" err="1"/>
              <a:t>স্প্রে</a:t>
            </a:r>
            <a:r>
              <a:rPr lang="en-US" sz="3200" dirty="0"/>
              <a:t>, </a:t>
            </a:r>
            <a:r>
              <a:rPr lang="en-US" sz="3200" dirty="0" err="1"/>
              <a:t>মেঝেতে</a:t>
            </a:r>
            <a:r>
              <a:rPr lang="en-US" sz="3200" dirty="0"/>
              <a:t> </a:t>
            </a:r>
            <a:r>
              <a:rPr lang="en-US" sz="3200" dirty="0" err="1"/>
              <a:t>ডারসবান</a:t>
            </a:r>
            <a:r>
              <a:rPr lang="en-US" sz="3200" dirty="0"/>
              <a:t> </a:t>
            </a:r>
            <a:r>
              <a:rPr lang="en-US" sz="3200" dirty="0" err="1"/>
              <a:t>পাউডার</a:t>
            </a:r>
            <a:r>
              <a:rPr lang="en-US" sz="3200" dirty="0"/>
              <a:t> ও </a:t>
            </a:r>
            <a:r>
              <a:rPr lang="en-US" sz="3200" dirty="0" err="1"/>
              <a:t>বিশেষ</a:t>
            </a:r>
            <a:r>
              <a:rPr lang="en-US" sz="3200" dirty="0"/>
              <a:t> </a:t>
            </a:r>
            <a:r>
              <a:rPr lang="en-US" sz="3200" dirty="0" err="1"/>
              <a:t>ধরণের</a:t>
            </a:r>
            <a:r>
              <a:rPr lang="en-US" sz="3200" dirty="0"/>
              <a:t> </a:t>
            </a:r>
            <a:r>
              <a:rPr lang="en-US" sz="3200" dirty="0" err="1"/>
              <a:t>চক</a:t>
            </a:r>
            <a:r>
              <a:rPr lang="en-US" sz="3200" dirty="0"/>
              <a:t> </a:t>
            </a:r>
            <a:r>
              <a:rPr lang="en-US" sz="3200" dirty="0" err="1"/>
              <a:t>দিয়ে</a:t>
            </a:r>
            <a:r>
              <a:rPr lang="en-US" sz="3200" dirty="0"/>
              <a:t> এসব </a:t>
            </a:r>
            <a:r>
              <a:rPr lang="en-US" sz="3200" dirty="0" err="1"/>
              <a:t>পোকা</a:t>
            </a:r>
            <a:r>
              <a:rPr lang="en-US" sz="3200" dirty="0"/>
              <a:t> </a:t>
            </a:r>
            <a:r>
              <a:rPr lang="en-US" sz="3200" dirty="0" err="1"/>
              <a:t>নিয়ন্ত্রন</a:t>
            </a:r>
            <a:r>
              <a:rPr lang="en-US" sz="3200" dirty="0"/>
              <a:t> </a:t>
            </a:r>
            <a:r>
              <a:rPr lang="en-US" sz="3200" dirty="0" err="1"/>
              <a:t>করা</a:t>
            </a:r>
            <a:r>
              <a:rPr lang="en-US" sz="3200" dirty="0"/>
              <a:t> </a:t>
            </a:r>
            <a:r>
              <a:rPr lang="en-US" sz="3200" dirty="0" err="1"/>
              <a:t>যায়</a:t>
            </a:r>
            <a:endParaRPr lang="en-US" sz="3000" dirty="0"/>
          </a:p>
        </p:txBody>
      </p:sp>
      <p:pic>
        <p:nvPicPr>
          <p:cNvPr id="2050" name="Picture 2" descr="Mushroom Insects Stock Illustrations – 718 Mushroom Insects Stock  Illustrations, Vectors &amp; Clipart - Dreamstime">
            <a:extLst>
              <a:ext uri="{FF2B5EF4-FFF2-40B4-BE49-F238E27FC236}">
                <a16:creationId xmlns:a16="http://schemas.microsoft.com/office/drawing/2014/main" id="{6CD5BCC0-C792-F9C2-3859-67168CD432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2295" y="2154725"/>
            <a:ext cx="2013642" cy="201364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ow to Get Bugs Out of Mushrooms: 5 Ways to Get Rid of Bugs and Larvae –  Mushroom Marauder">
            <a:extLst>
              <a:ext uri="{FF2B5EF4-FFF2-40B4-BE49-F238E27FC236}">
                <a16:creationId xmlns:a16="http://schemas.microsoft.com/office/drawing/2014/main" id="{4FDC9031-F188-4BE1-8A5F-C75DB03FEC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6567" y="2154724"/>
            <a:ext cx="2715022" cy="201364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ow to Get Bugs Out of Mushrooms: 5 Ways to Get Rid of Bugs and Larvae –  Mushroom Marauder">
            <a:extLst>
              <a:ext uri="{FF2B5EF4-FFF2-40B4-BE49-F238E27FC236}">
                <a16:creationId xmlns:a16="http://schemas.microsoft.com/office/drawing/2014/main" id="{37EDD2A3-86E2-0A95-A443-F1C3B6ADB3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2295" y="4458372"/>
            <a:ext cx="2235451" cy="181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11908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মাশরুমের</a:t>
            </a:r>
            <a:r>
              <a:rPr lang="en-US" dirty="0"/>
              <a:t> </a:t>
            </a:r>
            <a:r>
              <a:rPr lang="en-US" dirty="0" err="1"/>
              <a:t>সংরক্ষন</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10966270" cy="3975538"/>
          </a:xfrm>
        </p:spPr>
        <p:txBody>
          <a:bodyPr>
            <a:normAutofit/>
          </a:bodyPr>
          <a:lstStyle/>
          <a:p>
            <a:r>
              <a:rPr lang="en-US" sz="3200" i="1" dirty="0"/>
              <a:t> </a:t>
            </a:r>
            <a:r>
              <a:rPr lang="en-US" sz="3200" dirty="0" err="1"/>
              <a:t>অল্পদিন</a:t>
            </a:r>
            <a:r>
              <a:rPr lang="en-US" sz="3200" dirty="0"/>
              <a:t> </a:t>
            </a:r>
            <a:r>
              <a:rPr lang="en-US" sz="3200" dirty="0" err="1"/>
              <a:t>সংরক্ষনঃ</a:t>
            </a:r>
            <a:r>
              <a:rPr lang="en-US" sz="3200" dirty="0"/>
              <a:t> </a:t>
            </a:r>
            <a:r>
              <a:rPr lang="en-US" sz="3200" dirty="0" err="1"/>
              <a:t>ফ্রিজে</a:t>
            </a:r>
            <a:r>
              <a:rPr lang="en-US" sz="3200" dirty="0"/>
              <a:t>, </a:t>
            </a:r>
            <a:r>
              <a:rPr lang="en-US" sz="3200" dirty="0" err="1"/>
              <a:t>সিদ্ধ</a:t>
            </a:r>
            <a:r>
              <a:rPr lang="en-US" sz="3200" dirty="0"/>
              <a:t> </a:t>
            </a:r>
            <a:r>
              <a:rPr lang="en-US" sz="3200" dirty="0" err="1"/>
              <a:t>করে</a:t>
            </a:r>
            <a:endParaRPr lang="en-US" sz="3200" dirty="0"/>
          </a:p>
          <a:p>
            <a:r>
              <a:rPr lang="en-US" sz="3200" dirty="0"/>
              <a:t> </a:t>
            </a:r>
            <a:r>
              <a:rPr lang="en-US" sz="3200" dirty="0" err="1"/>
              <a:t>দীর্ঘদিন</a:t>
            </a:r>
            <a:r>
              <a:rPr lang="en-US" sz="3200" dirty="0"/>
              <a:t> </a:t>
            </a:r>
            <a:r>
              <a:rPr lang="en-US" sz="3200" dirty="0" err="1"/>
              <a:t>সংরক্ষনঃ</a:t>
            </a:r>
            <a:r>
              <a:rPr lang="en-US" sz="3200" dirty="0"/>
              <a:t> </a:t>
            </a:r>
            <a:r>
              <a:rPr lang="en-US" sz="3200" dirty="0" err="1"/>
              <a:t>রোদে</a:t>
            </a:r>
            <a:r>
              <a:rPr lang="en-US" sz="3200" dirty="0"/>
              <a:t> </a:t>
            </a:r>
            <a:r>
              <a:rPr lang="en-US" sz="3200" dirty="0" err="1"/>
              <a:t>শুকিয়ে</a:t>
            </a:r>
            <a:r>
              <a:rPr lang="en-US" sz="3200" dirty="0"/>
              <a:t>, </a:t>
            </a:r>
            <a:r>
              <a:rPr lang="en-US" sz="3200" dirty="0" err="1"/>
              <a:t>পাউডার</a:t>
            </a:r>
            <a:r>
              <a:rPr lang="en-US" sz="3200" dirty="0"/>
              <a:t> </a:t>
            </a:r>
            <a:r>
              <a:rPr lang="en-US" sz="3200" dirty="0" err="1"/>
              <a:t>করে</a:t>
            </a:r>
            <a:r>
              <a:rPr lang="en-US" sz="3200" dirty="0"/>
              <a:t>, </a:t>
            </a:r>
            <a:r>
              <a:rPr lang="en-US" sz="3200" dirty="0" err="1"/>
              <a:t>সিদ্ধ</a:t>
            </a:r>
            <a:r>
              <a:rPr lang="en-US" sz="3200" dirty="0"/>
              <a:t> </a:t>
            </a:r>
            <a:r>
              <a:rPr lang="en-US" sz="3200" dirty="0" err="1"/>
              <a:t>করে</a:t>
            </a:r>
            <a:r>
              <a:rPr lang="en-US" sz="3200" dirty="0"/>
              <a:t>, </a:t>
            </a:r>
            <a:r>
              <a:rPr lang="en-US" sz="3200" dirty="0" err="1"/>
              <a:t>টিনজাত</a:t>
            </a:r>
            <a:r>
              <a:rPr lang="en-US" sz="3200" dirty="0"/>
              <a:t> </a:t>
            </a:r>
            <a:r>
              <a:rPr lang="en-US" sz="3200" dirty="0" err="1"/>
              <a:t>করে</a:t>
            </a:r>
            <a:r>
              <a:rPr lang="en-US" sz="3200" dirty="0"/>
              <a:t>।</a:t>
            </a:r>
            <a:endParaRPr lang="en-US" sz="3000" dirty="0"/>
          </a:p>
        </p:txBody>
      </p:sp>
    </p:spTree>
    <p:extLst>
      <p:ext uri="{BB962C8B-B14F-4D97-AF65-F5344CB8AC3E}">
        <p14:creationId xmlns:p14="http://schemas.microsoft.com/office/powerpoint/2010/main" val="4939601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মাশরুমের</a:t>
            </a:r>
            <a:r>
              <a:rPr lang="en-US" dirty="0"/>
              <a:t> </a:t>
            </a:r>
            <a:r>
              <a:rPr lang="en-US" dirty="0" err="1"/>
              <a:t>অর্থনৈতিক</a:t>
            </a:r>
            <a:r>
              <a:rPr lang="en-US" dirty="0"/>
              <a:t> ও </a:t>
            </a:r>
            <a:r>
              <a:rPr lang="en-US" dirty="0" err="1"/>
              <a:t>পুষ্টিগত</a:t>
            </a:r>
            <a:r>
              <a:rPr lang="en-US" dirty="0"/>
              <a:t> </a:t>
            </a:r>
            <a:r>
              <a:rPr lang="en-US" dirty="0" err="1"/>
              <a:t>গুরুত্ব</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76898" y="2387722"/>
            <a:ext cx="4556417" cy="3975538"/>
          </a:xfrm>
        </p:spPr>
        <p:txBody>
          <a:bodyPr>
            <a:normAutofit fontScale="92500" lnSpcReduction="20000"/>
          </a:bodyPr>
          <a:lstStyle/>
          <a:p>
            <a:r>
              <a:rPr lang="en-US" sz="3200" i="1" dirty="0"/>
              <a:t> </a:t>
            </a:r>
            <a:r>
              <a:rPr lang="en-US" sz="3200" dirty="0" err="1"/>
              <a:t>অর্থনৈতিক</a:t>
            </a:r>
            <a:r>
              <a:rPr lang="en-US" sz="3200" dirty="0"/>
              <a:t> </a:t>
            </a:r>
            <a:r>
              <a:rPr lang="en-US" sz="3200" dirty="0" err="1"/>
              <a:t>গুরুত্বঃ</a:t>
            </a:r>
            <a:r>
              <a:rPr lang="en-US" sz="3200" dirty="0"/>
              <a:t> </a:t>
            </a:r>
          </a:p>
          <a:p>
            <a:pPr lvl="1"/>
            <a:r>
              <a:rPr lang="en-US" sz="3000" dirty="0"/>
              <a:t> </a:t>
            </a:r>
            <a:r>
              <a:rPr lang="en-US" sz="3000" dirty="0" err="1"/>
              <a:t>ব্যাবসায়িক</a:t>
            </a:r>
            <a:r>
              <a:rPr lang="en-US" sz="3000" dirty="0"/>
              <a:t> </a:t>
            </a:r>
            <a:r>
              <a:rPr lang="en-US" sz="3000" dirty="0" err="1"/>
              <a:t>লাভবান</a:t>
            </a:r>
            <a:r>
              <a:rPr lang="en-US" sz="3000" dirty="0"/>
              <a:t> </a:t>
            </a:r>
            <a:r>
              <a:rPr lang="en-US" sz="3000" dirty="0" err="1"/>
              <a:t>হওয়া</a:t>
            </a:r>
            <a:endParaRPr lang="en-US" sz="3000" dirty="0"/>
          </a:p>
          <a:p>
            <a:pPr lvl="1"/>
            <a:r>
              <a:rPr lang="en-US" sz="3000" dirty="0"/>
              <a:t> কম </a:t>
            </a:r>
            <a:r>
              <a:rPr lang="en-US" sz="3000" dirty="0" err="1"/>
              <a:t>পুজি</a:t>
            </a:r>
            <a:r>
              <a:rPr lang="en-US" sz="3000" dirty="0"/>
              <a:t> </a:t>
            </a:r>
            <a:r>
              <a:rPr lang="en-US" sz="3000" dirty="0" err="1"/>
              <a:t>লাগে</a:t>
            </a:r>
            <a:endParaRPr lang="en-US" sz="3000" dirty="0"/>
          </a:p>
          <a:p>
            <a:pPr lvl="1"/>
            <a:r>
              <a:rPr lang="en-US" sz="3000" dirty="0"/>
              <a:t> </a:t>
            </a:r>
            <a:r>
              <a:rPr lang="en-US" sz="3000" dirty="0" err="1"/>
              <a:t>বৈদেশিক</a:t>
            </a:r>
            <a:r>
              <a:rPr lang="en-US" sz="3000" dirty="0"/>
              <a:t> </a:t>
            </a:r>
            <a:r>
              <a:rPr lang="en-US" sz="3000" dirty="0" err="1"/>
              <a:t>মুদ্রা</a:t>
            </a:r>
            <a:r>
              <a:rPr lang="en-US" sz="3000" dirty="0"/>
              <a:t> </a:t>
            </a:r>
            <a:r>
              <a:rPr lang="en-US" sz="3000" dirty="0" err="1"/>
              <a:t>আয়</a:t>
            </a:r>
            <a:endParaRPr lang="en-US" sz="3000" dirty="0"/>
          </a:p>
          <a:p>
            <a:pPr lvl="1"/>
            <a:r>
              <a:rPr lang="en-US" sz="3000" dirty="0"/>
              <a:t> </a:t>
            </a:r>
            <a:r>
              <a:rPr lang="en-US" sz="3000" dirty="0" err="1"/>
              <a:t>কর্মসংস্থান</a:t>
            </a:r>
            <a:r>
              <a:rPr lang="en-US" sz="3000" dirty="0"/>
              <a:t> </a:t>
            </a:r>
            <a:r>
              <a:rPr lang="en-US" sz="3000" dirty="0" err="1"/>
              <a:t>সৃষ্টি</a:t>
            </a:r>
            <a:r>
              <a:rPr lang="en-US" sz="3000" dirty="0"/>
              <a:t> </a:t>
            </a:r>
          </a:p>
          <a:p>
            <a:pPr lvl="1"/>
            <a:r>
              <a:rPr lang="en-US" sz="3000" dirty="0"/>
              <a:t> </a:t>
            </a:r>
            <a:r>
              <a:rPr lang="en-US" sz="3000" dirty="0" err="1"/>
              <a:t>মহিলা</a:t>
            </a:r>
            <a:r>
              <a:rPr lang="en-US" sz="3000" dirty="0"/>
              <a:t> ও </a:t>
            </a:r>
            <a:r>
              <a:rPr lang="en-US" sz="3000" dirty="0" err="1"/>
              <a:t>পুরুষদের</a:t>
            </a:r>
            <a:r>
              <a:rPr lang="en-US" sz="3000" dirty="0"/>
              <a:t> </a:t>
            </a:r>
            <a:r>
              <a:rPr lang="en-US" sz="3000" dirty="0" err="1"/>
              <a:t>বেকারত্ব</a:t>
            </a:r>
            <a:r>
              <a:rPr lang="en-US" sz="3000" dirty="0"/>
              <a:t> </a:t>
            </a:r>
            <a:r>
              <a:rPr lang="en-US" sz="3000" dirty="0" err="1"/>
              <a:t>দূরীকরণ</a:t>
            </a:r>
            <a:endParaRPr lang="en-US" sz="3000" dirty="0"/>
          </a:p>
          <a:p>
            <a:pPr marL="0" indent="0">
              <a:buNone/>
            </a:pPr>
            <a:endParaRPr lang="en-US" sz="2800" dirty="0"/>
          </a:p>
        </p:txBody>
      </p:sp>
      <p:sp>
        <p:nvSpPr>
          <p:cNvPr id="4" name="Content Placeholder 2">
            <a:extLst>
              <a:ext uri="{FF2B5EF4-FFF2-40B4-BE49-F238E27FC236}">
                <a16:creationId xmlns:a16="http://schemas.microsoft.com/office/drawing/2014/main" id="{83A9E62E-34A8-A359-43D2-C66F4C07F37D}"/>
              </a:ext>
            </a:extLst>
          </p:cNvPr>
          <p:cNvSpPr txBox="1">
            <a:spLocks/>
          </p:cNvSpPr>
          <p:nvPr/>
        </p:nvSpPr>
        <p:spPr>
          <a:xfrm>
            <a:off x="6095999" y="2297187"/>
            <a:ext cx="4556417" cy="3975538"/>
          </a:xfrm>
          <a:prstGeom prst="rect">
            <a:avLst/>
          </a:prstGeom>
          <a:effectLst>
            <a:outerShdw blurRad="50800" dir="14400000">
              <a:srgbClr val="000000">
                <a:alpha val="40000"/>
              </a:srgbClr>
            </a:outerShdw>
          </a:effectLst>
        </p:spPr>
        <p:txBody>
          <a:bodyPr vert="horz" lIns="91440" tIns="45720" rIns="91440" bIns="45720"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en-US" sz="3200" dirty="0"/>
              <a:t> </a:t>
            </a:r>
            <a:r>
              <a:rPr lang="en-US" sz="3200" dirty="0" err="1"/>
              <a:t>পুষ্টিগত</a:t>
            </a:r>
            <a:r>
              <a:rPr lang="en-US" sz="3200" dirty="0"/>
              <a:t> </a:t>
            </a:r>
            <a:r>
              <a:rPr lang="en-US" sz="3200" dirty="0" err="1"/>
              <a:t>গুরুত্ব</a:t>
            </a:r>
            <a:r>
              <a:rPr lang="en-US" sz="3200" dirty="0"/>
              <a:t> (১০০ </a:t>
            </a:r>
            <a:r>
              <a:rPr lang="en-US" sz="3200" dirty="0" err="1"/>
              <a:t>গ্রামে</a:t>
            </a:r>
            <a:r>
              <a:rPr lang="en-US" sz="3200" dirty="0"/>
              <a:t>) </a:t>
            </a:r>
          </a:p>
          <a:p>
            <a:pPr lvl="1"/>
            <a:r>
              <a:rPr lang="en-US" sz="2800" dirty="0"/>
              <a:t> </a:t>
            </a:r>
            <a:r>
              <a:rPr lang="en-US" sz="2800" dirty="0" err="1"/>
              <a:t>আমিষ</a:t>
            </a:r>
            <a:r>
              <a:rPr lang="en-US" sz="2800" dirty="0"/>
              <a:t> ২৫-৩৫ </a:t>
            </a:r>
            <a:r>
              <a:rPr lang="en-US" sz="2800" dirty="0" err="1"/>
              <a:t>মিলিগ্রাম</a:t>
            </a:r>
            <a:r>
              <a:rPr lang="en-US" sz="2800" dirty="0"/>
              <a:t> </a:t>
            </a:r>
          </a:p>
          <a:p>
            <a:pPr lvl="1"/>
            <a:r>
              <a:rPr lang="en-US" sz="2800" dirty="0"/>
              <a:t> </a:t>
            </a:r>
            <a:r>
              <a:rPr lang="en-US" sz="2800" dirty="0" err="1"/>
              <a:t>ভিটামিন</a:t>
            </a:r>
            <a:r>
              <a:rPr lang="en-US" sz="2800" dirty="0"/>
              <a:t> ও </a:t>
            </a:r>
            <a:r>
              <a:rPr lang="en-US" sz="2800" dirty="0" err="1"/>
              <a:t>খনিজ</a:t>
            </a:r>
            <a:r>
              <a:rPr lang="en-US" sz="2800" dirty="0"/>
              <a:t> ৫৭-৬০ </a:t>
            </a:r>
            <a:r>
              <a:rPr lang="en-US" sz="2800" dirty="0" err="1"/>
              <a:t>মিলিগ্রাম</a:t>
            </a:r>
            <a:endParaRPr lang="en-US" sz="2800" dirty="0"/>
          </a:p>
          <a:p>
            <a:pPr lvl="1"/>
            <a:r>
              <a:rPr lang="en-US" sz="2800" dirty="0"/>
              <a:t> </a:t>
            </a:r>
            <a:r>
              <a:rPr lang="en-US" sz="2800" dirty="0" err="1"/>
              <a:t>শর্করা</a:t>
            </a:r>
            <a:r>
              <a:rPr lang="en-US" sz="2800" dirty="0"/>
              <a:t> ৫-৬ </a:t>
            </a:r>
            <a:r>
              <a:rPr lang="en-US" sz="2800" dirty="0" err="1"/>
              <a:t>মিলিগ্রাম</a:t>
            </a:r>
            <a:endParaRPr lang="en-US" sz="2800" dirty="0"/>
          </a:p>
          <a:p>
            <a:pPr lvl="1"/>
            <a:r>
              <a:rPr lang="en-US" sz="2800" dirty="0"/>
              <a:t> </a:t>
            </a:r>
            <a:r>
              <a:rPr lang="en-US" sz="2800" dirty="0" err="1"/>
              <a:t>চর্বি</a:t>
            </a:r>
            <a:r>
              <a:rPr lang="en-US" sz="2800" dirty="0"/>
              <a:t> ৪-৬ </a:t>
            </a:r>
            <a:r>
              <a:rPr lang="en-US" sz="2800" dirty="0" err="1"/>
              <a:t>মিলিগ্রাম</a:t>
            </a:r>
            <a:endParaRPr lang="en-US" sz="2800" dirty="0"/>
          </a:p>
          <a:p>
            <a:pPr lvl="1"/>
            <a:r>
              <a:rPr lang="en-US" sz="2800" dirty="0"/>
              <a:t> </a:t>
            </a:r>
            <a:r>
              <a:rPr lang="en-US" sz="2800" dirty="0" err="1"/>
              <a:t>ফাইবার</a:t>
            </a:r>
            <a:r>
              <a:rPr lang="en-US" sz="2800" dirty="0"/>
              <a:t> ৪-৬ </a:t>
            </a:r>
            <a:r>
              <a:rPr lang="en-US" sz="2800" dirty="0" err="1"/>
              <a:t>মিলিগ্রাম</a:t>
            </a:r>
            <a:endParaRPr lang="en-US" sz="2800" dirty="0"/>
          </a:p>
        </p:txBody>
      </p:sp>
    </p:spTree>
    <p:extLst>
      <p:ext uri="{BB962C8B-B14F-4D97-AF65-F5344CB8AC3E}">
        <p14:creationId xmlns:p14="http://schemas.microsoft.com/office/powerpoint/2010/main" val="540335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a:t>
            </a:r>
            <a:r>
              <a:rPr lang="en-US" dirty="0"/>
              <a:t> </a:t>
            </a:r>
            <a:r>
              <a:rPr lang="en-US" dirty="0" err="1"/>
              <a:t>পালন</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76898" y="4653480"/>
            <a:ext cx="10911950" cy="1709779"/>
          </a:xfrm>
        </p:spPr>
        <p:txBody>
          <a:bodyPr>
            <a:normAutofit/>
          </a:bodyPr>
          <a:lstStyle/>
          <a:p>
            <a:pPr marL="0" indent="0">
              <a:buNone/>
            </a:pPr>
            <a:r>
              <a:rPr lang="en-US" sz="2800" dirty="0"/>
              <a:t>Apis </a:t>
            </a:r>
            <a:r>
              <a:rPr lang="en-US" sz="2800" dirty="0" err="1"/>
              <a:t>cerana</a:t>
            </a:r>
            <a:r>
              <a:rPr lang="en-US" sz="2800" dirty="0"/>
              <a:t>       Apis mellifera       Apis </a:t>
            </a:r>
            <a:r>
              <a:rPr lang="en-US" sz="2800" dirty="0" err="1"/>
              <a:t>dorsata</a:t>
            </a:r>
            <a:r>
              <a:rPr lang="en-US" sz="2800" dirty="0"/>
              <a:t>        Apis </a:t>
            </a:r>
            <a:r>
              <a:rPr lang="en-US" sz="2800" dirty="0" err="1"/>
              <a:t>florea</a:t>
            </a:r>
            <a:endParaRPr lang="en-US" sz="2800" dirty="0"/>
          </a:p>
          <a:p>
            <a:pPr marL="0" indent="0">
              <a:buNone/>
            </a:pPr>
            <a:endParaRPr lang="en-US" sz="2800" dirty="0"/>
          </a:p>
        </p:txBody>
      </p:sp>
      <p:pic>
        <p:nvPicPr>
          <p:cNvPr id="3074" name="Picture 2" descr="Indian Honey Bee (Subspecies Apis cerana indica) · iNaturalist">
            <a:extLst>
              <a:ext uri="{FF2B5EF4-FFF2-40B4-BE49-F238E27FC236}">
                <a16:creationId xmlns:a16="http://schemas.microsoft.com/office/drawing/2014/main" id="{088A3D68-B860-48A6-BD87-CEA3A48B13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898" y="2557462"/>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estern Honey Bee (Apis mellifera) · iNaturalist">
            <a:extLst>
              <a:ext uri="{FF2B5EF4-FFF2-40B4-BE49-F238E27FC236}">
                <a16:creationId xmlns:a16="http://schemas.microsoft.com/office/drawing/2014/main" id="{AE421B61-5381-09F9-7DD7-BD52B2BC02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9014" y="2557463"/>
            <a:ext cx="2785449" cy="174090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pis dorsata, the Honeybee of the Sialang Tree">
            <a:extLst>
              <a:ext uri="{FF2B5EF4-FFF2-40B4-BE49-F238E27FC236}">
                <a16:creationId xmlns:a16="http://schemas.microsoft.com/office/drawing/2014/main" id="{79195099-8B6B-78DC-F89A-79421E280E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7204" y="2557462"/>
            <a:ext cx="2628525" cy="174090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Apis florea | Exotic Bee ID">
            <a:extLst>
              <a:ext uri="{FF2B5EF4-FFF2-40B4-BE49-F238E27FC236}">
                <a16:creationId xmlns:a16="http://schemas.microsoft.com/office/drawing/2014/main" id="{DA92C18A-5C2F-4B46-2D19-91EDCEBA64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88470" y="2557462"/>
            <a:ext cx="2533650"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46367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মৌমাছির</a:t>
            </a:r>
            <a:r>
              <a:rPr lang="en-US" dirty="0"/>
              <a:t> </a:t>
            </a:r>
            <a:r>
              <a:rPr lang="en-US" dirty="0" err="1"/>
              <a:t>সামাজিক</a:t>
            </a:r>
            <a:r>
              <a:rPr lang="en-US" dirty="0"/>
              <a:t> </a:t>
            </a:r>
            <a:r>
              <a:rPr lang="en-US" dirty="0" err="1"/>
              <a:t>শ্রেণীবিভাগ</a:t>
            </a:r>
            <a:endParaRPr lang="en-US" sz="2800" dirty="0">
              <a:solidFill>
                <a:srgbClr val="FFC000"/>
              </a:solidFill>
            </a:endParaRPr>
          </a:p>
        </p:txBody>
      </p:sp>
      <p:pic>
        <p:nvPicPr>
          <p:cNvPr id="4100" name="Picture 4">
            <a:extLst>
              <a:ext uri="{FF2B5EF4-FFF2-40B4-BE49-F238E27FC236}">
                <a16:creationId xmlns:a16="http://schemas.microsoft.com/office/drawing/2014/main" id="{83C0A842-9010-CEFB-5325-8D4B243BA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538" y="2695387"/>
            <a:ext cx="3320107" cy="186756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327FC4ED-22EF-E410-AA91-0B792A997F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3084" y="2555339"/>
            <a:ext cx="3150609" cy="2362957"/>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E2A76BE2-EB93-D792-AA1B-08F7411CA1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3451" y="2695387"/>
            <a:ext cx="3375151" cy="2011027"/>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4A48A266-9F8E-1EF1-6940-F968B07709C4}"/>
              </a:ext>
            </a:extLst>
          </p:cNvPr>
          <p:cNvSpPr>
            <a:spLocks noGrp="1"/>
          </p:cNvSpPr>
          <p:nvPr>
            <p:ph idx="1"/>
          </p:nvPr>
        </p:nvSpPr>
        <p:spPr>
          <a:xfrm>
            <a:off x="514538" y="4844236"/>
            <a:ext cx="10911950" cy="1709779"/>
          </a:xfrm>
        </p:spPr>
        <p:txBody>
          <a:bodyPr>
            <a:normAutofit/>
          </a:bodyPr>
          <a:lstStyle/>
          <a:p>
            <a:pPr marL="0" indent="0">
              <a:buNone/>
            </a:pPr>
            <a:r>
              <a:rPr lang="en-US" sz="2800" dirty="0" err="1"/>
              <a:t>রানী</a:t>
            </a:r>
            <a:r>
              <a:rPr lang="en-US" sz="2800" dirty="0"/>
              <a:t> </a:t>
            </a:r>
            <a:r>
              <a:rPr lang="en-US" sz="2800" dirty="0" err="1"/>
              <a:t>মৌমাছি</a:t>
            </a:r>
            <a:r>
              <a:rPr lang="en-US" sz="2800" dirty="0"/>
              <a:t> (</a:t>
            </a:r>
            <a:r>
              <a:rPr lang="en-US" sz="2800" dirty="0" err="1"/>
              <a:t>স্ত্রী</a:t>
            </a:r>
            <a:r>
              <a:rPr lang="en-US" sz="2800" dirty="0"/>
              <a:t>)        </a:t>
            </a:r>
            <a:r>
              <a:rPr lang="en-US" sz="2800" dirty="0" err="1"/>
              <a:t>কর্মী</a:t>
            </a:r>
            <a:r>
              <a:rPr lang="en-US" sz="2800" dirty="0"/>
              <a:t> </a:t>
            </a:r>
            <a:r>
              <a:rPr lang="en-US" sz="2800" dirty="0" err="1"/>
              <a:t>মৌমাছি</a:t>
            </a:r>
            <a:r>
              <a:rPr lang="en-US" sz="2800" dirty="0"/>
              <a:t> (</a:t>
            </a:r>
            <a:r>
              <a:rPr lang="en-US" sz="2800" dirty="0" err="1"/>
              <a:t>বন্ধ্যা</a:t>
            </a:r>
            <a:r>
              <a:rPr lang="en-US" sz="2800" dirty="0"/>
              <a:t> </a:t>
            </a:r>
            <a:r>
              <a:rPr lang="en-US" sz="2800" dirty="0" err="1"/>
              <a:t>স্ত্রী</a:t>
            </a:r>
            <a:r>
              <a:rPr lang="en-US" sz="2800" dirty="0"/>
              <a:t>)    </a:t>
            </a:r>
            <a:r>
              <a:rPr lang="en-US" sz="2800" dirty="0" err="1"/>
              <a:t>ড্রোন</a:t>
            </a:r>
            <a:r>
              <a:rPr lang="en-US" sz="2800" dirty="0"/>
              <a:t>(</a:t>
            </a:r>
            <a:r>
              <a:rPr lang="en-US" sz="2800" dirty="0" err="1"/>
              <a:t>পুরুষ</a:t>
            </a:r>
            <a:r>
              <a:rPr lang="en-US" sz="2800" dirty="0"/>
              <a:t> </a:t>
            </a:r>
            <a:r>
              <a:rPr lang="en-US" sz="2800" dirty="0" err="1"/>
              <a:t>মৌমাছি</a:t>
            </a:r>
            <a:r>
              <a:rPr lang="en-US" sz="2800" dirty="0"/>
              <a:t>)</a:t>
            </a:r>
          </a:p>
        </p:txBody>
      </p:sp>
    </p:spTree>
    <p:extLst>
      <p:ext uri="{BB962C8B-B14F-4D97-AF65-F5344CB8AC3E}">
        <p14:creationId xmlns:p14="http://schemas.microsoft.com/office/powerpoint/2010/main" val="37884495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মৌমাছির</a:t>
            </a:r>
            <a:r>
              <a:rPr lang="en-US" dirty="0"/>
              <a:t> </a:t>
            </a:r>
            <a:r>
              <a:rPr lang="en-US" dirty="0" err="1"/>
              <a:t>কাজ</a:t>
            </a:r>
            <a:endParaRPr lang="en-US" sz="2800" dirty="0">
              <a:solidFill>
                <a:srgbClr val="FFC000"/>
              </a:solidFill>
            </a:endParaRPr>
          </a:p>
        </p:txBody>
      </p:sp>
      <p:pic>
        <p:nvPicPr>
          <p:cNvPr id="4100" name="Picture 4">
            <a:extLst>
              <a:ext uri="{FF2B5EF4-FFF2-40B4-BE49-F238E27FC236}">
                <a16:creationId xmlns:a16="http://schemas.microsoft.com/office/drawing/2014/main" id="{83C0A842-9010-CEFB-5325-8D4B243BA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080" y="2695387"/>
            <a:ext cx="1250888" cy="70362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327FC4ED-22EF-E410-AA91-0B792A997F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390" y="2555340"/>
            <a:ext cx="1178461" cy="883846"/>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E2A76BE2-EB93-D792-AA1B-08F7411CA1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29329" y="2695388"/>
            <a:ext cx="1102731" cy="657044"/>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4A48A266-9F8E-1EF1-6940-F968B07709C4}"/>
              </a:ext>
            </a:extLst>
          </p:cNvPr>
          <p:cNvSpPr>
            <a:spLocks noGrp="1"/>
          </p:cNvSpPr>
          <p:nvPr>
            <p:ph idx="1"/>
          </p:nvPr>
        </p:nvSpPr>
        <p:spPr>
          <a:xfrm>
            <a:off x="39232" y="2970169"/>
            <a:ext cx="11956610" cy="1709779"/>
          </a:xfrm>
        </p:spPr>
        <p:txBody>
          <a:bodyPr>
            <a:normAutofit/>
          </a:bodyPr>
          <a:lstStyle/>
          <a:p>
            <a:pPr marL="0" indent="0">
              <a:buNone/>
            </a:pPr>
            <a:r>
              <a:rPr lang="en-US" sz="2800" dirty="0"/>
              <a:t>       </a:t>
            </a:r>
            <a:r>
              <a:rPr lang="en-US" sz="2800" dirty="0" err="1"/>
              <a:t>রানী</a:t>
            </a:r>
            <a:r>
              <a:rPr lang="en-US" sz="2800" dirty="0"/>
              <a:t> </a:t>
            </a:r>
            <a:r>
              <a:rPr lang="en-US" sz="2800" dirty="0" err="1"/>
              <a:t>মৌমাছি</a:t>
            </a:r>
            <a:r>
              <a:rPr lang="en-US" sz="2800" dirty="0"/>
              <a:t> (</a:t>
            </a:r>
            <a:r>
              <a:rPr lang="en-US" sz="2800" dirty="0" err="1"/>
              <a:t>স্ত্রী</a:t>
            </a:r>
            <a:r>
              <a:rPr lang="en-US" sz="2800" dirty="0"/>
              <a:t>)         </a:t>
            </a:r>
            <a:r>
              <a:rPr lang="en-US" sz="2800" dirty="0" err="1"/>
              <a:t>কর্মী</a:t>
            </a:r>
            <a:r>
              <a:rPr lang="en-US" sz="2800" dirty="0"/>
              <a:t> </a:t>
            </a:r>
            <a:r>
              <a:rPr lang="en-US" sz="2800" dirty="0" err="1"/>
              <a:t>মৌমাছি</a:t>
            </a:r>
            <a:r>
              <a:rPr lang="en-US" sz="2800" dirty="0"/>
              <a:t> (</a:t>
            </a:r>
            <a:r>
              <a:rPr lang="en-US" sz="2800" dirty="0" err="1"/>
              <a:t>বন্ধ্যা</a:t>
            </a:r>
            <a:r>
              <a:rPr lang="en-US" sz="2800" dirty="0"/>
              <a:t> </a:t>
            </a:r>
            <a:r>
              <a:rPr lang="en-US" sz="2800" dirty="0" err="1"/>
              <a:t>স্ত্রী</a:t>
            </a:r>
            <a:r>
              <a:rPr lang="en-US" sz="2800" dirty="0"/>
              <a:t>)     </a:t>
            </a:r>
            <a:r>
              <a:rPr lang="en-US" sz="2800" dirty="0" err="1"/>
              <a:t>ড্রোন</a:t>
            </a:r>
            <a:r>
              <a:rPr lang="en-US" sz="2800" dirty="0"/>
              <a:t>(</a:t>
            </a:r>
            <a:r>
              <a:rPr lang="en-US" sz="2800" dirty="0" err="1"/>
              <a:t>পুরুষ</a:t>
            </a:r>
            <a:r>
              <a:rPr lang="en-US" sz="2800" dirty="0"/>
              <a:t> </a:t>
            </a:r>
            <a:r>
              <a:rPr lang="en-US" sz="2800" dirty="0" err="1"/>
              <a:t>মৌমাছি</a:t>
            </a:r>
            <a:r>
              <a:rPr lang="en-US" sz="2800" dirty="0"/>
              <a:t>)</a:t>
            </a:r>
          </a:p>
        </p:txBody>
      </p:sp>
      <p:sp>
        <p:nvSpPr>
          <p:cNvPr id="3" name="TextBox 2">
            <a:extLst>
              <a:ext uri="{FF2B5EF4-FFF2-40B4-BE49-F238E27FC236}">
                <a16:creationId xmlns:a16="http://schemas.microsoft.com/office/drawing/2014/main" id="{F5D04C96-EEE5-8FDB-FD46-0A91DE597A26}"/>
              </a:ext>
            </a:extLst>
          </p:cNvPr>
          <p:cNvSpPr txBox="1"/>
          <p:nvPr/>
        </p:nvSpPr>
        <p:spPr>
          <a:xfrm>
            <a:off x="190123" y="4408691"/>
            <a:ext cx="3856776" cy="1754326"/>
          </a:xfrm>
          <a:prstGeom prst="rect">
            <a:avLst/>
          </a:prstGeom>
          <a:noFill/>
        </p:spPr>
        <p:txBody>
          <a:bodyPr wrap="square" rtlCol="0">
            <a:spAutoFit/>
          </a:bodyPr>
          <a:lstStyle/>
          <a:p>
            <a:pPr marL="285750" indent="-285750">
              <a:buFont typeface="Courier New" panose="02070309020205020404" pitchFamily="49" charset="0"/>
              <a:buChar char="o"/>
            </a:pPr>
            <a:r>
              <a:rPr lang="en-US" dirty="0"/>
              <a:t> </a:t>
            </a:r>
            <a:r>
              <a:rPr lang="en-US" dirty="0" err="1"/>
              <a:t>ডিম</a:t>
            </a:r>
            <a:r>
              <a:rPr lang="en-US" dirty="0"/>
              <a:t> ও </a:t>
            </a:r>
            <a:r>
              <a:rPr lang="en-US" dirty="0" err="1"/>
              <a:t>বাচ্চা</a:t>
            </a:r>
            <a:r>
              <a:rPr lang="en-US" dirty="0"/>
              <a:t> </a:t>
            </a:r>
            <a:r>
              <a:rPr lang="en-US" dirty="0" err="1"/>
              <a:t>উৎপাদন</a:t>
            </a:r>
            <a:r>
              <a:rPr lang="en-US" dirty="0"/>
              <a:t> </a:t>
            </a:r>
            <a:r>
              <a:rPr lang="en-US" dirty="0" err="1"/>
              <a:t>করা</a:t>
            </a:r>
            <a:endParaRPr lang="en-US" dirty="0"/>
          </a:p>
          <a:p>
            <a:pPr marL="285750" indent="-285750">
              <a:buFont typeface="Courier New" panose="02070309020205020404" pitchFamily="49" charset="0"/>
              <a:buChar char="o"/>
            </a:pPr>
            <a:r>
              <a:rPr lang="en-US" dirty="0" err="1"/>
              <a:t>একটি</a:t>
            </a:r>
            <a:r>
              <a:rPr lang="en-US" dirty="0"/>
              <a:t> </a:t>
            </a:r>
            <a:r>
              <a:rPr lang="en-US" dirty="0" err="1"/>
              <a:t>চাকে</a:t>
            </a:r>
            <a:r>
              <a:rPr lang="en-US" dirty="0"/>
              <a:t> ১টি </a:t>
            </a:r>
            <a:r>
              <a:rPr lang="en-US" dirty="0" err="1"/>
              <a:t>থাকে</a:t>
            </a:r>
            <a:endParaRPr lang="en-US" dirty="0"/>
          </a:p>
          <a:p>
            <a:pPr marL="285750" indent="-285750">
              <a:buFont typeface="Courier New" panose="02070309020205020404" pitchFamily="49" charset="0"/>
              <a:buChar char="o"/>
            </a:pPr>
            <a:r>
              <a:rPr lang="en-US" dirty="0"/>
              <a:t>৩০০০ </a:t>
            </a:r>
            <a:r>
              <a:rPr lang="en-US" dirty="0" err="1"/>
              <a:t>টি</a:t>
            </a:r>
            <a:r>
              <a:rPr lang="en-US" dirty="0"/>
              <a:t> </a:t>
            </a:r>
            <a:r>
              <a:rPr lang="en-US" dirty="0" err="1"/>
              <a:t>ডিম</a:t>
            </a:r>
            <a:r>
              <a:rPr lang="en-US" dirty="0"/>
              <a:t> </a:t>
            </a:r>
            <a:r>
              <a:rPr lang="en-US" dirty="0" err="1"/>
              <a:t>পাড়ে</a:t>
            </a:r>
            <a:endParaRPr lang="en-US" dirty="0"/>
          </a:p>
          <a:p>
            <a:pPr marL="285750" indent="-285750">
              <a:buFont typeface="Courier New" panose="02070309020205020404" pitchFamily="49" charset="0"/>
              <a:buChar char="o"/>
            </a:pPr>
            <a:r>
              <a:rPr lang="en-US" dirty="0" err="1"/>
              <a:t>নিষেক্কৃত</a:t>
            </a:r>
            <a:r>
              <a:rPr lang="en-US" dirty="0"/>
              <a:t> </a:t>
            </a:r>
            <a:r>
              <a:rPr lang="en-US" dirty="0" err="1"/>
              <a:t>ডিম</a:t>
            </a:r>
            <a:r>
              <a:rPr lang="en-US" dirty="0"/>
              <a:t> </a:t>
            </a:r>
            <a:r>
              <a:rPr lang="en-US" dirty="0" err="1"/>
              <a:t>থেকে</a:t>
            </a:r>
            <a:r>
              <a:rPr lang="en-US" dirty="0"/>
              <a:t> </a:t>
            </a:r>
            <a:r>
              <a:rPr lang="en-US" dirty="0" err="1"/>
              <a:t>রাণী</a:t>
            </a:r>
            <a:r>
              <a:rPr lang="en-US" dirty="0"/>
              <a:t> ও </a:t>
            </a:r>
            <a:r>
              <a:rPr lang="en-US" dirty="0" err="1"/>
              <a:t>কর্মী</a:t>
            </a:r>
            <a:r>
              <a:rPr lang="en-US" dirty="0"/>
              <a:t> </a:t>
            </a:r>
            <a:r>
              <a:rPr lang="en-US" dirty="0" err="1"/>
              <a:t>হয়</a:t>
            </a:r>
            <a:endParaRPr lang="en-US" dirty="0"/>
          </a:p>
          <a:p>
            <a:pPr marL="285750" indent="-285750">
              <a:buFont typeface="Courier New" panose="02070309020205020404" pitchFamily="49" charset="0"/>
              <a:buChar char="o"/>
            </a:pPr>
            <a:r>
              <a:rPr lang="en-US" dirty="0" err="1"/>
              <a:t>রয়েল</a:t>
            </a:r>
            <a:r>
              <a:rPr lang="en-US" dirty="0"/>
              <a:t> </a:t>
            </a:r>
            <a:r>
              <a:rPr lang="en-US" dirty="0" err="1"/>
              <a:t>জেলী</a:t>
            </a:r>
            <a:r>
              <a:rPr lang="en-US" dirty="0"/>
              <a:t> </a:t>
            </a:r>
            <a:r>
              <a:rPr lang="en-US" dirty="0" err="1"/>
              <a:t>খায়</a:t>
            </a:r>
            <a:r>
              <a:rPr lang="en-US" dirty="0"/>
              <a:t> ৬-৭ </a:t>
            </a:r>
            <a:r>
              <a:rPr lang="en-US" dirty="0" err="1"/>
              <a:t>দিন</a:t>
            </a:r>
            <a:endParaRPr lang="en-US" dirty="0"/>
          </a:p>
        </p:txBody>
      </p:sp>
      <p:sp>
        <p:nvSpPr>
          <p:cNvPr id="4" name="TextBox 3">
            <a:extLst>
              <a:ext uri="{FF2B5EF4-FFF2-40B4-BE49-F238E27FC236}">
                <a16:creationId xmlns:a16="http://schemas.microsoft.com/office/drawing/2014/main" id="{DE2B166E-F17D-5829-DAD9-859EA707154B}"/>
              </a:ext>
            </a:extLst>
          </p:cNvPr>
          <p:cNvSpPr txBox="1"/>
          <p:nvPr/>
        </p:nvSpPr>
        <p:spPr>
          <a:xfrm>
            <a:off x="4046899" y="4345517"/>
            <a:ext cx="3856776" cy="2031325"/>
          </a:xfrm>
          <a:prstGeom prst="rect">
            <a:avLst/>
          </a:prstGeom>
          <a:noFill/>
        </p:spPr>
        <p:txBody>
          <a:bodyPr wrap="square" rtlCol="0">
            <a:spAutoFit/>
          </a:bodyPr>
          <a:lstStyle/>
          <a:p>
            <a:pPr marL="285750" indent="-285750">
              <a:buFont typeface="Courier New" panose="02070309020205020404" pitchFamily="49" charset="0"/>
              <a:buChar char="o"/>
            </a:pPr>
            <a:r>
              <a:rPr lang="en-US" dirty="0" err="1"/>
              <a:t>মধু</a:t>
            </a:r>
            <a:r>
              <a:rPr lang="en-US" dirty="0"/>
              <a:t> </a:t>
            </a:r>
            <a:r>
              <a:rPr lang="en-US" dirty="0" err="1"/>
              <a:t>সংগ্রহ</a:t>
            </a:r>
            <a:r>
              <a:rPr lang="en-US" dirty="0"/>
              <a:t> </a:t>
            </a:r>
            <a:r>
              <a:rPr lang="en-US" dirty="0" err="1"/>
              <a:t>করা</a:t>
            </a:r>
            <a:endParaRPr lang="en-US" dirty="0"/>
          </a:p>
          <a:p>
            <a:pPr marL="285750" indent="-285750">
              <a:buFont typeface="Courier New" panose="02070309020205020404" pitchFamily="49" charset="0"/>
              <a:buChar char="o"/>
            </a:pPr>
            <a:r>
              <a:rPr lang="en-US" dirty="0" err="1"/>
              <a:t>নিষেক্কৃত</a:t>
            </a:r>
            <a:r>
              <a:rPr lang="en-US" dirty="0"/>
              <a:t> </a:t>
            </a:r>
            <a:r>
              <a:rPr lang="en-US" dirty="0" err="1"/>
              <a:t>ডিম</a:t>
            </a:r>
            <a:r>
              <a:rPr lang="en-US" dirty="0"/>
              <a:t> </a:t>
            </a:r>
            <a:r>
              <a:rPr lang="en-US" dirty="0" err="1"/>
              <a:t>থেকে</a:t>
            </a:r>
            <a:r>
              <a:rPr lang="en-US" dirty="0"/>
              <a:t> </a:t>
            </a:r>
            <a:r>
              <a:rPr lang="en-US" dirty="0" err="1"/>
              <a:t>রাণী</a:t>
            </a:r>
            <a:r>
              <a:rPr lang="en-US" dirty="0"/>
              <a:t> ও </a:t>
            </a:r>
            <a:r>
              <a:rPr lang="en-US" dirty="0" err="1"/>
              <a:t>কর্মী</a:t>
            </a:r>
            <a:r>
              <a:rPr lang="en-US" dirty="0"/>
              <a:t> </a:t>
            </a:r>
            <a:r>
              <a:rPr lang="en-US" dirty="0" err="1"/>
              <a:t>হয়</a:t>
            </a:r>
            <a:endParaRPr lang="en-US" dirty="0"/>
          </a:p>
          <a:p>
            <a:pPr marL="285750" indent="-285750">
              <a:buFont typeface="Courier New" panose="02070309020205020404" pitchFamily="49" charset="0"/>
              <a:buChar char="o"/>
            </a:pPr>
            <a:r>
              <a:rPr lang="en-US" dirty="0" err="1"/>
              <a:t>কলোনীর</a:t>
            </a:r>
            <a:r>
              <a:rPr lang="en-US" dirty="0"/>
              <a:t> </a:t>
            </a:r>
            <a:r>
              <a:rPr lang="en-US" dirty="0" err="1"/>
              <a:t>যাবতীয়</a:t>
            </a:r>
            <a:r>
              <a:rPr lang="en-US" dirty="0"/>
              <a:t> </a:t>
            </a:r>
            <a:r>
              <a:rPr lang="en-US" dirty="0" err="1"/>
              <a:t>কাজ</a:t>
            </a:r>
            <a:endParaRPr lang="en-US" dirty="0"/>
          </a:p>
          <a:p>
            <a:pPr marL="285750" indent="-285750">
              <a:buFont typeface="Courier New" panose="02070309020205020404" pitchFamily="49" charset="0"/>
              <a:buChar char="o"/>
            </a:pPr>
            <a:r>
              <a:rPr lang="en-US" dirty="0" err="1"/>
              <a:t>কলোনীর</a:t>
            </a:r>
            <a:r>
              <a:rPr lang="en-US" dirty="0"/>
              <a:t> </a:t>
            </a:r>
            <a:r>
              <a:rPr lang="en-US" dirty="0" err="1"/>
              <a:t>নিরাপত্তা</a:t>
            </a:r>
            <a:endParaRPr lang="en-US" dirty="0"/>
          </a:p>
          <a:p>
            <a:pPr marL="285750" indent="-285750">
              <a:buFont typeface="Courier New" panose="02070309020205020404" pitchFamily="49" charset="0"/>
              <a:buChar char="o"/>
            </a:pPr>
            <a:r>
              <a:rPr lang="en-US" dirty="0" err="1"/>
              <a:t>রানীর</a:t>
            </a:r>
            <a:r>
              <a:rPr lang="en-US" dirty="0"/>
              <a:t> </a:t>
            </a:r>
            <a:r>
              <a:rPr lang="en-US" dirty="0" err="1"/>
              <a:t>পরিচর্যা</a:t>
            </a:r>
            <a:r>
              <a:rPr lang="en-US" dirty="0"/>
              <a:t> </a:t>
            </a:r>
            <a:r>
              <a:rPr lang="en-US" dirty="0" err="1"/>
              <a:t>করা</a:t>
            </a:r>
            <a:endParaRPr lang="en-US" dirty="0"/>
          </a:p>
          <a:p>
            <a:pPr marL="285750" indent="-285750">
              <a:buFont typeface="Courier New" panose="02070309020205020404" pitchFamily="49" charset="0"/>
              <a:buChar char="o"/>
            </a:pPr>
            <a:r>
              <a:rPr lang="en-US" dirty="0" err="1"/>
              <a:t>হাজার</a:t>
            </a:r>
            <a:r>
              <a:rPr lang="en-US" dirty="0"/>
              <a:t> </a:t>
            </a:r>
            <a:r>
              <a:rPr lang="en-US" dirty="0" err="1"/>
              <a:t>থেকে</a:t>
            </a:r>
            <a:r>
              <a:rPr lang="en-US" dirty="0"/>
              <a:t> </a:t>
            </a:r>
            <a:r>
              <a:rPr lang="en-US" dirty="0" err="1"/>
              <a:t>লাখ</a:t>
            </a:r>
            <a:r>
              <a:rPr lang="en-US" dirty="0"/>
              <a:t> </a:t>
            </a:r>
            <a:r>
              <a:rPr lang="en-US" dirty="0" err="1"/>
              <a:t>কর্মী</a:t>
            </a:r>
            <a:r>
              <a:rPr lang="en-US" dirty="0"/>
              <a:t> </a:t>
            </a:r>
            <a:r>
              <a:rPr lang="en-US" dirty="0" err="1"/>
              <a:t>থাকে</a:t>
            </a:r>
            <a:r>
              <a:rPr lang="en-US" dirty="0"/>
              <a:t> </a:t>
            </a:r>
            <a:r>
              <a:rPr lang="en-US" dirty="0" err="1"/>
              <a:t>চাকে</a:t>
            </a:r>
            <a:r>
              <a:rPr lang="en-US" dirty="0"/>
              <a:t> </a:t>
            </a:r>
          </a:p>
        </p:txBody>
      </p:sp>
      <p:sp>
        <p:nvSpPr>
          <p:cNvPr id="5" name="TextBox 4">
            <a:extLst>
              <a:ext uri="{FF2B5EF4-FFF2-40B4-BE49-F238E27FC236}">
                <a16:creationId xmlns:a16="http://schemas.microsoft.com/office/drawing/2014/main" id="{6A83C1EE-5D9F-6477-F76E-58DEC1ED3B6B}"/>
              </a:ext>
            </a:extLst>
          </p:cNvPr>
          <p:cNvSpPr txBox="1"/>
          <p:nvPr/>
        </p:nvSpPr>
        <p:spPr>
          <a:xfrm>
            <a:off x="7903672" y="4408691"/>
            <a:ext cx="3856776" cy="1477328"/>
          </a:xfrm>
          <a:prstGeom prst="rect">
            <a:avLst/>
          </a:prstGeom>
          <a:noFill/>
        </p:spPr>
        <p:txBody>
          <a:bodyPr wrap="square" rtlCol="0">
            <a:spAutoFit/>
          </a:bodyPr>
          <a:lstStyle/>
          <a:p>
            <a:pPr marL="285750" indent="-285750">
              <a:buFont typeface="Courier New" panose="02070309020205020404" pitchFamily="49" charset="0"/>
              <a:buChar char="o"/>
            </a:pPr>
            <a:r>
              <a:rPr lang="en-US" dirty="0" err="1"/>
              <a:t>প্রজননে</a:t>
            </a:r>
            <a:r>
              <a:rPr lang="en-US" dirty="0"/>
              <a:t> </a:t>
            </a:r>
            <a:r>
              <a:rPr lang="en-US" dirty="0" err="1"/>
              <a:t>সহায়তা</a:t>
            </a:r>
            <a:r>
              <a:rPr lang="en-US" dirty="0"/>
              <a:t> </a:t>
            </a:r>
            <a:r>
              <a:rPr lang="en-US" dirty="0" err="1"/>
              <a:t>করা</a:t>
            </a:r>
            <a:r>
              <a:rPr lang="en-US" dirty="0"/>
              <a:t> </a:t>
            </a:r>
          </a:p>
          <a:p>
            <a:pPr marL="285750" indent="-285750">
              <a:buFont typeface="Courier New" panose="02070309020205020404" pitchFamily="49" charset="0"/>
              <a:buChar char="o"/>
            </a:pPr>
            <a:r>
              <a:rPr lang="en-US" dirty="0" err="1"/>
              <a:t>নিষেক্কৃত</a:t>
            </a:r>
            <a:r>
              <a:rPr lang="en-US" dirty="0"/>
              <a:t> </a:t>
            </a:r>
            <a:r>
              <a:rPr lang="en-US" dirty="0" err="1"/>
              <a:t>ডিম</a:t>
            </a:r>
            <a:r>
              <a:rPr lang="en-US" dirty="0"/>
              <a:t> </a:t>
            </a:r>
            <a:r>
              <a:rPr lang="en-US" dirty="0" err="1"/>
              <a:t>থেকে</a:t>
            </a:r>
            <a:r>
              <a:rPr lang="en-US" dirty="0"/>
              <a:t> </a:t>
            </a:r>
            <a:r>
              <a:rPr lang="en-US" dirty="0" err="1"/>
              <a:t>রাণী</a:t>
            </a:r>
            <a:r>
              <a:rPr lang="en-US" dirty="0"/>
              <a:t> ও </a:t>
            </a:r>
            <a:r>
              <a:rPr lang="en-US" dirty="0" err="1"/>
              <a:t>কর্মী</a:t>
            </a:r>
            <a:r>
              <a:rPr lang="en-US" dirty="0"/>
              <a:t> </a:t>
            </a:r>
            <a:r>
              <a:rPr lang="en-US" dirty="0" err="1"/>
              <a:t>হয়</a:t>
            </a:r>
            <a:r>
              <a:rPr lang="en-US" dirty="0"/>
              <a:t> আর </a:t>
            </a:r>
            <a:r>
              <a:rPr lang="en-US" dirty="0" err="1"/>
              <a:t>অনিষেক্কৃত</a:t>
            </a:r>
            <a:r>
              <a:rPr lang="en-US" dirty="0"/>
              <a:t> </a:t>
            </a:r>
            <a:r>
              <a:rPr lang="en-US" dirty="0" err="1"/>
              <a:t>ডিম</a:t>
            </a:r>
            <a:r>
              <a:rPr lang="en-US" dirty="0"/>
              <a:t> </a:t>
            </a:r>
            <a:r>
              <a:rPr lang="en-US" dirty="0" err="1"/>
              <a:t>থেকে</a:t>
            </a:r>
            <a:r>
              <a:rPr lang="en-US" dirty="0"/>
              <a:t> </a:t>
            </a:r>
            <a:r>
              <a:rPr lang="en-US" dirty="0" err="1"/>
              <a:t>ড্রোন</a:t>
            </a:r>
            <a:r>
              <a:rPr lang="en-US" dirty="0"/>
              <a:t> </a:t>
            </a:r>
            <a:r>
              <a:rPr lang="en-US" dirty="0" err="1"/>
              <a:t>হয়</a:t>
            </a:r>
            <a:endParaRPr lang="en-US" dirty="0"/>
          </a:p>
          <a:p>
            <a:pPr marL="285750" indent="-285750">
              <a:buFont typeface="Courier New" panose="02070309020205020404" pitchFamily="49" charset="0"/>
              <a:buChar char="o"/>
            </a:pPr>
            <a:r>
              <a:rPr lang="en-US" dirty="0"/>
              <a:t>৯০ </a:t>
            </a:r>
            <a:r>
              <a:rPr lang="en-US" dirty="0" err="1"/>
              <a:t>দিন</a:t>
            </a:r>
            <a:r>
              <a:rPr lang="en-US" dirty="0"/>
              <a:t> </a:t>
            </a:r>
            <a:r>
              <a:rPr lang="en-US" dirty="0" err="1"/>
              <a:t>বাঁচে</a:t>
            </a:r>
            <a:endParaRPr lang="en-US" dirty="0"/>
          </a:p>
        </p:txBody>
      </p:sp>
    </p:spTree>
    <p:extLst>
      <p:ext uri="{BB962C8B-B14F-4D97-AF65-F5344CB8AC3E}">
        <p14:creationId xmlns:p14="http://schemas.microsoft.com/office/powerpoint/2010/main" val="16966855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মৌমাছির</a:t>
            </a:r>
            <a:r>
              <a:rPr lang="en-US" dirty="0"/>
              <a:t> </a:t>
            </a:r>
            <a:r>
              <a:rPr lang="en-US" dirty="0" err="1"/>
              <a:t>জীবনচক্র</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2154724" y="3240794"/>
            <a:ext cx="2607400" cy="1815882"/>
          </a:xfrm>
          <a:prstGeom prst="rect">
            <a:avLst/>
          </a:prstGeom>
          <a:noFill/>
        </p:spPr>
        <p:txBody>
          <a:bodyPr wrap="square" rtlCol="0">
            <a:spAutoFit/>
          </a:bodyPr>
          <a:lstStyle/>
          <a:p>
            <a:pPr marL="285750" indent="-285750">
              <a:buFont typeface="Courier New" panose="02070309020205020404" pitchFamily="49" charset="0"/>
              <a:buChar char="o"/>
            </a:pPr>
            <a:r>
              <a:rPr lang="en-US" dirty="0"/>
              <a:t> </a:t>
            </a:r>
            <a:r>
              <a:rPr lang="en-US" sz="2800" dirty="0" err="1"/>
              <a:t>ডিম</a:t>
            </a:r>
            <a:endParaRPr lang="en-US" sz="2800" dirty="0"/>
          </a:p>
          <a:p>
            <a:pPr marL="285750" indent="-285750">
              <a:buFont typeface="Courier New" panose="02070309020205020404" pitchFamily="49" charset="0"/>
              <a:buChar char="o"/>
            </a:pPr>
            <a:r>
              <a:rPr lang="en-US" sz="2800" dirty="0" err="1"/>
              <a:t>লার্ভা</a:t>
            </a:r>
            <a:endParaRPr lang="en-US" sz="2800" dirty="0"/>
          </a:p>
          <a:p>
            <a:pPr marL="285750" indent="-285750">
              <a:buFont typeface="Courier New" panose="02070309020205020404" pitchFamily="49" charset="0"/>
              <a:buChar char="o"/>
            </a:pPr>
            <a:r>
              <a:rPr lang="en-US" sz="2800" dirty="0" err="1"/>
              <a:t>পিউপা</a:t>
            </a:r>
            <a:endParaRPr lang="en-US" sz="2800" dirty="0"/>
          </a:p>
          <a:p>
            <a:pPr marL="285750" indent="-285750">
              <a:buFont typeface="Courier New" panose="02070309020205020404" pitchFamily="49" charset="0"/>
              <a:buChar char="o"/>
            </a:pPr>
            <a:r>
              <a:rPr lang="en-US" sz="2800" dirty="0" err="1"/>
              <a:t>পূর্ণাঙ্গ</a:t>
            </a:r>
            <a:r>
              <a:rPr lang="en-US" sz="2800" dirty="0"/>
              <a:t> </a:t>
            </a:r>
            <a:r>
              <a:rPr lang="en-US" sz="2800" dirty="0" err="1"/>
              <a:t>দশা</a:t>
            </a:r>
            <a:endParaRPr lang="en-US" sz="2800" dirty="0"/>
          </a:p>
        </p:txBody>
      </p:sp>
      <p:pic>
        <p:nvPicPr>
          <p:cNvPr id="5122" name="Picture 2" descr="370+ Bee Life Cycle Stock Photos, Pictures &amp; Royalty-Free Images - iStock">
            <a:extLst>
              <a:ext uri="{FF2B5EF4-FFF2-40B4-BE49-F238E27FC236}">
                <a16:creationId xmlns:a16="http://schemas.microsoft.com/office/drawing/2014/main" id="{37148483-95E2-786D-439B-5100BCEA73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3936" y="2081213"/>
            <a:ext cx="5829300" cy="452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4939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a:t>
            </a:r>
            <a:r>
              <a:rPr lang="en-US" dirty="0"/>
              <a:t> </a:t>
            </a:r>
            <a:r>
              <a:rPr lang="en-US" dirty="0" err="1"/>
              <a:t>পালন</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334978" y="2294722"/>
            <a:ext cx="6002448" cy="3970318"/>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পালনের</a:t>
            </a:r>
            <a:r>
              <a:rPr lang="en-US" sz="2800" dirty="0"/>
              <a:t> </a:t>
            </a:r>
            <a:r>
              <a:rPr lang="en-US" sz="2800" dirty="0" err="1"/>
              <a:t>সময়ঃ</a:t>
            </a:r>
            <a:r>
              <a:rPr lang="en-US" sz="2800" dirty="0"/>
              <a:t> </a:t>
            </a:r>
            <a:r>
              <a:rPr lang="en-US" sz="2800" dirty="0" err="1"/>
              <a:t>মাঘ</a:t>
            </a:r>
            <a:r>
              <a:rPr lang="en-US" sz="2800" dirty="0"/>
              <a:t>- </a:t>
            </a:r>
            <a:r>
              <a:rPr lang="en-US" sz="2800" dirty="0" err="1"/>
              <a:t>চৈত্র</a:t>
            </a:r>
            <a:r>
              <a:rPr lang="en-US" sz="2800" dirty="0"/>
              <a:t>, </a:t>
            </a:r>
            <a:r>
              <a:rPr lang="en-US" sz="2800" dirty="0" err="1"/>
              <a:t>অন্যান্য</a:t>
            </a:r>
            <a:r>
              <a:rPr lang="en-US" sz="2800" dirty="0"/>
              <a:t> </a:t>
            </a:r>
            <a:r>
              <a:rPr lang="en-US" sz="2800" dirty="0" err="1"/>
              <a:t>সময়েও</a:t>
            </a:r>
            <a:r>
              <a:rPr lang="en-US" sz="2800" dirty="0"/>
              <a:t> </a:t>
            </a:r>
            <a:r>
              <a:rPr lang="en-US" sz="2800" dirty="0" err="1"/>
              <a:t>করা</a:t>
            </a:r>
            <a:r>
              <a:rPr lang="en-US" sz="2800" dirty="0"/>
              <a:t> </a:t>
            </a:r>
            <a:r>
              <a:rPr lang="en-US" sz="2800" dirty="0" err="1"/>
              <a:t>যায়</a:t>
            </a:r>
            <a:endParaRPr lang="en-US" sz="2800" dirty="0"/>
          </a:p>
          <a:p>
            <a:pPr marL="285750" indent="-285750">
              <a:buFont typeface="Courier New" panose="02070309020205020404" pitchFamily="49" charset="0"/>
              <a:buChar char="o"/>
            </a:pPr>
            <a:r>
              <a:rPr lang="en-US" sz="2800" dirty="0" err="1"/>
              <a:t>মৌবক্স</a:t>
            </a:r>
            <a:r>
              <a:rPr lang="en-US" sz="2800" dirty="0"/>
              <a:t> </a:t>
            </a:r>
            <a:r>
              <a:rPr lang="en-US" sz="2800" dirty="0" err="1"/>
              <a:t>স্থাপনের</a:t>
            </a:r>
            <a:r>
              <a:rPr lang="en-US" sz="2800" dirty="0"/>
              <a:t> </a:t>
            </a:r>
            <a:r>
              <a:rPr lang="en-US" sz="2800" dirty="0" err="1"/>
              <a:t>দুরত্বঃ</a:t>
            </a:r>
            <a:r>
              <a:rPr lang="en-US" sz="2800" dirty="0"/>
              <a:t> ২.৫ </a:t>
            </a:r>
            <a:r>
              <a:rPr lang="en-US" sz="2800" dirty="0" err="1"/>
              <a:t>মি</a:t>
            </a:r>
            <a:r>
              <a:rPr lang="en-US" sz="2800" dirty="0"/>
              <a:t> x ১.৫-১.৮ </a:t>
            </a:r>
            <a:r>
              <a:rPr lang="en-US" sz="2800" dirty="0" err="1"/>
              <a:t>মিটার</a:t>
            </a:r>
            <a:endParaRPr lang="en-US" sz="2800" dirty="0"/>
          </a:p>
          <a:p>
            <a:pPr marL="285750" indent="-285750">
              <a:buFont typeface="Courier New" panose="02070309020205020404" pitchFamily="49" charset="0"/>
              <a:buChar char="o"/>
            </a:pPr>
            <a:r>
              <a:rPr lang="en-US" sz="2800" dirty="0"/>
              <a:t> </a:t>
            </a:r>
            <a:r>
              <a:rPr lang="en-US" sz="2800" dirty="0" err="1"/>
              <a:t>মৌবক্স</a:t>
            </a:r>
            <a:r>
              <a:rPr lang="en-US" sz="2800" dirty="0"/>
              <a:t> </a:t>
            </a:r>
            <a:r>
              <a:rPr lang="en-US" sz="2800" dirty="0" err="1"/>
              <a:t>পাওয়ার</a:t>
            </a:r>
            <a:r>
              <a:rPr lang="en-US" sz="2800" dirty="0"/>
              <a:t> </a:t>
            </a:r>
            <a:r>
              <a:rPr lang="en-US" sz="2800" dirty="0" err="1"/>
              <a:t>স্থানঃ</a:t>
            </a:r>
            <a:r>
              <a:rPr lang="en-US" sz="2800" dirty="0"/>
              <a:t> </a:t>
            </a:r>
            <a:r>
              <a:rPr lang="en-US" sz="2800" dirty="0" err="1"/>
              <a:t>কৃষি</a:t>
            </a:r>
            <a:r>
              <a:rPr lang="en-US" sz="2800" dirty="0"/>
              <a:t> </a:t>
            </a:r>
            <a:r>
              <a:rPr lang="en-US" sz="2800" dirty="0" err="1"/>
              <a:t>গবেষণা</a:t>
            </a:r>
            <a:r>
              <a:rPr lang="en-US" sz="2800" dirty="0"/>
              <a:t> </a:t>
            </a:r>
            <a:r>
              <a:rPr lang="en-US" sz="2800" dirty="0" err="1"/>
              <a:t>কেন্দ্রের</a:t>
            </a:r>
            <a:r>
              <a:rPr lang="en-US" sz="2800" dirty="0"/>
              <a:t> </a:t>
            </a:r>
            <a:r>
              <a:rPr lang="en-US" sz="2800" dirty="0" err="1"/>
              <a:t>কীটতত্ত্ব</a:t>
            </a:r>
            <a:r>
              <a:rPr lang="en-US" sz="2800" dirty="0"/>
              <a:t> </a:t>
            </a:r>
            <a:r>
              <a:rPr lang="en-US" sz="2800" dirty="0" err="1"/>
              <a:t>বিভাগ</a:t>
            </a:r>
            <a:r>
              <a:rPr lang="en-US" sz="2800" dirty="0"/>
              <a:t> ।</a:t>
            </a:r>
          </a:p>
          <a:p>
            <a:pPr marL="285750" indent="-285750">
              <a:buFont typeface="Courier New" panose="02070309020205020404" pitchFamily="49" charset="0"/>
              <a:buChar char="o"/>
            </a:pPr>
            <a:r>
              <a:rPr lang="en-US" sz="2800" dirty="0" err="1"/>
              <a:t>চাষের</a:t>
            </a:r>
            <a:r>
              <a:rPr lang="en-US" sz="2800" dirty="0"/>
              <a:t> </a:t>
            </a:r>
            <a:r>
              <a:rPr lang="en-US" sz="2800" dirty="0" err="1"/>
              <a:t>স্থানঃ</a:t>
            </a:r>
            <a:r>
              <a:rPr lang="en-US" sz="2800" dirty="0"/>
              <a:t> </a:t>
            </a:r>
            <a:r>
              <a:rPr lang="en-US" sz="2800" dirty="0" err="1"/>
              <a:t>নির্জন</a:t>
            </a:r>
            <a:r>
              <a:rPr lang="en-US" sz="2800" dirty="0"/>
              <a:t>, </a:t>
            </a:r>
            <a:r>
              <a:rPr lang="en-US" sz="2800" dirty="0" err="1"/>
              <a:t>ধোয়া</a:t>
            </a:r>
            <a:r>
              <a:rPr lang="en-US" sz="2800" dirty="0"/>
              <a:t> ও </a:t>
            </a:r>
            <a:r>
              <a:rPr lang="en-US" sz="2800" dirty="0" err="1"/>
              <a:t>গ্যাসমুক্ত</a:t>
            </a:r>
            <a:r>
              <a:rPr lang="en-US" sz="2800" dirty="0"/>
              <a:t>, </a:t>
            </a:r>
            <a:r>
              <a:rPr lang="en-US" sz="2800" dirty="0" err="1"/>
              <a:t>উচু</a:t>
            </a:r>
            <a:r>
              <a:rPr lang="en-US" sz="2800" dirty="0"/>
              <a:t>, </a:t>
            </a:r>
            <a:r>
              <a:rPr lang="en-US" sz="2800" dirty="0" err="1"/>
              <a:t>অনুতিদূরে</a:t>
            </a:r>
            <a:r>
              <a:rPr lang="en-US" sz="2800" dirty="0"/>
              <a:t> </a:t>
            </a:r>
            <a:r>
              <a:rPr lang="en-US" sz="2800" dirty="0" err="1"/>
              <a:t>গাছ</a:t>
            </a:r>
            <a:r>
              <a:rPr lang="en-US" sz="2800" dirty="0"/>
              <a:t> </a:t>
            </a:r>
            <a:r>
              <a:rPr lang="en-US" sz="2800" dirty="0" err="1"/>
              <a:t>বা</a:t>
            </a:r>
            <a:r>
              <a:rPr lang="en-US" sz="2800" dirty="0"/>
              <a:t> </a:t>
            </a:r>
            <a:r>
              <a:rPr lang="en-US" sz="2800" dirty="0" err="1"/>
              <a:t>ফুলের</a:t>
            </a:r>
            <a:r>
              <a:rPr lang="en-US" sz="2800" dirty="0"/>
              <a:t> </a:t>
            </a:r>
            <a:r>
              <a:rPr lang="en-US" sz="2800" dirty="0" err="1"/>
              <a:t>বাগান</a:t>
            </a:r>
            <a:r>
              <a:rPr lang="en-US" sz="2800" dirty="0"/>
              <a:t> </a:t>
            </a:r>
            <a:r>
              <a:rPr lang="en-US" sz="2800" dirty="0" err="1"/>
              <a:t>আছে</a:t>
            </a:r>
            <a:endParaRPr lang="en-US" sz="2800" dirty="0"/>
          </a:p>
        </p:txBody>
      </p:sp>
      <p:pic>
        <p:nvPicPr>
          <p:cNvPr id="6146" name="Picture 2" descr="Bee Farming: Business Plan And Guide For Beginners">
            <a:extLst>
              <a:ext uri="{FF2B5EF4-FFF2-40B4-BE49-F238E27FC236}">
                <a16:creationId xmlns:a16="http://schemas.microsoft.com/office/drawing/2014/main" id="{9BD5E8EF-03EC-4310-E602-BA0E0F83B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4650" y="2356020"/>
            <a:ext cx="4798808" cy="3759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69141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a:t>
            </a:r>
            <a:r>
              <a:rPr lang="en-US" dirty="0"/>
              <a:t> </a:t>
            </a:r>
            <a:r>
              <a:rPr lang="en-US" dirty="0" err="1"/>
              <a:t>পালন</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334978" y="2294722"/>
            <a:ext cx="6002448" cy="4832092"/>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রানী</a:t>
            </a:r>
            <a:r>
              <a:rPr lang="en-US" sz="2800" dirty="0"/>
              <a:t> </a:t>
            </a:r>
            <a:r>
              <a:rPr lang="en-US" sz="2800" dirty="0" err="1"/>
              <a:t>মৌমাছি</a:t>
            </a:r>
            <a:r>
              <a:rPr lang="en-US" sz="2800" dirty="0"/>
              <a:t> </a:t>
            </a:r>
            <a:r>
              <a:rPr lang="en-US" sz="2800" dirty="0" err="1"/>
              <a:t>সংগ্রহঃ</a:t>
            </a:r>
            <a:r>
              <a:rPr lang="en-US" sz="2800" dirty="0"/>
              <a:t> </a:t>
            </a:r>
            <a:r>
              <a:rPr lang="en-US" sz="2800" dirty="0" err="1"/>
              <a:t>কড়া</a:t>
            </a:r>
            <a:r>
              <a:rPr lang="en-US" sz="2800" dirty="0"/>
              <a:t> </a:t>
            </a:r>
            <a:r>
              <a:rPr lang="en-US" sz="2800" dirty="0" err="1"/>
              <a:t>রোদে</a:t>
            </a:r>
            <a:r>
              <a:rPr lang="en-US" sz="2800" dirty="0"/>
              <a:t> ও </a:t>
            </a:r>
            <a:r>
              <a:rPr lang="en-US" sz="2800" dirty="0" err="1"/>
              <a:t>মেঘলা</a:t>
            </a:r>
            <a:r>
              <a:rPr lang="en-US" sz="2800" dirty="0"/>
              <a:t> </a:t>
            </a:r>
            <a:r>
              <a:rPr lang="en-US" sz="2800" dirty="0" err="1"/>
              <a:t>দিনে</a:t>
            </a:r>
            <a:r>
              <a:rPr lang="en-US" sz="2800" dirty="0"/>
              <a:t> </a:t>
            </a:r>
            <a:r>
              <a:rPr lang="en-US" sz="2800" dirty="0" err="1"/>
              <a:t>মৌমাছির</a:t>
            </a:r>
            <a:r>
              <a:rPr lang="en-US" sz="2800" dirty="0"/>
              <a:t> </a:t>
            </a:r>
            <a:r>
              <a:rPr lang="en-US" sz="2800" dirty="0" err="1"/>
              <a:t>মেজাজ</a:t>
            </a:r>
            <a:r>
              <a:rPr lang="en-US" sz="2800" dirty="0"/>
              <a:t> </a:t>
            </a:r>
            <a:r>
              <a:rPr lang="en-US" sz="2800" dirty="0" err="1"/>
              <a:t>উগ্র</a:t>
            </a:r>
            <a:r>
              <a:rPr lang="en-US" sz="2800" dirty="0"/>
              <a:t> </a:t>
            </a:r>
            <a:r>
              <a:rPr lang="en-US" sz="2800" dirty="0" err="1"/>
              <a:t>থাকে</a:t>
            </a:r>
            <a:r>
              <a:rPr lang="en-US" sz="2800" dirty="0"/>
              <a:t> , </a:t>
            </a:r>
            <a:r>
              <a:rPr lang="en-US" sz="2800" dirty="0" err="1"/>
              <a:t>তাই</a:t>
            </a:r>
            <a:r>
              <a:rPr lang="en-US" sz="2800" dirty="0"/>
              <a:t> ঐ </a:t>
            </a:r>
            <a:r>
              <a:rPr lang="en-US" sz="2800" dirty="0" err="1"/>
              <a:t>দিন</a:t>
            </a:r>
            <a:r>
              <a:rPr lang="en-US" sz="2800" dirty="0"/>
              <a:t> </a:t>
            </a:r>
            <a:r>
              <a:rPr lang="en-US" sz="2800" dirty="0" err="1"/>
              <a:t>বাদে</a:t>
            </a:r>
            <a:r>
              <a:rPr lang="en-US" sz="2800" dirty="0"/>
              <a:t> </a:t>
            </a:r>
            <a:r>
              <a:rPr lang="en-US" sz="2800" dirty="0" err="1"/>
              <a:t>যথাযথ</a:t>
            </a:r>
            <a:r>
              <a:rPr lang="en-US" sz="2800" dirty="0"/>
              <a:t> </a:t>
            </a:r>
            <a:r>
              <a:rPr lang="en-US" sz="2800" dirty="0" err="1"/>
              <a:t>প্রস্তুতি</a:t>
            </a:r>
            <a:r>
              <a:rPr lang="en-US" sz="2800" dirty="0"/>
              <a:t> </a:t>
            </a:r>
            <a:r>
              <a:rPr lang="en-US" sz="2800" dirty="0" err="1"/>
              <a:t>নিয়ে</a:t>
            </a:r>
            <a:r>
              <a:rPr lang="en-US" sz="2800" dirty="0"/>
              <a:t> </a:t>
            </a:r>
            <a:r>
              <a:rPr lang="en-US" sz="2800" dirty="0" err="1"/>
              <a:t>যেতে</a:t>
            </a:r>
            <a:r>
              <a:rPr lang="en-US" sz="2800" dirty="0"/>
              <a:t> </a:t>
            </a:r>
            <a:r>
              <a:rPr lang="en-US" sz="2800" dirty="0" err="1"/>
              <a:t>হবে</a:t>
            </a:r>
            <a:r>
              <a:rPr lang="en-US" sz="2800" dirty="0"/>
              <a:t> । </a:t>
            </a:r>
            <a:r>
              <a:rPr lang="en-US" sz="2800" dirty="0" err="1"/>
              <a:t>পোষাক</a:t>
            </a:r>
            <a:r>
              <a:rPr lang="en-US" sz="2800" dirty="0"/>
              <a:t>, </a:t>
            </a:r>
            <a:r>
              <a:rPr lang="en-US" sz="2800" dirty="0" err="1"/>
              <a:t>ধোয়া</a:t>
            </a:r>
            <a:r>
              <a:rPr lang="en-US" sz="2800" dirty="0"/>
              <a:t>, </a:t>
            </a:r>
            <a:r>
              <a:rPr lang="en-US" sz="2800" dirty="0" err="1"/>
              <a:t>চাকু</a:t>
            </a:r>
            <a:r>
              <a:rPr lang="en-US" sz="2800" dirty="0"/>
              <a:t> </a:t>
            </a:r>
            <a:r>
              <a:rPr lang="en-US" sz="2800" dirty="0" err="1"/>
              <a:t>ইত্যাদি</a:t>
            </a:r>
            <a:r>
              <a:rPr lang="en-US" sz="2800" dirty="0"/>
              <a:t> </a:t>
            </a:r>
            <a:r>
              <a:rPr lang="en-US" sz="2800" dirty="0" err="1"/>
              <a:t>দিয়ে</a:t>
            </a:r>
            <a:r>
              <a:rPr lang="en-US" sz="2800" dirty="0"/>
              <a:t> </a:t>
            </a:r>
            <a:r>
              <a:rPr lang="en-US" sz="2800" dirty="0" err="1"/>
              <a:t>রানীকে</a:t>
            </a:r>
            <a:r>
              <a:rPr lang="en-US" sz="2800" dirty="0"/>
              <a:t> </a:t>
            </a:r>
            <a:r>
              <a:rPr lang="en-US" sz="2800" dirty="0" err="1"/>
              <a:t>আলাদা</a:t>
            </a:r>
            <a:r>
              <a:rPr lang="en-US" sz="2800" dirty="0"/>
              <a:t> </a:t>
            </a:r>
            <a:r>
              <a:rPr lang="en-US" sz="2800" dirty="0" err="1"/>
              <a:t>করে</a:t>
            </a:r>
            <a:r>
              <a:rPr lang="en-US" sz="2800" dirty="0"/>
              <a:t> </a:t>
            </a:r>
            <a:r>
              <a:rPr lang="en-US" sz="2800" dirty="0" err="1"/>
              <a:t>মৌবক্সের</a:t>
            </a:r>
            <a:r>
              <a:rPr lang="en-US" sz="2800" dirty="0"/>
              <a:t> </a:t>
            </a:r>
            <a:r>
              <a:rPr lang="en-US" sz="2800" dirty="0" err="1"/>
              <a:t>রানী</a:t>
            </a:r>
            <a:r>
              <a:rPr lang="en-US" sz="2800" dirty="0"/>
              <a:t> </a:t>
            </a:r>
            <a:r>
              <a:rPr lang="en-US" sz="2800" dirty="0" err="1"/>
              <a:t>কুঠুরীতে</a:t>
            </a:r>
            <a:r>
              <a:rPr lang="en-US" sz="2800" dirty="0"/>
              <a:t> </a:t>
            </a:r>
            <a:r>
              <a:rPr lang="en-US" sz="2800" dirty="0" err="1"/>
              <a:t>ঢুকিয়ে</a:t>
            </a:r>
            <a:r>
              <a:rPr lang="en-US" sz="2800" dirty="0"/>
              <a:t> </a:t>
            </a:r>
            <a:r>
              <a:rPr lang="en-US" sz="2800" dirty="0" err="1"/>
              <a:t>দিতে</a:t>
            </a:r>
            <a:r>
              <a:rPr lang="en-US" sz="2800" dirty="0"/>
              <a:t> </a:t>
            </a:r>
            <a:r>
              <a:rPr lang="en-US" sz="2800" dirty="0" err="1"/>
              <a:t>হবে</a:t>
            </a:r>
            <a:r>
              <a:rPr lang="en-US" sz="2800" dirty="0"/>
              <a:t>। </a:t>
            </a:r>
          </a:p>
          <a:p>
            <a:pPr marL="285750" indent="-285750">
              <a:buFont typeface="Courier New" panose="02070309020205020404" pitchFamily="49" charset="0"/>
              <a:buChar char="o"/>
            </a:pPr>
            <a:r>
              <a:rPr lang="en-US" sz="2800" dirty="0" err="1"/>
              <a:t>পুরুষ</a:t>
            </a:r>
            <a:r>
              <a:rPr lang="en-US" sz="2800" dirty="0"/>
              <a:t> </a:t>
            </a:r>
            <a:r>
              <a:rPr lang="en-US" sz="2800" dirty="0" err="1"/>
              <a:t>মৌমাছি</a:t>
            </a:r>
            <a:r>
              <a:rPr lang="en-US" sz="2800" dirty="0"/>
              <a:t> </a:t>
            </a:r>
            <a:r>
              <a:rPr lang="en-US" sz="2800" dirty="0" err="1"/>
              <a:t>সংগ্রহঃ</a:t>
            </a:r>
            <a:r>
              <a:rPr lang="en-US" sz="2800" dirty="0"/>
              <a:t> </a:t>
            </a:r>
            <a:r>
              <a:rPr lang="en-US" sz="2800" dirty="0" err="1"/>
              <a:t>চাকে</a:t>
            </a:r>
            <a:r>
              <a:rPr lang="en-US" sz="2800" dirty="0"/>
              <a:t> </a:t>
            </a:r>
            <a:r>
              <a:rPr lang="en-US" sz="2800" dirty="0" err="1"/>
              <a:t>পুরুষ</a:t>
            </a:r>
            <a:r>
              <a:rPr lang="en-US" sz="2800" dirty="0"/>
              <a:t> ৩-৪ </a:t>
            </a:r>
            <a:r>
              <a:rPr lang="en-US" sz="2800" dirty="0" err="1"/>
              <a:t>টি</a:t>
            </a:r>
            <a:r>
              <a:rPr lang="en-US" sz="2800" dirty="0"/>
              <a:t> </a:t>
            </a:r>
            <a:r>
              <a:rPr lang="en-US" sz="2800" dirty="0" err="1"/>
              <a:t>না</a:t>
            </a:r>
            <a:r>
              <a:rPr lang="en-US" sz="2800" dirty="0"/>
              <a:t> </a:t>
            </a:r>
            <a:r>
              <a:rPr lang="en-US" sz="2800" dirty="0" err="1"/>
              <a:t>থাকলে</a:t>
            </a:r>
            <a:r>
              <a:rPr lang="en-US" sz="2800" dirty="0"/>
              <a:t> </a:t>
            </a:r>
            <a:r>
              <a:rPr lang="en-US" sz="2800" dirty="0" err="1"/>
              <a:t>পুরুষের</a:t>
            </a:r>
            <a:r>
              <a:rPr lang="en-US" sz="2800" dirty="0"/>
              <a:t> </a:t>
            </a:r>
            <a:r>
              <a:rPr lang="en-US" sz="2800" dirty="0" err="1"/>
              <a:t>চাকের</a:t>
            </a:r>
            <a:r>
              <a:rPr lang="en-US" sz="2800" dirty="0"/>
              <a:t> </a:t>
            </a:r>
            <a:r>
              <a:rPr lang="en-US" sz="2800" dirty="0" err="1"/>
              <a:t>অংশ</a:t>
            </a:r>
            <a:r>
              <a:rPr lang="en-US" sz="2800" dirty="0"/>
              <a:t> </a:t>
            </a:r>
            <a:r>
              <a:rPr lang="en-US" sz="2800" dirty="0" err="1"/>
              <a:t>কাটা</a:t>
            </a:r>
            <a:r>
              <a:rPr lang="en-US" sz="2800" dirty="0"/>
              <a:t> </a:t>
            </a:r>
            <a:r>
              <a:rPr lang="en-US" sz="2800" dirty="0" err="1"/>
              <a:t>যাবে</a:t>
            </a:r>
            <a:r>
              <a:rPr lang="en-US" sz="2800" dirty="0"/>
              <a:t> </a:t>
            </a:r>
            <a:r>
              <a:rPr lang="en-US" sz="2800" dirty="0" err="1"/>
              <a:t>না</a:t>
            </a:r>
            <a:r>
              <a:rPr lang="en-US" sz="2800" dirty="0"/>
              <a:t>।</a:t>
            </a:r>
          </a:p>
          <a:p>
            <a:pPr marL="285750" indent="-285750">
              <a:buFont typeface="Courier New" panose="02070309020205020404" pitchFamily="49" charset="0"/>
              <a:buChar char="o"/>
            </a:pPr>
            <a:endParaRPr lang="en-US" sz="2800" dirty="0"/>
          </a:p>
        </p:txBody>
      </p:sp>
      <p:pic>
        <p:nvPicPr>
          <p:cNvPr id="7170" name="Picture 2" descr="How to Start a Bee Farm - Backyard Beekeeping">
            <a:extLst>
              <a:ext uri="{FF2B5EF4-FFF2-40B4-BE49-F238E27FC236}">
                <a16:creationId xmlns:a16="http://schemas.microsoft.com/office/drawing/2014/main" id="{178DF99F-3BFE-0ECE-6407-1ECACA9FAB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0006" y="2411852"/>
            <a:ext cx="4901992" cy="3717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5688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a:t>
            </a:r>
            <a:r>
              <a:rPr lang="en-US" dirty="0"/>
              <a:t> </a:t>
            </a:r>
            <a:r>
              <a:rPr lang="en-US" dirty="0" err="1"/>
              <a:t>পালন</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334978" y="2294722"/>
            <a:ext cx="6002448" cy="4832092"/>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মৌবক্স</a:t>
            </a:r>
            <a:r>
              <a:rPr lang="en-US" sz="2800" dirty="0"/>
              <a:t> </a:t>
            </a:r>
            <a:r>
              <a:rPr lang="en-US" sz="2800" dirty="0" err="1"/>
              <a:t>স্থাপনঃ</a:t>
            </a:r>
            <a:r>
              <a:rPr lang="en-US" sz="2800" dirty="0"/>
              <a:t> </a:t>
            </a:r>
            <a:r>
              <a:rPr lang="en-US" sz="2800" dirty="0" err="1"/>
              <a:t>রানীকে</a:t>
            </a:r>
            <a:r>
              <a:rPr lang="en-US" sz="2800" dirty="0"/>
              <a:t> </a:t>
            </a:r>
            <a:r>
              <a:rPr lang="en-US" sz="2800" dirty="0" err="1"/>
              <a:t>মৌবকে</a:t>
            </a:r>
            <a:r>
              <a:rPr lang="en-US" sz="2800" dirty="0"/>
              <a:t> </a:t>
            </a:r>
            <a:r>
              <a:rPr lang="en-US" sz="2800" dirty="0" err="1"/>
              <a:t>ঢুকালে</a:t>
            </a:r>
            <a:r>
              <a:rPr lang="en-US" sz="2800" dirty="0"/>
              <a:t> </a:t>
            </a:r>
            <a:r>
              <a:rPr lang="en-US" sz="2800" dirty="0" err="1"/>
              <a:t>বাকিরাও</a:t>
            </a:r>
            <a:r>
              <a:rPr lang="en-US" sz="2800" dirty="0"/>
              <a:t> </a:t>
            </a:r>
            <a:r>
              <a:rPr lang="en-US" sz="2800" dirty="0" err="1"/>
              <a:t>সেখানে</a:t>
            </a:r>
            <a:r>
              <a:rPr lang="en-US" sz="2800" dirty="0"/>
              <a:t> </a:t>
            </a:r>
            <a:r>
              <a:rPr lang="en-US" sz="2800" dirty="0" err="1"/>
              <a:t>ঢুকে</a:t>
            </a:r>
            <a:r>
              <a:rPr lang="en-US" sz="2800" dirty="0"/>
              <a:t> </a:t>
            </a:r>
            <a:r>
              <a:rPr lang="en-US" sz="2800" dirty="0" err="1"/>
              <a:t>যাবে</a:t>
            </a:r>
            <a:r>
              <a:rPr lang="en-US" sz="2800" dirty="0"/>
              <a:t>। </a:t>
            </a:r>
            <a:r>
              <a:rPr lang="en-US" sz="2800" dirty="0" err="1"/>
              <a:t>তারপর</a:t>
            </a:r>
            <a:r>
              <a:rPr lang="en-US" sz="2800" dirty="0"/>
              <a:t> </a:t>
            </a:r>
            <a:r>
              <a:rPr lang="en-US" sz="2800" dirty="0" err="1"/>
              <a:t>তারজালি</a:t>
            </a:r>
            <a:r>
              <a:rPr lang="en-US" sz="2800" dirty="0"/>
              <a:t> </a:t>
            </a:r>
            <a:r>
              <a:rPr lang="en-US" sz="2800" dirty="0" err="1"/>
              <a:t>দিয়ে</a:t>
            </a:r>
            <a:r>
              <a:rPr lang="en-US" sz="2800" dirty="0"/>
              <a:t> </a:t>
            </a:r>
            <a:r>
              <a:rPr lang="en-US" sz="2800" dirty="0" err="1"/>
              <a:t>আটকিয়ে</a:t>
            </a:r>
            <a:r>
              <a:rPr lang="en-US" sz="2800" dirty="0"/>
              <a:t> </a:t>
            </a:r>
            <a:r>
              <a:rPr lang="en-US" sz="2800" dirty="0" err="1"/>
              <a:t>দিতে</a:t>
            </a:r>
            <a:r>
              <a:rPr lang="en-US" sz="2800" dirty="0"/>
              <a:t> </a:t>
            </a:r>
            <a:r>
              <a:rPr lang="en-US" sz="2800" dirty="0" err="1"/>
              <a:t>হবে</a:t>
            </a:r>
            <a:r>
              <a:rPr lang="en-US" sz="2800" dirty="0"/>
              <a:t>।</a:t>
            </a:r>
          </a:p>
          <a:p>
            <a:pPr marL="285750" indent="-285750">
              <a:buFont typeface="Courier New" panose="02070309020205020404" pitchFamily="49" charset="0"/>
              <a:buChar char="o"/>
            </a:pPr>
            <a:r>
              <a:rPr lang="en-US" sz="2800" dirty="0" err="1"/>
              <a:t>মৌবক্স</a:t>
            </a:r>
            <a:r>
              <a:rPr lang="en-US" sz="2800" dirty="0"/>
              <a:t> </a:t>
            </a:r>
            <a:r>
              <a:rPr lang="en-US" sz="2800" dirty="0" err="1"/>
              <a:t>রক্ষণাবেক্ষনঃ</a:t>
            </a:r>
            <a:r>
              <a:rPr lang="en-US" sz="2800" dirty="0"/>
              <a:t> </a:t>
            </a:r>
            <a:r>
              <a:rPr lang="en-US" sz="2800" dirty="0" err="1"/>
              <a:t>চিনির</a:t>
            </a:r>
            <a:r>
              <a:rPr lang="en-US" sz="2800" dirty="0"/>
              <a:t> </a:t>
            </a:r>
            <a:r>
              <a:rPr lang="en-US" sz="2800" dirty="0" err="1"/>
              <a:t>সিরা</a:t>
            </a:r>
            <a:r>
              <a:rPr lang="en-US" sz="2800" dirty="0"/>
              <a:t> </a:t>
            </a:r>
            <a:r>
              <a:rPr lang="en-US" sz="2800" dirty="0" err="1"/>
              <a:t>দিয়ে</a:t>
            </a:r>
            <a:r>
              <a:rPr lang="en-US" sz="2800" dirty="0"/>
              <a:t> </a:t>
            </a:r>
            <a:r>
              <a:rPr lang="en-US" sz="2800" dirty="0" err="1"/>
              <a:t>রাখতে</a:t>
            </a:r>
            <a:r>
              <a:rPr lang="en-US" sz="2800" dirty="0"/>
              <a:t> </a:t>
            </a:r>
            <a:r>
              <a:rPr lang="en-US" sz="2800" dirty="0" err="1"/>
              <a:t>হবে</a:t>
            </a:r>
            <a:r>
              <a:rPr lang="en-US" sz="2800" dirty="0"/>
              <a:t> </a:t>
            </a:r>
            <a:r>
              <a:rPr lang="en-US" sz="2800" dirty="0" err="1"/>
              <a:t>যাতে</a:t>
            </a:r>
            <a:r>
              <a:rPr lang="en-US" sz="2800" dirty="0"/>
              <a:t> </a:t>
            </a:r>
            <a:r>
              <a:rPr lang="en-US" sz="2800" dirty="0" err="1"/>
              <a:t>মৌমাছির</a:t>
            </a:r>
            <a:r>
              <a:rPr lang="en-US" sz="2800" dirty="0"/>
              <a:t> </a:t>
            </a:r>
            <a:r>
              <a:rPr lang="en-US" sz="2800" dirty="0" err="1"/>
              <a:t>ক্ষুদা</a:t>
            </a:r>
            <a:r>
              <a:rPr lang="en-US" sz="2800" dirty="0"/>
              <a:t> </a:t>
            </a:r>
            <a:r>
              <a:rPr lang="en-US" sz="2800" dirty="0" err="1"/>
              <a:t>থাকলে</a:t>
            </a:r>
            <a:r>
              <a:rPr lang="en-US" sz="2800" dirty="0"/>
              <a:t> </a:t>
            </a:r>
            <a:r>
              <a:rPr lang="en-US" sz="2800" dirty="0" err="1"/>
              <a:t>সেখান</a:t>
            </a:r>
            <a:r>
              <a:rPr lang="en-US" sz="2800" dirty="0"/>
              <a:t> </a:t>
            </a:r>
            <a:r>
              <a:rPr lang="en-US" sz="2800" dirty="0" err="1"/>
              <a:t>থেকে</a:t>
            </a:r>
            <a:r>
              <a:rPr lang="en-US" sz="2800" dirty="0"/>
              <a:t> </a:t>
            </a:r>
            <a:r>
              <a:rPr lang="en-US" sz="2800" dirty="0" err="1"/>
              <a:t>খেতে</a:t>
            </a:r>
            <a:r>
              <a:rPr lang="en-US" sz="2800" dirty="0"/>
              <a:t> </a:t>
            </a:r>
            <a:r>
              <a:rPr lang="en-US" sz="2800" dirty="0" err="1"/>
              <a:t>পারে</a:t>
            </a:r>
            <a:r>
              <a:rPr lang="en-US" sz="2800" dirty="0"/>
              <a:t>। ৪-৫ </a:t>
            </a:r>
            <a:r>
              <a:rPr lang="en-US" sz="2800" dirty="0" err="1"/>
              <a:t>দিন</a:t>
            </a:r>
            <a:r>
              <a:rPr lang="en-US" sz="2800" dirty="0"/>
              <a:t> পর </a:t>
            </a:r>
            <a:r>
              <a:rPr lang="en-US" sz="2800" dirty="0" err="1"/>
              <a:t>চাক</a:t>
            </a:r>
            <a:r>
              <a:rPr lang="en-US" sz="2800" dirty="0"/>
              <a:t> </a:t>
            </a:r>
            <a:r>
              <a:rPr lang="en-US" sz="2800" dirty="0" err="1"/>
              <a:t>তৈরী</a:t>
            </a:r>
            <a:r>
              <a:rPr lang="en-US" sz="2800" dirty="0"/>
              <a:t> </a:t>
            </a:r>
            <a:r>
              <a:rPr lang="en-US" sz="2800" dirty="0" err="1"/>
              <a:t>হলে</a:t>
            </a:r>
            <a:r>
              <a:rPr lang="en-US" sz="2800" dirty="0"/>
              <a:t> </a:t>
            </a:r>
            <a:r>
              <a:rPr lang="en-US" sz="2800" dirty="0" err="1"/>
              <a:t>তারজালি</a:t>
            </a:r>
            <a:r>
              <a:rPr lang="en-US" sz="2800" dirty="0"/>
              <a:t> </a:t>
            </a:r>
            <a:r>
              <a:rPr lang="en-US" sz="2800" dirty="0" err="1"/>
              <a:t>খুলে</a:t>
            </a:r>
            <a:r>
              <a:rPr lang="en-US" sz="2800" dirty="0"/>
              <a:t> </a:t>
            </a:r>
            <a:r>
              <a:rPr lang="en-US" sz="2800" dirty="0" err="1"/>
              <a:t>দিলেও</a:t>
            </a:r>
            <a:r>
              <a:rPr lang="en-US" sz="2800" dirty="0"/>
              <a:t> </a:t>
            </a:r>
            <a:r>
              <a:rPr lang="en-US" sz="2800" dirty="0" err="1"/>
              <a:t>রানী</a:t>
            </a:r>
            <a:r>
              <a:rPr lang="en-US" sz="2800" dirty="0"/>
              <a:t> আর </a:t>
            </a:r>
            <a:r>
              <a:rPr lang="en-US" sz="2800" dirty="0" err="1"/>
              <a:t>যাবে</a:t>
            </a:r>
            <a:r>
              <a:rPr lang="en-US" sz="2800" dirty="0"/>
              <a:t> </a:t>
            </a:r>
            <a:r>
              <a:rPr lang="en-US" sz="2800" dirty="0" err="1"/>
              <a:t>না</a:t>
            </a:r>
            <a:r>
              <a:rPr lang="en-US" sz="2800" dirty="0"/>
              <a:t>।</a:t>
            </a:r>
          </a:p>
          <a:p>
            <a:pPr marL="285750" indent="-285750">
              <a:buFont typeface="Courier New" panose="02070309020205020404" pitchFamily="49" charset="0"/>
              <a:buChar char="o"/>
            </a:pPr>
            <a:endParaRPr lang="en-US" sz="2800" dirty="0"/>
          </a:p>
        </p:txBody>
      </p:sp>
      <p:pic>
        <p:nvPicPr>
          <p:cNvPr id="8194" name="Picture 2" descr="55,532 Honey Bee Hive Stock Photos - Free &amp; Royalty-Free Stock Photos from  Dreamstime">
            <a:extLst>
              <a:ext uri="{FF2B5EF4-FFF2-40B4-BE49-F238E27FC236}">
                <a16:creationId xmlns:a16="http://schemas.microsoft.com/office/drawing/2014/main" id="{73565BE8-9D9A-3616-0668-26E9D5E0BC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3799" y="2598344"/>
            <a:ext cx="4864542" cy="3247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70279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a:t>
            </a:r>
            <a:r>
              <a:rPr lang="en-US" dirty="0"/>
              <a:t> </a:t>
            </a:r>
            <a:r>
              <a:rPr lang="en-US" dirty="0" err="1"/>
              <a:t>পালন</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262550" y="2493898"/>
            <a:ext cx="6002448" cy="2677656"/>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মৌমাছির</a:t>
            </a:r>
            <a:r>
              <a:rPr lang="en-US" sz="2800" dirty="0"/>
              <a:t> </a:t>
            </a:r>
            <a:r>
              <a:rPr lang="en-US" sz="2800" dirty="0" err="1"/>
              <a:t>খাদ্যঃ</a:t>
            </a:r>
            <a:r>
              <a:rPr lang="en-US" sz="2800" dirty="0"/>
              <a:t> </a:t>
            </a:r>
            <a:r>
              <a:rPr lang="en-US" sz="2800" dirty="0" err="1"/>
              <a:t>পানি</a:t>
            </a:r>
            <a:r>
              <a:rPr lang="en-US" sz="2800" dirty="0"/>
              <a:t> ১ </a:t>
            </a:r>
            <a:r>
              <a:rPr lang="en-US" sz="2800" dirty="0" err="1"/>
              <a:t>কেজি</a:t>
            </a:r>
            <a:r>
              <a:rPr lang="en-US" sz="2800" dirty="0"/>
              <a:t>, </a:t>
            </a:r>
            <a:r>
              <a:rPr lang="en-US" sz="2800" dirty="0" err="1"/>
              <a:t>চিনি</a:t>
            </a:r>
            <a:r>
              <a:rPr lang="en-US" sz="2800" dirty="0"/>
              <a:t> ১ </a:t>
            </a:r>
            <a:r>
              <a:rPr lang="en-US" sz="2800" dirty="0" err="1"/>
              <a:t>কেজি</a:t>
            </a:r>
            <a:r>
              <a:rPr lang="en-US" sz="2800" dirty="0"/>
              <a:t> ২৫০ </a:t>
            </a:r>
            <a:r>
              <a:rPr lang="en-US" sz="2800" dirty="0" err="1"/>
              <a:t>গ্রাম</a:t>
            </a:r>
            <a:r>
              <a:rPr lang="en-US" sz="2800" dirty="0"/>
              <a:t>, </a:t>
            </a:r>
            <a:r>
              <a:rPr lang="en-US" sz="2800" dirty="0" err="1"/>
              <a:t>টারটারিক</a:t>
            </a:r>
            <a:r>
              <a:rPr lang="en-US" sz="2800" dirty="0"/>
              <a:t> </a:t>
            </a:r>
            <a:r>
              <a:rPr lang="en-US" sz="2800" dirty="0" err="1"/>
              <a:t>এসিড</a:t>
            </a:r>
            <a:r>
              <a:rPr lang="en-US" sz="2800" dirty="0"/>
              <a:t> ৭ </a:t>
            </a:r>
            <a:r>
              <a:rPr lang="en-US" sz="2800" dirty="0" err="1"/>
              <a:t>সিসি</a:t>
            </a:r>
            <a:r>
              <a:rPr lang="en-US" sz="2800" dirty="0"/>
              <a:t>।</a:t>
            </a:r>
          </a:p>
          <a:p>
            <a:pPr marL="285750" indent="-285750">
              <a:buFont typeface="Courier New" panose="02070309020205020404" pitchFamily="49" charset="0"/>
              <a:buChar char="o"/>
            </a:pPr>
            <a:endParaRPr lang="en-US" sz="2800" dirty="0"/>
          </a:p>
          <a:p>
            <a:pPr marL="285750" indent="-285750">
              <a:buFont typeface="Courier New" panose="02070309020205020404" pitchFamily="49" charset="0"/>
              <a:buChar char="o"/>
            </a:pPr>
            <a:r>
              <a:rPr lang="en-US" sz="2800" dirty="0" err="1"/>
              <a:t>অধিক</a:t>
            </a:r>
            <a:r>
              <a:rPr lang="en-US" sz="2800" dirty="0"/>
              <a:t> </a:t>
            </a:r>
            <a:r>
              <a:rPr lang="en-US" sz="2800" dirty="0" err="1"/>
              <a:t>শীতে</a:t>
            </a:r>
            <a:r>
              <a:rPr lang="en-US" sz="2800" dirty="0"/>
              <a:t> </a:t>
            </a:r>
            <a:r>
              <a:rPr lang="en-US" sz="2800" dirty="0" err="1"/>
              <a:t>মৌমাছিরা</a:t>
            </a:r>
            <a:r>
              <a:rPr lang="en-US" sz="2800" dirty="0"/>
              <a:t> </a:t>
            </a:r>
            <a:r>
              <a:rPr lang="en-US" sz="2800" dirty="0" err="1"/>
              <a:t>বাইরে</a:t>
            </a:r>
            <a:r>
              <a:rPr lang="en-US" sz="2800" dirty="0"/>
              <a:t> </a:t>
            </a:r>
            <a:r>
              <a:rPr lang="en-US" sz="2800" dirty="0" err="1"/>
              <a:t>যায়</a:t>
            </a:r>
            <a:r>
              <a:rPr lang="en-US" sz="2800" dirty="0"/>
              <a:t> </a:t>
            </a:r>
            <a:r>
              <a:rPr lang="en-US" sz="2800" dirty="0" err="1"/>
              <a:t>না</a:t>
            </a:r>
            <a:r>
              <a:rPr lang="en-US" sz="2800" dirty="0"/>
              <a:t> , </a:t>
            </a:r>
            <a:r>
              <a:rPr lang="en-US" sz="2800" dirty="0" err="1"/>
              <a:t>তাই</a:t>
            </a:r>
            <a:r>
              <a:rPr lang="en-US" sz="2800" dirty="0"/>
              <a:t> </a:t>
            </a:r>
            <a:r>
              <a:rPr lang="en-US" sz="2800" dirty="0" err="1"/>
              <a:t>এসময়</a:t>
            </a:r>
            <a:r>
              <a:rPr lang="en-US" sz="2800" dirty="0"/>
              <a:t> </a:t>
            </a:r>
            <a:r>
              <a:rPr lang="en-US" sz="2800" dirty="0" err="1"/>
              <a:t>কৃত্রিম</a:t>
            </a:r>
            <a:r>
              <a:rPr lang="en-US" sz="2800" dirty="0"/>
              <a:t> </a:t>
            </a:r>
            <a:r>
              <a:rPr lang="en-US" sz="2800" dirty="0" err="1"/>
              <a:t>খাদ্য</a:t>
            </a:r>
            <a:r>
              <a:rPr lang="en-US" sz="2800" dirty="0"/>
              <a:t> </a:t>
            </a:r>
            <a:r>
              <a:rPr lang="en-US" sz="2800" dirty="0" err="1"/>
              <a:t>দিতে</a:t>
            </a:r>
            <a:r>
              <a:rPr lang="en-US" sz="2800" dirty="0"/>
              <a:t> </a:t>
            </a:r>
            <a:r>
              <a:rPr lang="en-US" sz="2800" dirty="0" err="1"/>
              <a:t>হবে</a:t>
            </a:r>
            <a:endParaRPr lang="en-US" sz="2800" dirty="0"/>
          </a:p>
        </p:txBody>
      </p:sp>
      <p:pic>
        <p:nvPicPr>
          <p:cNvPr id="9218" name="Picture 2" descr="What Do Bees Eat? | Ben's Bees">
            <a:extLst>
              <a:ext uri="{FF2B5EF4-FFF2-40B4-BE49-F238E27FC236}">
                <a16:creationId xmlns:a16="http://schemas.microsoft.com/office/drawing/2014/main" id="{1D4D956E-87B7-3CA1-EE26-DCADDC55C7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1099" y="2381060"/>
            <a:ext cx="5257159" cy="3503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0677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a:t>
            </a:r>
            <a:r>
              <a:rPr lang="en-US" dirty="0"/>
              <a:t> </a:t>
            </a:r>
            <a:r>
              <a:rPr lang="en-US" dirty="0" err="1"/>
              <a:t>প্রধান</a:t>
            </a:r>
            <a:r>
              <a:rPr lang="en-US" dirty="0"/>
              <a:t> </a:t>
            </a:r>
            <a:r>
              <a:rPr lang="en-US" dirty="0" err="1"/>
              <a:t>শত্রু</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262550" y="2493898"/>
            <a:ext cx="6002448" cy="3108543"/>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বড়</a:t>
            </a:r>
            <a:r>
              <a:rPr lang="en-US" sz="2800" dirty="0"/>
              <a:t> </a:t>
            </a:r>
            <a:r>
              <a:rPr lang="en-US" sz="2800" dirty="0" err="1"/>
              <a:t>ওয়াক্স</a:t>
            </a:r>
            <a:r>
              <a:rPr lang="en-US" sz="2800" dirty="0"/>
              <a:t> </a:t>
            </a:r>
            <a:r>
              <a:rPr lang="en-US" sz="2800" dirty="0" err="1"/>
              <a:t>মথ</a:t>
            </a:r>
            <a:r>
              <a:rPr lang="en-US" sz="2800" dirty="0"/>
              <a:t> (</a:t>
            </a:r>
            <a:r>
              <a:rPr lang="en-US" sz="2800" dirty="0" err="1"/>
              <a:t>উজি</a:t>
            </a:r>
            <a:r>
              <a:rPr lang="en-US" sz="2800" dirty="0"/>
              <a:t> </a:t>
            </a:r>
            <a:r>
              <a:rPr lang="en-US" sz="2800" dirty="0" err="1"/>
              <a:t>মাছি</a:t>
            </a:r>
            <a:r>
              <a:rPr lang="en-US" sz="2800" dirty="0"/>
              <a:t>)</a:t>
            </a:r>
          </a:p>
          <a:p>
            <a:pPr marL="285750" indent="-285750">
              <a:buFont typeface="Courier New" panose="02070309020205020404" pitchFamily="49" charset="0"/>
              <a:buChar char="o"/>
            </a:pPr>
            <a:r>
              <a:rPr lang="en-US" sz="2800" dirty="0"/>
              <a:t> </a:t>
            </a:r>
            <a:r>
              <a:rPr lang="en-US" sz="2800" dirty="0" err="1"/>
              <a:t>লাল</a:t>
            </a:r>
            <a:r>
              <a:rPr lang="en-US" sz="2800" dirty="0"/>
              <a:t> </a:t>
            </a:r>
            <a:r>
              <a:rPr lang="en-US" sz="2800" dirty="0" err="1"/>
              <a:t>বোলতা</a:t>
            </a:r>
            <a:endParaRPr lang="en-US" sz="2800" dirty="0"/>
          </a:p>
          <a:p>
            <a:pPr marL="285750" indent="-285750">
              <a:buFont typeface="Courier New" panose="02070309020205020404" pitchFamily="49" charset="0"/>
              <a:buChar char="o"/>
            </a:pPr>
            <a:r>
              <a:rPr lang="en-US" sz="2800" dirty="0"/>
              <a:t> </a:t>
            </a:r>
            <a:r>
              <a:rPr lang="en-US" sz="2800" dirty="0" err="1"/>
              <a:t>লাল</a:t>
            </a:r>
            <a:r>
              <a:rPr lang="en-US" sz="2800" dirty="0"/>
              <a:t> </a:t>
            </a:r>
            <a:r>
              <a:rPr lang="en-US" sz="2800" dirty="0" err="1"/>
              <a:t>পিপড়া</a:t>
            </a:r>
            <a:endParaRPr lang="en-US" sz="2800" dirty="0"/>
          </a:p>
          <a:p>
            <a:pPr marL="285750" indent="-285750">
              <a:buFont typeface="Courier New" panose="02070309020205020404" pitchFamily="49" charset="0"/>
              <a:buChar char="o"/>
            </a:pPr>
            <a:r>
              <a:rPr lang="en-US" sz="2800" dirty="0" err="1"/>
              <a:t>এছাড়াওঃ</a:t>
            </a:r>
            <a:r>
              <a:rPr lang="en-US" sz="2800" dirty="0"/>
              <a:t> </a:t>
            </a:r>
            <a:r>
              <a:rPr lang="en-US" sz="2800" dirty="0" err="1"/>
              <a:t>চড়ুই</a:t>
            </a:r>
            <a:r>
              <a:rPr lang="en-US" sz="2800" dirty="0"/>
              <a:t> </a:t>
            </a:r>
            <a:r>
              <a:rPr lang="en-US" sz="2800" dirty="0" err="1"/>
              <a:t>পাখি</a:t>
            </a:r>
            <a:r>
              <a:rPr lang="en-US" sz="2800" dirty="0"/>
              <a:t>, </a:t>
            </a:r>
            <a:r>
              <a:rPr lang="en-US" sz="2800" dirty="0" err="1"/>
              <a:t>উইপোকা</a:t>
            </a:r>
            <a:r>
              <a:rPr lang="en-US" sz="2800" dirty="0"/>
              <a:t>, </a:t>
            </a:r>
            <a:r>
              <a:rPr lang="en-US" sz="2800" dirty="0" err="1"/>
              <a:t>মাকড়সা</a:t>
            </a:r>
            <a:r>
              <a:rPr lang="en-US" sz="2800" dirty="0"/>
              <a:t>, </a:t>
            </a:r>
            <a:r>
              <a:rPr lang="en-US" sz="2800" dirty="0" err="1"/>
              <a:t>দস্যু</a:t>
            </a:r>
            <a:r>
              <a:rPr lang="en-US" sz="2800" dirty="0"/>
              <a:t> </a:t>
            </a:r>
            <a:r>
              <a:rPr lang="en-US" sz="2800" dirty="0" err="1"/>
              <a:t>মাছি</a:t>
            </a:r>
            <a:r>
              <a:rPr lang="en-US" sz="2800" dirty="0"/>
              <a:t>, </a:t>
            </a:r>
            <a:r>
              <a:rPr lang="en-US" sz="2800" dirty="0" err="1"/>
              <a:t>ব্যাঙ</a:t>
            </a:r>
            <a:r>
              <a:rPr lang="en-US" sz="2800" dirty="0"/>
              <a:t> , </a:t>
            </a:r>
            <a:r>
              <a:rPr lang="en-US" sz="2800" dirty="0" err="1"/>
              <a:t>মোরগ-মুরগী</a:t>
            </a:r>
            <a:r>
              <a:rPr lang="en-US" sz="2800" dirty="0"/>
              <a:t>, </a:t>
            </a:r>
            <a:r>
              <a:rPr lang="en-US" sz="2800" dirty="0" err="1"/>
              <a:t>ঈদুর</a:t>
            </a:r>
            <a:r>
              <a:rPr lang="en-US" sz="2800" dirty="0"/>
              <a:t>, </a:t>
            </a:r>
            <a:r>
              <a:rPr lang="en-US" sz="2800" dirty="0" err="1"/>
              <a:t>কাক</a:t>
            </a:r>
            <a:r>
              <a:rPr lang="en-US" sz="2800" dirty="0"/>
              <a:t>, </a:t>
            </a:r>
            <a:r>
              <a:rPr lang="en-US" sz="2800" dirty="0" err="1"/>
              <a:t>টিকটিকি</a:t>
            </a:r>
            <a:r>
              <a:rPr lang="en-US" sz="2800" dirty="0"/>
              <a:t>, </a:t>
            </a:r>
            <a:r>
              <a:rPr lang="en-US" sz="2800" dirty="0" err="1"/>
              <a:t>গুবরে</a:t>
            </a:r>
            <a:r>
              <a:rPr lang="en-US" sz="2800" dirty="0"/>
              <a:t> </a:t>
            </a:r>
            <a:r>
              <a:rPr lang="en-US" sz="2800" dirty="0" err="1"/>
              <a:t>পোকা</a:t>
            </a:r>
            <a:r>
              <a:rPr lang="en-US" sz="2800" dirty="0"/>
              <a:t> </a:t>
            </a:r>
            <a:r>
              <a:rPr lang="en-US" sz="2800" dirty="0" err="1"/>
              <a:t>ইত্যাদি</a:t>
            </a:r>
            <a:endParaRPr lang="en-US" sz="2800" dirty="0"/>
          </a:p>
        </p:txBody>
      </p:sp>
      <p:pic>
        <p:nvPicPr>
          <p:cNvPr id="10242" name="Picture 2" descr="Waxworm - Wikipedia">
            <a:extLst>
              <a:ext uri="{FF2B5EF4-FFF2-40B4-BE49-F238E27FC236}">
                <a16:creationId xmlns:a16="http://schemas.microsoft.com/office/drawing/2014/main" id="{C8983DD2-A70B-46CA-11ED-A2FD6963B7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2493898"/>
            <a:ext cx="2390115" cy="1326389"/>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oney Bee Predators- Carolina Honeybees">
            <a:extLst>
              <a:ext uri="{FF2B5EF4-FFF2-40B4-BE49-F238E27FC236}">
                <a16:creationId xmlns:a16="http://schemas.microsoft.com/office/drawing/2014/main" id="{FE5F7D38-EB74-B4CD-EBF1-515B9580B9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3201" y="2493898"/>
            <a:ext cx="2652778" cy="1326389"/>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Red ant | The Wildlife Trusts">
            <a:extLst>
              <a:ext uri="{FF2B5EF4-FFF2-40B4-BE49-F238E27FC236}">
                <a16:creationId xmlns:a16="http://schemas.microsoft.com/office/drawing/2014/main" id="{4E989E08-D94E-CD24-2E31-9AA9E2B7DC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4033116"/>
            <a:ext cx="2390115" cy="1569325"/>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Rats">
            <a:extLst>
              <a:ext uri="{FF2B5EF4-FFF2-40B4-BE49-F238E27FC236}">
                <a16:creationId xmlns:a16="http://schemas.microsoft.com/office/drawing/2014/main" id="{1A8A8FC8-5EB9-B119-8062-E1D7568F80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3200" y="4048169"/>
            <a:ext cx="2652777" cy="1554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1030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মধু</a:t>
            </a:r>
            <a:r>
              <a:rPr lang="en-US" dirty="0"/>
              <a:t> </a:t>
            </a:r>
            <a:r>
              <a:rPr lang="en-US" dirty="0" err="1"/>
              <a:t>উৎপাদন</a:t>
            </a:r>
            <a:r>
              <a:rPr lang="en-US" dirty="0"/>
              <a:t> </a:t>
            </a:r>
            <a:r>
              <a:rPr lang="en-US" dirty="0" err="1"/>
              <a:t>কৌশল</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443619" y="2708598"/>
            <a:ext cx="6002448" cy="3108543"/>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ফুলের</a:t>
            </a:r>
            <a:r>
              <a:rPr lang="en-US" sz="2800" dirty="0"/>
              <a:t> </a:t>
            </a:r>
            <a:r>
              <a:rPr lang="en-US" sz="2800" dirty="0" err="1"/>
              <a:t>মধু</a:t>
            </a:r>
            <a:r>
              <a:rPr lang="en-US" sz="2800" dirty="0"/>
              <a:t> </a:t>
            </a:r>
            <a:r>
              <a:rPr lang="en-US" sz="2800" dirty="0" err="1"/>
              <a:t>বা</a:t>
            </a:r>
            <a:r>
              <a:rPr lang="en-US" sz="2800" dirty="0"/>
              <a:t> “</a:t>
            </a:r>
            <a:r>
              <a:rPr lang="en-US" sz="2800" dirty="0" err="1"/>
              <a:t>নেকটার</a:t>
            </a:r>
            <a:r>
              <a:rPr lang="en-US" sz="2800" dirty="0"/>
              <a:t>” </a:t>
            </a:r>
            <a:r>
              <a:rPr lang="en-US" sz="2800" dirty="0" err="1"/>
              <a:t>মৌমাছির</a:t>
            </a:r>
            <a:r>
              <a:rPr lang="en-US" sz="2800" dirty="0"/>
              <a:t> </a:t>
            </a:r>
            <a:r>
              <a:rPr lang="en-US" sz="2800" dirty="0" err="1"/>
              <a:t>লালার</a:t>
            </a:r>
            <a:r>
              <a:rPr lang="en-US" sz="2800" dirty="0"/>
              <a:t> </a:t>
            </a:r>
            <a:r>
              <a:rPr lang="en-US" sz="2800" dirty="0" err="1"/>
              <a:t>সাথে</a:t>
            </a:r>
            <a:r>
              <a:rPr lang="en-US" sz="2800" dirty="0"/>
              <a:t> </a:t>
            </a:r>
            <a:r>
              <a:rPr lang="en-US" sz="2800" dirty="0" err="1"/>
              <a:t>মিশ্রিত</a:t>
            </a:r>
            <a:r>
              <a:rPr lang="en-US" sz="2800" dirty="0"/>
              <a:t> </a:t>
            </a:r>
            <a:r>
              <a:rPr lang="en-US" sz="2800" dirty="0" err="1"/>
              <a:t>হয়ে</a:t>
            </a:r>
            <a:r>
              <a:rPr lang="en-US" sz="2800" dirty="0"/>
              <a:t> </a:t>
            </a:r>
            <a:r>
              <a:rPr lang="en-US" sz="2800" dirty="0" err="1"/>
              <a:t>মধু</a:t>
            </a:r>
            <a:r>
              <a:rPr lang="en-US" sz="2800" dirty="0"/>
              <a:t> </a:t>
            </a:r>
            <a:r>
              <a:rPr lang="en-US" sz="2800" dirty="0" err="1"/>
              <a:t>তৈরি</a:t>
            </a:r>
            <a:r>
              <a:rPr lang="en-US" sz="2800" dirty="0"/>
              <a:t> </a:t>
            </a:r>
            <a:r>
              <a:rPr lang="en-US" sz="2800" dirty="0" err="1"/>
              <a:t>করে</a:t>
            </a:r>
            <a:r>
              <a:rPr lang="en-US" sz="2800" dirty="0"/>
              <a:t>। </a:t>
            </a:r>
            <a:r>
              <a:rPr lang="en-US" sz="2800" dirty="0" err="1"/>
              <a:t>কোষে</a:t>
            </a:r>
            <a:r>
              <a:rPr lang="en-US" sz="2800" dirty="0"/>
              <a:t> </a:t>
            </a:r>
            <a:r>
              <a:rPr lang="en-US" sz="2800" dirty="0" err="1"/>
              <a:t>মধু</a:t>
            </a:r>
            <a:r>
              <a:rPr lang="en-US" sz="2800" dirty="0"/>
              <a:t> </a:t>
            </a:r>
            <a:r>
              <a:rPr lang="en-US" sz="2800" dirty="0" err="1"/>
              <a:t>ঢুকিয়ে</a:t>
            </a:r>
            <a:r>
              <a:rPr lang="en-US" sz="2800" dirty="0"/>
              <a:t> </a:t>
            </a:r>
            <a:r>
              <a:rPr lang="en-US" sz="2800" dirty="0" err="1"/>
              <a:t>মৌমাছি</a:t>
            </a:r>
            <a:r>
              <a:rPr lang="en-US" sz="2800" dirty="0"/>
              <a:t> </a:t>
            </a:r>
            <a:r>
              <a:rPr lang="en-US" sz="2800" dirty="0" err="1"/>
              <a:t>পাখা</a:t>
            </a:r>
            <a:r>
              <a:rPr lang="en-US" sz="2800" dirty="0"/>
              <a:t> </a:t>
            </a:r>
            <a:r>
              <a:rPr lang="en-US" sz="2800" dirty="0" err="1"/>
              <a:t>দিয়ে</a:t>
            </a:r>
            <a:r>
              <a:rPr lang="en-US" sz="2800" dirty="0"/>
              <a:t> </a:t>
            </a:r>
            <a:r>
              <a:rPr lang="en-US" sz="2800" dirty="0" err="1"/>
              <a:t>বাতাস</a:t>
            </a:r>
            <a:r>
              <a:rPr lang="en-US" sz="2800" dirty="0"/>
              <a:t> </a:t>
            </a:r>
            <a:r>
              <a:rPr lang="en-US" sz="2800" dirty="0" err="1"/>
              <a:t>করতে</a:t>
            </a:r>
            <a:r>
              <a:rPr lang="en-US" sz="2800" dirty="0"/>
              <a:t> </a:t>
            </a:r>
            <a:r>
              <a:rPr lang="en-US" sz="2800" dirty="0" err="1"/>
              <a:t>থাকলে</a:t>
            </a:r>
            <a:r>
              <a:rPr lang="en-US" sz="2800" dirty="0"/>
              <a:t> </a:t>
            </a:r>
            <a:r>
              <a:rPr lang="en-US" sz="2800" dirty="0" err="1"/>
              <a:t>জলীয়</a:t>
            </a:r>
            <a:r>
              <a:rPr lang="en-US" sz="2800" dirty="0"/>
              <a:t> </a:t>
            </a:r>
            <a:r>
              <a:rPr lang="en-US" sz="2800" dirty="0" err="1"/>
              <a:t>বাষ্প</a:t>
            </a:r>
            <a:r>
              <a:rPr lang="en-US" sz="2800" dirty="0"/>
              <a:t> </a:t>
            </a:r>
            <a:r>
              <a:rPr lang="en-US" sz="2800" dirty="0" err="1"/>
              <a:t>উড়ে</a:t>
            </a:r>
            <a:r>
              <a:rPr lang="en-US" sz="2800" dirty="0"/>
              <a:t> </a:t>
            </a:r>
            <a:r>
              <a:rPr lang="en-US" sz="2800" dirty="0" err="1"/>
              <a:t>গিয়ে</a:t>
            </a:r>
            <a:r>
              <a:rPr lang="en-US" sz="2800" dirty="0"/>
              <a:t> </a:t>
            </a:r>
            <a:r>
              <a:rPr lang="en-US" sz="2800" dirty="0" err="1"/>
              <a:t>মধুর</a:t>
            </a:r>
            <a:r>
              <a:rPr lang="en-US" sz="2800" dirty="0"/>
              <a:t> </a:t>
            </a:r>
            <a:r>
              <a:rPr lang="en-US" sz="2800" dirty="0" err="1"/>
              <a:t>ঘনত্ব</a:t>
            </a:r>
            <a:r>
              <a:rPr lang="en-US" sz="2800" dirty="0"/>
              <a:t> </a:t>
            </a:r>
            <a:r>
              <a:rPr lang="en-US" sz="2800" dirty="0" err="1"/>
              <a:t>বৃদ্ধি</a:t>
            </a:r>
            <a:r>
              <a:rPr lang="en-US" sz="2800" dirty="0"/>
              <a:t> </a:t>
            </a:r>
            <a:r>
              <a:rPr lang="en-US" sz="2800" dirty="0" err="1"/>
              <a:t>পায়</a:t>
            </a:r>
            <a:r>
              <a:rPr lang="en-US" sz="2800" dirty="0"/>
              <a:t>। </a:t>
            </a:r>
            <a:r>
              <a:rPr lang="en-US" sz="2800" dirty="0" err="1"/>
              <a:t>পরে</a:t>
            </a:r>
            <a:r>
              <a:rPr lang="en-US" sz="2800" dirty="0"/>
              <a:t> </a:t>
            </a:r>
            <a:r>
              <a:rPr lang="en-US" sz="2800" dirty="0" err="1"/>
              <a:t>মোম</a:t>
            </a:r>
            <a:r>
              <a:rPr lang="en-US" sz="2800" dirty="0"/>
              <a:t> </a:t>
            </a:r>
            <a:r>
              <a:rPr lang="en-US" sz="2800" dirty="0" err="1"/>
              <a:t>দিয়ে</a:t>
            </a:r>
            <a:r>
              <a:rPr lang="en-US" sz="2800" dirty="0"/>
              <a:t> </a:t>
            </a:r>
            <a:r>
              <a:rPr lang="en-US" sz="2800" dirty="0" err="1"/>
              <a:t>কোষ</a:t>
            </a:r>
            <a:r>
              <a:rPr lang="en-US" sz="2800" dirty="0"/>
              <a:t> </a:t>
            </a:r>
            <a:r>
              <a:rPr lang="en-US" sz="2800" dirty="0" err="1"/>
              <a:t>বন্ধ</a:t>
            </a:r>
            <a:r>
              <a:rPr lang="en-US" sz="2800" dirty="0"/>
              <a:t> </a:t>
            </a:r>
            <a:r>
              <a:rPr lang="en-US" sz="2800" dirty="0" err="1"/>
              <a:t>করে</a:t>
            </a:r>
            <a:r>
              <a:rPr lang="en-US" sz="2800" dirty="0"/>
              <a:t> </a:t>
            </a:r>
            <a:r>
              <a:rPr lang="en-US" sz="2800" dirty="0" err="1"/>
              <a:t>দেয়</a:t>
            </a:r>
            <a:r>
              <a:rPr lang="en-US" sz="2800" dirty="0"/>
              <a:t>।</a:t>
            </a:r>
          </a:p>
        </p:txBody>
      </p:sp>
      <p:pic>
        <p:nvPicPr>
          <p:cNvPr id="11266" name="Picture 2" descr="You can heal more wounds with honey | UdeMNouvelles">
            <a:extLst>
              <a:ext uri="{FF2B5EF4-FFF2-40B4-BE49-F238E27FC236}">
                <a16:creationId xmlns:a16="http://schemas.microsoft.com/office/drawing/2014/main" id="{CCBADDE2-58C9-136F-E4F6-B1D9348A2F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6067" y="2708598"/>
            <a:ext cx="4662813" cy="3108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3656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মধুর</a:t>
            </a:r>
            <a:r>
              <a:rPr lang="en-US" dirty="0"/>
              <a:t> </a:t>
            </a:r>
            <a:r>
              <a:rPr lang="en-US" dirty="0" err="1"/>
              <a:t>গুরুত্ব</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443619" y="2708598"/>
            <a:ext cx="11027122" cy="1815882"/>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চিকিৎসাগত</a:t>
            </a:r>
            <a:r>
              <a:rPr lang="en-US" sz="2800" dirty="0"/>
              <a:t> </a:t>
            </a:r>
            <a:r>
              <a:rPr lang="en-US" sz="2800" dirty="0" err="1"/>
              <a:t>গুরুত্বঃ</a:t>
            </a:r>
            <a:r>
              <a:rPr lang="en-US" sz="2800" dirty="0"/>
              <a:t> </a:t>
            </a:r>
            <a:r>
              <a:rPr lang="en-US" sz="2800" dirty="0" err="1"/>
              <a:t>মধু</a:t>
            </a:r>
            <a:r>
              <a:rPr lang="en-US" sz="2800" dirty="0"/>
              <a:t> </a:t>
            </a:r>
            <a:r>
              <a:rPr lang="en-US" sz="2800" dirty="0" err="1"/>
              <a:t>জীবানুনাশক</a:t>
            </a:r>
            <a:endParaRPr lang="en-US" sz="2800" dirty="0"/>
          </a:p>
          <a:p>
            <a:pPr marL="285750" indent="-285750">
              <a:buFont typeface="Courier New" panose="02070309020205020404" pitchFamily="49" charset="0"/>
              <a:buChar char="o"/>
            </a:pPr>
            <a:r>
              <a:rPr lang="en-US" sz="2800" dirty="0" err="1"/>
              <a:t>পরাগায়ন</a:t>
            </a:r>
            <a:r>
              <a:rPr lang="en-US" sz="2800" dirty="0"/>
              <a:t> </a:t>
            </a:r>
            <a:r>
              <a:rPr lang="en-US" sz="2800" dirty="0" err="1"/>
              <a:t>গুরুত্বঃ</a:t>
            </a:r>
            <a:r>
              <a:rPr lang="en-US" sz="2800" dirty="0"/>
              <a:t> </a:t>
            </a:r>
            <a:r>
              <a:rPr lang="en-US" sz="2800" dirty="0" err="1"/>
              <a:t>মৌমাছি</a:t>
            </a:r>
            <a:r>
              <a:rPr lang="en-US" sz="2800" dirty="0"/>
              <a:t> </a:t>
            </a:r>
            <a:r>
              <a:rPr lang="en-US" sz="2800" dirty="0" err="1"/>
              <a:t>রেনু</a:t>
            </a:r>
            <a:r>
              <a:rPr lang="en-US" sz="2800" dirty="0"/>
              <a:t> </a:t>
            </a:r>
            <a:r>
              <a:rPr lang="en-US" sz="2800" dirty="0" err="1"/>
              <a:t>বহন</a:t>
            </a:r>
            <a:r>
              <a:rPr lang="en-US" sz="2800" dirty="0"/>
              <a:t> </a:t>
            </a:r>
            <a:r>
              <a:rPr lang="en-US" sz="2800" dirty="0" err="1"/>
              <a:t>করে</a:t>
            </a:r>
            <a:r>
              <a:rPr lang="en-US" sz="2800" dirty="0"/>
              <a:t> </a:t>
            </a:r>
            <a:r>
              <a:rPr lang="en-US" sz="2800" dirty="0" err="1"/>
              <a:t>পরাগায়ন</a:t>
            </a:r>
            <a:r>
              <a:rPr lang="en-US" sz="2800" dirty="0"/>
              <a:t> </a:t>
            </a:r>
            <a:r>
              <a:rPr lang="en-US" sz="2800" dirty="0" err="1"/>
              <a:t>করে</a:t>
            </a:r>
            <a:r>
              <a:rPr lang="en-US" sz="2800" dirty="0"/>
              <a:t> </a:t>
            </a:r>
          </a:p>
          <a:p>
            <a:pPr marL="285750" indent="-285750">
              <a:buFont typeface="Courier New" panose="02070309020205020404" pitchFamily="49" charset="0"/>
              <a:buChar char="o"/>
            </a:pPr>
            <a:r>
              <a:rPr lang="en-US" sz="2800" dirty="0" err="1"/>
              <a:t>পুষ্টিগত</a:t>
            </a:r>
            <a:r>
              <a:rPr lang="en-US" sz="2800" dirty="0"/>
              <a:t> </a:t>
            </a:r>
            <a:r>
              <a:rPr lang="en-US" sz="2800" dirty="0" err="1"/>
              <a:t>গুরুত্বঃ</a:t>
            </a:r>
            <a:r>
              <a:rPr lang="en-US" sz="2800" dirty="0"/>
              <a:t> Riboflavin ও Nicotinic Acid, </a:t>
            </a:r>
            <a:r>
              <a:rPr lang="en-US" sz="2800" dirty="0" err="1"/>
              <a:t>প্রোটিন</a:t>
            </a:r>
            <a:r>
              <a:rPr lang="en-US" sz="2800" dirty="0"/>
              <a:t> </a:t>
            </a:r>
            <a:r>
              <a:rPr lang="en-US" sz="2800" dirty="0" err="1"/>
              <a:t>পাওয়া</a:t>
            </a:r>
            <a:r>
              <a:rPr lang="en-US" sz="2800" dirty="0"/>
              <a:t> </a:t>
            </a:r>
            <a:r>
              <a:rPr lang="en-US" sz="2800" dirty="0" err="1"/>
              <a:t>যায়</a:t>
            </a:r>
            <a:endParaRPr lang="en-US" sz="2800" dirty="0"/>
          </a:p>
          <a:p>
            <a:pPr marL="285750" indent="-285750">
              <a:buFont typeface="Courier New" panose="02070309020205020404" pitchFamily="49" charset="0"/>
              <a:buChar char="o"/>
            </a:pPr>
            <a:r>
              <a:rPr lang="en-US" sz="2800" dirty="0" err="1"/>
              <a:t>অর্থনৈতিক</a:t>
            </a:r>
            <a:r>
              <a:rPr lang="en-US" sz="2800" dirty="0"/>
              <a:t> </a:t>
            </a:r>
            <a:r>
              <a:rPr lang="en-US" sz="2800" dirty="0" err="1"/>
              <a:t>গুরুত্বঃ</a:t>
            </a:r>
            <a:r>
              <a:rPr lang="en-US" sz="2800" dirty="0"/>
              <a:t> </a:t>
            </a:r>
            <a:r>
              <a:rPr lang="en-US" sz="2800" dirty="0" err="1"/>
              <a:t>লাভবান</a:t>
            </a:r>
            <a:r>
              <a:rPr lang="en-US" sz="2800" dirty="0"/>
              <a:t> </a:t>
            </a:r>
            <a:r>
              <a:rPr lang="en-US" sz="2800" dirty="0" err="1"/>
              <a:t>হওয়া</a:t>
            </a:r>
            <a:r>
              <a:rPr lang="en-US" sz="2800" dirty="0"/>
              <a:t> </a:t>
            </a:r>
            <a:r>
              <a:rPr lang="en-US" sz="2800" dirty="0" err="1"/>
              <a:t>যায়</a:t>
            </a:r>
            <a:endParaRPr lang="en-US" sz="2800" dirty="0"/>
          </a:p>
        </p:txBody>
      </p:sp>
    </p:spTree>
    <p:extLst>
      <p:ext uri="{BB962C8B-B14F-4D97-AF65-F5344CB8AC3E}">
        <p14:creationId xmlns:p14="http://schemas.microsoft.com/office/powerpoint/2010/main" val="11567293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গরুর</a:t>
            </a:r>
            <a:r>
              <a:rPr lang="en-US" dirty="0"/>
              <a:t> </a:t>
            </a:r>
            <a:r>
              <a:rPr lang="en-US" dirty="0" err="1"/>
              <a:t>কৃত্তিম</a:t>
            </a:r>
            <a:r>
              <a:rPr lang="en-US" dirty="0"/>
              <a:t> </a:t>
            </a:r>
            <a:r>
              <a:rPr lang="en-US" dirty="0" err="1"/>
              <a:t>প্রজনন</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434565" y="2129178"/>
            <a:ext cx="11027122" cy="5262979"/>
          </a:xfrm>
          <a:prstGeom prst="rect">
            <a:avLst/>
          </a:prstGeom>
          <a:noFill/>
        </p:spPr>
        <p:txBody>
          <a:bodyPr wrap="square" rtlCol="0">
            <a:spAutoFit/>
          </a:bodyPr>
          <a:lstStyle/>
          <a:p>
            <a:r>
              <a:rPr lang="en-US" sz="2800" dirty="0" err="1"/>
              <a:t>কৃত্তিম</a:t>
            </a:r>
            <a:r>
              <a:rPr lang="en-US" sz="2800" dirty="0"/>
              <a:t> </a:t>
            </a:r>
            <a:r>
              <a:rPr lang="en-US" sz="2800" dirty="0" err="1"/>
              <a:t>প্রজনন</a:t>
            </a:r>
            <a:r>
              <a:rPr lang="en-US" sz="2800" dirty="0"/>
              <a:t> </a:t>
            </a:r>
            <a:r>
              <a:rPr lang="en-US" sz="2800" dirty="0" err="1"/>
              <a:t>কিঃ</a:t>
            </a:r>
            <a:r>
              <a:rPr lang="en-US" sz="2800" dirty="0"/>
              <a:t> </a:t>
            </a:r>
            <a:r>
              <a:rPr lang="en-US" sz="2800" dirty="0" err="1"/>
              <a:t>কৃত্তিম</a:t>
            </a:r>
            <a:r>
              <a:rPr lang="en-US" sz="2800" dirty="0"/>
              <a:t> </a:t>
            </a:r>
            <a:r>
              <a:rPr lang="en-US" sz="2800" dirty="0" err="1"/>
              <a:t>উপায়ের</a:t>
            </a:r>
            <a:r>
              <a:rPr lang="en-US" sz="2800" dirty="0"/>
              <a:t> </a:t>
            </a:r>
            <a:r>
              <a:rPr lang="en-US" sz="2800" dirty="0" err="1"/>
              <a:t>ষাড়ের</a:t>
            </a:r>
            <a:r>
              <a:rPr lang="en-US" sz="2800" dirty="0"/>
              <a:t> </a:t>
            </a:r>
            <a:r>
              <a:rPr lang="en-US" sz="2800" dirty="0" err="1"/>
              <a:t>থেকে</a:t>
            </a:r>
            <a:r>
              <a:rPr lang="en-US" sz="2800" dirty="0"/>
              <a:t> </a:t>
            </a:r>
            <a:r>
              <a:rPr lang="en-US" sz="2800" dirty="0" err="1"/>
              <a:t>বীর্য</a:t>
            </a:r>
            <a:r>
              <a:rPr lang="en-US" sz="2800" dirty="0"/>
              <a:t> </a:t>
            </a:r>
            <a:r>
              <a:rPr lang="en-US" sz="2800" dirty="0" err="1"/>
              <a:t>সংগ্রহ</a:t>
            </a:r>
            <a:r>
              <a:rPr lang="en-US" sz="2800" dirty="0"/>
              <a:t> </a:t>
            </a:r>
            <a:r>
              <a:rPr lang="en-US" sz="2800" dirty="0" err="1"/>
              <a:t>করে</a:t>
            </a:r>
            <a:r>
              <a:rPr lang="en-US" sz="2800" dirty="0"/>
              <a:t> </a:t>
            </a:r>
            <a:r>
              <a:rPr lang="en-US" sz="2800" dirty="0" err="1"/>
              <a:t>নির্দিষ্ট</a:t>
            </a:r>
            <a:r>
              <a:rPr lang="en-US" sz="2800" dirty="0"/>
              <a:t> </a:t>
            </a:r>
            <a:r>
              <a:rPr lang="en-US" sz="2800" dirty="0" err="1"/>
              <a:t>মাত্রায়</a:t>
            </a:r>
            <a:r>
              <a:rPr lang="en-US" sz="2800" dirty="0"/>
              <a:t> </a:t>
            </a:r>
            <a:r>
              <a:rPr lang="en-US" sz="2800" dirty="0" err="1"/>
              <a:t>গরম</a:t>
            </a:r>
            <a:r>
              <a:rPr lang="en-US" sz="2800" dirty="0"/>
              <a:t> </a:t>
            </a:r>
            <a:r>
              <a:rPr lang="en-US" sz="2800" dirty="0" err="1"/>
              <a:t>হওয়া</a:t>
            </a:r>
            <a:r>
              <a:rPr lang="en-US" sz="2800" dirty="0"/>
              <a:t> </a:t>
            </a:r>
            <a:r>
              <a:rPr lang="en-US" sz="2800" dirty="0" err="1"/>
              <a:t>বা</a:t>
            </a:r>
            <a:r>
              <a:rPr lang="en-US" sz="2800" dirty="0"/>
              <a:t> </a:t>
            </a:r>
            <a:r>
              <a:rPr lang="en-US" sz="2800" dirty="0" err="1"/>
              <a:t>ডাকে</a:t>
            </a:r>
            <a:r>
              <a:rPr lang="en-US" sz="2800" dirty="0"/>
              <a:t> </a:t>
            </a:r>
            <a:r>
              <a:rPr lang="en-US" sz="2800" dirty="0" err="1"/>
              <a:t>আসা</a:t>
            </a:r>
            <a:r>
              <a:rPr lang="en-US" sz="2800" dirty="0"/>
              <a:t> </a:t>
            </a:r>
            <a:r>
              <a:rPr lang="en-US" sz="2800" dirty="0" err="1"/>
              <a:t>গাভীর</a:t>
            </a:r>
            <a:r>
              <a:rPr lang="en-US" sz="2800" dirty="0"/>
              <a:t> </a:t>
            </a:r>
            <a:r>
              <a:rPr lang="en-US" sz="2800" dirty="0" err="1"/>
              <a:t>জরায়ুতে</a:t>
            </a:r>
            <a:r>
              <a:rPr lang="en-US" sz="2800" dirty="0"/>
              <a:t> </a:t>
            </a:r>
            <a:r>
              <a:rPr lang="en-US" sz="2800" dirty="0" err="1"/>
              <a:t>প্রবেশ</a:t>
            </a:r>
            <a:r>
              <a:rPr lang="en-US" sz="2800" dirty="0"/>
              <a:t> </a:t>
            </a:r>
            <a:r>
              <a:rPr lang="en-US" sz="2800" dirty="0" err="1"/>
              <a:t>করিয়ে</a:t>
            </a:r>
            <a:r>
              <a:rPr lang="en-US" sz="2800" dirty="0"/>
              <a:t> </a:t>
            </a:r>
            <a:r>
              <a:rPr lang="en-US" sz="2800" dirty="0" err="1"/>
              <a:t>তাকে</a:t>
            </a:r>
            <a:r>
              <a:rPr lang="en-US" sz="2800" dirty="0"/>
              <a:t> </a:t>
            </a:r>
            <a:r>
              <a:rPr lang="en-US" sz="2800" dirty="0" err="1"/>
              <a:t>গর্ভবতী</a:t>
            </a:r>
            <a:r>
              <a:rPr lang="en-US" sz="2800" dirty="0"/>
              <a:t> </a:t>
            </a:r>
            <a:r>
              <a:rPr lang="en-US" sz="2800" dirty="0" err="1"/>
              <a:t>করা</a:t>
            </a:r>
            <a:r>
              <a:rPr lang="en-US" sz="2800" dirty="0"/>
              <a:t> </a:t>
            </a:r>
            <a:r>
              <a:rPr lang="en-US" sz="2800" dirty="0" err="1"/>
              <a:t>পদ্ধতিকে</a:t>
            </a:r>
            <a:r>
              <a:rPr lang="en-US" sz="2800" dirty="0"/>
              <a:t> </a:t>
            </a:r>
            <a:r>
              <a:rPr lang="en-US" sz="2800" dirty="0" err="1"/>
              <a:t>কৃত্তিম</a:t>
            </a:r>
            <a:r>
              <a:rPr lang="en-US" sz="2800" dirty="0"/>
              <a:t> </a:t>
            </a:r>
            <a:r>
              <a:rPr lang="en-US" sz="2800" dirty="0" err="1"/>
              <a:t>প্রজনন</a:t>
            </a:r>
            <a:r>
              <a:rPr lang="en-US" sz="2800" dirty="0"/>
              <a:t> </a:t>
            </a:r>
            <a:r>
              <a:rPr lang="en-US" sz="2800" dirty="0" err="1"/>
              <a:t>বলে</a:t>
            </a:r>
            <a:r>
              <a:rPr lang="en-US" sz="2800" dirty="0"/>
              <a:t>।</a:t>
            </a:r>
            <a:br>
              <a:rPr lang="en-US" sz="2800" dirty="0"/>
            </a:br>
            <a:endParaRPr lang="en-US" sz="2800" dirty="0"/>
          </a:p>
          <a:p>
            <a:r>
              <a:rPr lang="en-US" sz="2800" dirty="0" err="1"/>
              <a:t>কৃত্তিম</a:t>
            </a:r>
            <a:r>
              <a:rPr lang="en-US" sz="2800" dirty="0"/>
              <a:t> </a:t>
            </a:r>
            <a:r>
              <a:rPr lang="en-US" sz="2800" dirty="0" err="1"/>
              <a:t>প্রজননে</a:t>
            </a:r>
            <a:r>
              <a:rPr lang="en-US" sz="2800" dirty="0"/>
              <a:t> </a:t>
            </a:r>
            <a:r>
              <a:rPr lang="en-US" sz="2800" dirty="0" err="1"/>
              <a:t>ব্যাবহৃত</a:t>
            </a:r>
            <a:r>
              <a:rPr lang="en-US" sz="2800" dirty="0"/>
              <a:t> </a:t>
            </a:r>
            <a:r>
              <a:rPr lang="en-US" sz="2800" dirty="0" err="1"/>
              <a:t>উপযুক্ত</a:t>
            </a:r>
            <a:r>
              <a:rPr lang="en-US" sz="2800" dirty="0"/>
              <a:t> </a:t>
            </a:r>
            <a:r>
              <a:rPr lang="en-US" sz="2800" dirty="0" err="1"/>
              <a:t>ষাড়</a:t>
            </a:r>
            <a:r>
              <a:rPr lang="en-US" sz="2800" dirty="0"/>
              <a:t> </a:t>
            </a:r>
            <a:r>
              <a:rPr lang="en-US" sz="2800" dirty="0" err="1"/>
              <a:t>চিহ্নিতকরণঃ</a:t>
            </a:r>
            <a:br>
              <a:rPr lang="en-US" sz="2800" dirty="0"/>
            </a:br>
            <a:r>
              <a:rPr lang="en-US" sz="2800" dirty="0"/>
              <a:t>- </a:t>
            </a:r>
            <a:r>
              <a:rPr lang="en-US" sz="2800" dirty="0" err="1"/>
              <a:t>উন্নত</a:t>
            </a:r>
            <a:r>
              <a:rPr lang="en-US" sz="2800" dirty="0"/>
              <a:t> </a:t>
            </a:r>
            <a:r>
              <a:rPr lang="en-US" sz="2800" dirty="0" err="1"/>
              <a:t>জাতের</a:t>
            </a:r>
            <a:br>
              <a:rPr lang="en-US" sz="2800" dirty="0"/>
            </a:br>
            <a:r>
              <a:rPr lang="en-US" sz="2800" dirty="0"/>
              <a:t>-</a:t>
            </a:r>
            <a:r>
              <a:rPr lang="en-US" sz="2800" dirty="0" err="1"/>
              <a:t>বংশগত</a:t>
            </a:r>
            <a:r>
              <a:rPr lang="en-US" sz="2800" dirty="0"/>
              <a:t> </a:t>
            </a:r>
            <a:r>
              <a:rPr lang="en-US" sz="2800" dirty="0" err="1"/>
              <a:t>বৈশিষ্ট্য</a:t>
            </a:r>
            <a:r>
              <a:rPr lang="en-US" sz="2800" dirty="0"/>
              <a:t> </a:t>
            </a:r>
            <a:r>
              <a:rPr lang="en-US" sz="2800" dirty="0" err="1"/>
              <a:t>জেনে</a:t>
            </a:r>
            <a:r>
              <a:rPr lang="en-US" sz="2800" dirty="0"/>
              <a:t> </a:t>
            </a:r>
            <a:r>
              <a:rPr lang="en-US" sz="2800" dirty="0" err="1"/>
              <a:t>নেয়া</a:t>
            </a:r>
            <a:br>
              <a:rPr lang="en-US" sz="2800" dirty="0"/>
            </a:br>
            <a:r>
              <a:rPr lang="en-US" sz="2800" dirty="0"/>
              <a:t>-</a:t>
            </a:r>
            <a:r>
              <a:rPr lang="en-US" sz="2800" dirty="0" err="1"/>
              <a:t>ষাড়ের</a:t>
            </a:r>
            <a:r>
              <a:rPr lang="en-US" sz="2800" dirty="0"/>
              <a:t> </a:t>
            </a:r>
            <a:r>
              <a:rPr lang="en-US" sz="2800" dirty="0" err="1"/>
              <a:t>বয়স</a:t>
            </a:r>
            <a:r>
              <a:rPr lang="en-US" sz="2800" dirty="0"/>
              <a:t> </a:t>
            </a:r>
            <a:r>
              <a:rPr lang="en-US" sz="2800" dirty="0" err="1"/>
              <a:t>কমপক্ষে</a:t>
            </a:r>
            <a:r>
              <a:rPr lang="en-US" sz="2800" dirty="0"/>
              <a:t> </a:t>
            </a:r>
            <a:r>
              <a:rPr lang="en-US" sz="2800" dirty="0" err="1"/>
              <a:t>আড়াই</a:t>
            </a:r>
            <a:r>
              <a:rPr lang="en-US" sz="2800" dirty="0"/>
              <a:t> বছর </a:t>
            </a:r>
            <a:r>
              <a:rPr lang="en-US" sz="2800" dirty="0" err="1"/>
              <a:t>হওয়া</a:t>
            </a:r>
            <a:endParaRPr lang="en-US" sz="2800" dirty="0"/>
          </a:p>
          <a:p>
            <a:r>
              <a:rPr lang="en-US" sz="2800" dirty="0"/>
              <a:t>-</a:t>
            </a:r>
            <a:r>
              <a:rPr lang="en-US" sz="2800" dirty="0" err="1"/>
              <a:t>স্বাস্থ্য</a:t>
            </a:r>
            <a:r>
              <a:rPr lang="en-US" sz="2800" dirty="0"/>
              <a:t> </a:t>
            </a:r>
            <a:r>
              <a:rPr lang="en-US" sz="2800" dirty="0" err="1"/>
              <a:t>ভালো</a:t>
            </a:r>
            <a:r>
              <a:rPr lang="en-US" sz="2800" dirty="0"/>
              <a:t>, </a:t>
            </a:r>
            <a:r>
              <a:rPr lang="en-US" sz="2800" dirty="0" err="1"/>
              <a:t>রোগমুক্ত</a:t>
            </a:r>
            <a:endParaRPr lang="en-US" sz="2800" dirty="0"/>
          </a:p>
          <a:p>
            <a:r>
              <a:rPr lang="en-US" sz="2800" dirty="0"/>
              <a:t>-</a:t>
            </a:r>
            <a:r>
              <a:rPr lang="en-US" sz="2800" dirty="0" err="1"/>
              <a:t>অস্বাভাবিক</a:t>
            </a:r>
            <a:r>
              <a:rPr lang="en-US" sz="2800" dirty="0"/>
              <a:t> </a:t>
            </a:r>
            <a:r>
              <a:rPr lang="en-US" sz="2800" dirty="0" err="1"/>
              <a:t>মেজাজের</a:t>
            </a:r>
            <a:r>
              <a:rPr lang="en-US" sz="2800" dirty="0"/>
              <a:t> </a:t>
            </a:r>
            <a:r>
              <a:rPr lang="en-US" sz="2800" dirty="0" err="1"/>
              <a:t>হবে</a:t>
            </a:r>
            <a:r>
              <a:rPr lang="en-US" sz="2800" dirty="0"/>
              <a:t> </a:t>
            </a:r>
            <a:r>
              <a:rPr lang="en-US" sz="2800" dirty="0" err="1"/>
              <a:t>না</a:t>
            </a:r>
            <a:br>
              <a:rPr lang="en-US" sz="2800" dirty="0"/>
            </a:br>
            <a:r>
              <a:rPr lang="en-US" sz="2800" dirty="0"/>
              <a:t>-</a:t>
            </a:r>
            <a:r>
              <a:rPr lang="en-US" sz="2800" dirty="0" err="1"/>
              <a:t>বীর্য</a:t>
            </a:r>
            <a:r>
              <a:rPr lang="en-US" sz="2800" dirty="0"/>
              <a:t> </a:t>
            </a:r>
            <a:r>
              <a:rPr lang="en-US" sz="2800" dirty="0" err="1"/>
              <a:t>উর্বর</a:t>
            </a:r>
            <a:r>
              <a:rPr lang="en-US" sz="2800" dirty="0"/>
              <a:t> </a:t>
            </a:r>
            <a:r>
              <a:rPr lang="en-US" sz="2800" dirty="0" err="1"/>
              <a:t>হতে</a:t>
            </a:r>
            <a:r>
              <a:rPr lang="en-US" sz="2800" dirty="0"/>
              <a:t> </a:t>
            </a:r>
            <a:r>
              <a:rPr lang="en-US" sz="2800" dirty="0" err="1"/>
              <a:t>হবে</a:t>
            </a:r>
            <a:br>
              <a:rPr lang="en-US" sz="2800" dirty="0"/>
            </a:br>
            <a:endParaRPr lang="en-US" sz="2800" dirty="0"/>
          </a:p>
        </p:txBody>
      </p:sp>
    </p:spTree>
    <p:extLst>
      <p:ext uri="{BB962C8B-B14F-4D97-AF65-F5344CB8AC3E}">
        <p14:creationId xmlns:p14="http://schemas.microsoft.com/office/powerpoint/2010/main" val="13999129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গরুর</a:t>
            </a:r>
            <a:r>
              <a:rPr lang="en-US" dirty="0"/>
              <a:t> </a:t>
            </a:r>
            <a:r>
              <a:rPr lang="en-US" dirty="0" err="1"/>
              <a:t>কৃত্তিম</a:t>
            </a:r>
            <a:r>
              <a:rPr lang="en-US" dirty="0"/>
              <a:t> </a:t>
            </a:r>
            <a:r>
              <a:rPr lang="en-US" dirty="0" err="1"/>
              <a:t>প্রজনন</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434565" y="2129178"/>
            <a:ext cx="11027122" cy="3539430"/>
          </a:xfrm>
          <a:prstGeom prst="rect">
            <a:avLst/>
          </a:prstGeom>
          <a:noFill/>
        </p:spPr>
        <p:txBody>
          <a:bodyPr wrap="square" rtlCol="0">
            <a:spAutoFit/>
          </a:bodyPr>
          <a:lstStyle/>
          <a:p>
            <a:r>
              <a:rPr lang="en-US" sz="2800" dirty="0" err="1"/>
              <a:t>উন্নত</a:t>
            </a:r>
            <a:r>
              <a:rPr lang="en-US" sz="2800" dirty="0"/>
              <a:t> </a:t>
            </a:r>
            <a:r>
              <a:rPr lang="en-US" sz="2800" dirty="0" err="1"/>
              <a:t>জাতের</a:t>
            </a:r>
            <a:r>
              <a:rPr lang="en-US" sz="2800" dirty="0"/>
              <a:t> </a:t>
            </a:r>
            <a:r>
              <a:rPr lang="en-US" sz="2800" dirty="0" err="1"/>
              <a:t>ষাড়</a:t>
            </a:r>
            <a:r>
              <a:rPr lang="en-US" sz="2800" dirty="0"/>
              <a:t>  x  </a:t>
            </a:r>
            <a:r>
              <a:rPr lang="en-US" sz="2800" dirty="0" err="1"/>
              <a:t>দেশী</a:t>
            </a:r>
            <a:r>
              <a:rPr lang="en-US" sz="2800" dirty="0"/>
              <a:t> </a:t>
            </a:r>
            <a:r>
              <a:rPr lang="en-US" sz="2800" dirty="0" err="1"/>
              <a:t>বকনা</a:t>
            </a:r>
            <a:r>
              <a:rPr lang="en-US" sz="2800" dirty="0"/>
              <a:t> –&gt;  ৫০% </a:t>
            </a:r>
            <a:r>
              <a:rPr lang="en-US" sz="2800" dirty="0" err="1"/>
              <a:t>উন্নত</a:t>
            </a:r>
            <a:br>
              <a:rPr lang="en-US" sz="2800" dirty="0"/>
            </a:br>
            <a:r>
              <a:rPr lang="en-US" sz="2800" dirty="0" err="1"/>
              <a:t>উন্নত</a:t>
            </a:r>
            <a:r>
              <a:rPr lang="en-US" sz="2800" dirty="0"/>
              <a:t> </a:t>
            </a:r>
            <a:r>
              <a:rPr lang="en-US" sz="2800" dirty="0" err="1"/>
              <a:t>জাতের</a:t>
            </a:r>
            <a:r>
              <a:rPr lang="en-US" sz="2800" dirty="0"/>
              <a:t> </a:t>
            </a:r>
            <a:r>
              <a:rPr lang="en-US" sz="2800" dirty="0" err="1"/>
              <a:t>ষাড়</a:t>
            </a:r>
            <a:r>
              <a:rPr lang="en-US" sz="2800" dirty="0"/>
              <a:t>  x  </a:t>
            </a:r>
            <a:r>
              <a:rPr lang="en-US" sz="2800" dirty="0" err="1"/>
              <a:t>দেশী</a:t>
            </a:r>
            <a:r>
              <a:rPr lang="en-US" sz="2800" dirty="0"/>
              <a:t> </a:t>
            </a:r>
            <a:r>
              <a:rPr lang="en-US" sz="2800" dirty="0" err="1"/>
              <a:t>বকনা</a:t>
            </a:r>
            <a:r>
              <a:rPr lang="en-US" sz="2800" dirty="0"/>
              <a:t>(৫০% </a:t>
            </a:r>
            <a:r>
              <a:rPr lang="en-US" sz="2800" dirty="0" err="1"/>
              <a:t>উন্নত</a:t>
            </a:r>
            <a:r>
              <a:rPr lang="en-US" sz="2800" dirty="0"/>
              <a:t>) –&gt;  ৭৫% </a:t>
            </a:r>
            <a:r>
              <a:rPr lang="en-US" sz="2800" dirty="0" err="1"/>
              <a:t>উন্নত</a:t>
            </a:r>
            <a:endParaRPr lang="en-US" sz="2800" dirty="0"/>
          </a:p>
          <a:p>
            <a:r>
              <a:rPr lang="en-US" sz="2800" dirty="0" err="1"/>
              <a:t>উন্নত</a:t>
            </a:r>
            <a:r>
              <a:rPr lang="en-US" sz="2800" dirty="0"/>
              <a:t> </a:t>
            </a:r>
            <a:r>
              <a:rPr lang="en-US" sz="2800" dirty="0" err="1"/>
              <a:t>জাতের</a:t>
            </a:r>
            <a:r>
              <a:rPr lang="en-US" sz="2800" dirty="0"/>
              <a:t> </a:t>
            </a:r>
            <a:r>
              <a:rPr lang="en-US" sz="2800" dirty="0" err="1"/>
              <a:t>ষাড়</a:t>
            </a:r>
            <a:r>
              <a:rPr lang="en-US" sz="2800" dirty="0"/>
              <a:t>  x  </a:t>
            </a:r>
            <a:r>
              <a:rPr lang="en-US" sz="2800" dirty="0" err="1"/>
              <a:t>দেশী</a:t>
            </a:r>
            <a:r>
              <a:rPr lang="en-US" sz="2800" dirty="0"/>
              <a:t> </a:t>
            </a:r>
            <a:r>
              <a:rPr lang="en-US" sz="2800" dirty="0" err="1"/>
              <a:t>বকনা</a:t>
            </a:r>
            <a:r>
              <a:rPr lang="en-US" sz="2800" dirty="0"/>
              <a:t>(৭৫% </a:t>
            </a:r>
            <a:r>
              <a:rPr lang="en-US" sz="2800" dirty="0" err="1"/>
              <a:t>উন্নত</a:t>
            </a:r>
            <a:r>
              <a:rPr lang="en-US" sz="2800" dirty="0"/>
              <a:t>) –&gt;  ৮৭.৫% </a:t>
            </a:r>
            <a:r>
              <a:rPr lang="en-US" sz="2800" dirty="0" err="1"/>
              <a:t>উন্নত</a:t>
            </a:r>
            <a:br>
              <a:rPr lang="en-US" sz="2800" dirty="0"/>
            </a:br>
            <a:br>
              <a:rPr lang="en-US" sz="2800" dirty="0"/>
            </a:br>
            <a:r>
              <a:rPr lang="en-US" sz="2800" dirty="0" err="1"/>
              <a:t>আমাদের</a:t>
            </a:r>
            <a:r>
              <a:rPr lang="en-US" sz="2800" dirty="0"/>
              <a:t> </a:t>
            </a:r>
            <a:r>
              <a:rPr lang="en-US" sz="2800" dirty="0" err="1"/>
              <a:t>দেশে</a:t>
            </a:r>
            <a:r>
              <a:rPr lang="en-US" sz="2800" dirty="0"/>
              <a:t> </a:t>
            </a:r>
            <a:r>
              <a:rPr lang="en-US" sz="2800" dirty="0" err="1"/>
              <a:t>ভালো</a:t>
            </a:r>
            <a:r>
              <a:rPr lang="en-US" sz="2800" dirty="0"/>
              <a:t> </a:t>
            </a:r>
            <a:r>
              <a:rPr lang="en-US" sz="2800" dirty="0" err="1"/>
              <a:t>হয়</a:t>
            </a:r>
            <a:r>
              <a:rPr lang="en-US" sz="2800" dirty="0"/>
              <a:t> ৫০%, </a:t>
            </a:r>
            <a:r>
              <a:rPr lang="en-US" sz="2800" dirty="0" err="1"/>
              <a:t>খামারে</a:t>
            </a:r>
            <a:r>
              <a:rPr lang="en-US" sz="2800" dirty="0"/>
              <a:t> ৭৫%</a:t>
            </a:r>
            <a:br>
              <a:rPr lang="en-US" sz="2800" dirty="0"/>
            </a:br>
            <a:br>
              <a:rPr lang="en-US" sz="2800" dirty="0"/>
            </a:br>
            <a:br>
              <a:rPr lang="en-US" sz="2800" dirty="0"/>
            </a:br>
            <a:endParaRPr lang="en-US" sz="2800" dirty="0"/>
          </a:p>
        </p:txBody>
      </p:sp>
    </p:spTree>
    <p:extLst>
      <p:ext uri="{BB962C8B-B14F-4D97-AF65-F5344CB8AC3E}">
        <p14:creationId xmlns:p14="http://schemas.microsoft.com/office/powerpoint/2010/main" val="1358770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কৃত্তিম</a:t>
            </a:r>
            <a:r>
              <a:rPr lang="en-US" dirty="0"/>
              <a:t> </a:t>
            </a:r>
            <a:r>
              <a:rPr lang="en-US" dirty="0" err="1"/>
              <a:t>প্রজননের</a:t>
            </a:r>
            <a:r>
              <a:rPr lang="en-US" dirty="0"/>
              <a:t> </a:t>
            </a:r>
            <a:r>
              <a:rPr lang="en-US" dirty="0" err="1"/>
              <a:t>ধাপসমূহ</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434565" y="2129178"/>
            <a:ext cx="11027122" cy="3539430"/>
          </a:xfrm>
          <a:prstGeom prst="rect">
            <a:avLst/>
          </a:prstGeom>
          <a:noFill/>
        </p:spPr>
        <p:txBody>
          <a:bodyPr wrap="square" rtlCol="0">
            <a:spAutoFit/>
          </a:bodyPr>
          <a:lstStyle/>
          <a:p>
            <a:r>
              <a:rPr lang="en-US" sz="2800" dirty="0"/>
              <a:t>- </a:t>
            </a:r>
            <a:r>
              <a:rPr lang="en-US" sz="2800" dirty="0" err="1"/>
              <a:t>ষাড়ের</a:t>
            </a:r>
            <a:r>
              <a:rPr lang="en-US" sz="2800" dirty="0"/>
              <a:t> </a:t>
            </a:r>
            <a:r>
              <a:rPr lang="en-US" sz="2800" dirty="0" err="1"/>
              <a:t>হতে</a:t>
            </a:r>
            <a:r>
              <a:rPr lang="en-US" sz="2800" dirty="0"/>
              <a:t> </a:t>
            </a:r>
            <a:r>
              <a:rPr lang="en-US" sz="2800" dirty="0" err="1"/>
              <a:t>বীর্য</a:t>
            </a:r>
            <a:r>
              <a:rPr lang="en-US" sz="2800" dirty="0"/>
              <a:t> </a:t>
            </a:r>
            <a:r>
              <a:rPr lang="en-US" sz="2800" dirty="0" err="1"/>
              <a:t>সংগ্রহ</a:t>
            </a:r>
            <a:br>
              <a:rPr lang="en-US" sz="2800" dirty="0"/>
            </a:br>
            <a:r>
              <a:rPr lang="en-US" sz="2800" dirty="0"/>
              <a:t>- </a:t>
            </a:r>
            <a:r>
              <a:rPr lang="en-US" sz="2800" dirty="0" err="1"/>
              <a:t>বীর্য</a:t>
            </a:r>
            <a:r>
              <a:rPr lang="en-US" sz="2800" dirty="0"/>
              <a:t> </a:t>
            </a:r>
            <a:r>
              <a:rPr lang="en-US" sz="2800" dirty="0" err="1"/>
              <a:t>পরীক্ষা</a:t>
            </a:r>
            <a:r>
              <a:rPr lang="en-US" sz="2800" dirty="0"/>
              <a:t> ও </a:t>
            </a:r>
            <a:r>
              <a:rPr lang="en-US" sz="2800" dirty="0" err="1"/>
              <a:t>প্রক্রিয়াকরণ</a:t>
            </a:r>
            <a:br>
              <a:rPr lang="en-US" sz="2800" dirty="0"/>
            </a:br>
            <a:r>
              <a:rPr lang="en-US" sz="2800" dirty="0"/>
              <a:t>- </a:t>
            </a:r>
            <a:r>
              <a:rPr lang="en-US" sz="2800" dirty="0" err="1"/>
              <a:t>গাভীতে</a:t>
            </a:r>
            <a:r>
              <a:rPr lang="en-US" sz="2800" dirty="0"/>
              <a:t> </a:t>
            </a:r>
            <a:r>
              <a:rPr lang="en-US" sz="2800" dirty="0" err="1"/>
              <a:t>বীর্য</a:t>
            </a:r>
            <a:r>
              <a:rPr lang="en-US" sz="2800" dirty="0"/>
              <a:t> </a:t>
            </a:r>
            <a:r>
              <a:rPr lang="en-US" sz="2800" dirty="0" err="1"/>
              <a:t>প্রবেশকরণ</a:t>
            </a:r>
            <a:br>
              <a:rPr lang="en-US" sz="2800" dirty="0"/>
            </a:br>
            <a:r>
              <a:rPr lang="en-US" sz="2800" dirty="0"/>
              <a:t>- </a:t>
            </a:r>
            <a:r>
              <a:rPr lang="en-US" sz="2800" dirty="0" err="1"/>
              <a:t>গাভীতে</a:t>
            </a:r>
            <a:r>
              <a:rPr lang="en-US" sz="2800" dirty="0"/>
              <a:t> </a:t>
            </a:r>
            <a:r>
              <a:rPr lang="en-US" sz="2800" dirty="0" err="1"/>
              <a:t>প্রজনন</a:t>
            </a:r>
            <a:r>
              <a:rPr lang="en-US" sz="2800" dirty="0"/>
              <a:t> </a:t>
            </a:r>
            <a:r>
              <a:rPr lang="en-US" sz="2800" dirty="0" err="1"/>
              <a:t>সফলতা</a:t>
            </a:r>
            <a:r>
              <a:rPr lang="en-US" sz="2800" dirty="0"/>
              <a:t> </a:t>
            </a:r>
            <a:r>
              <a:rPr lang="en-US" sz="2800" dirty="0" err="1"/>
              <a:t>পরীক্ষা</a:t>
            </a:r>
            <a:r>
              <a:rPr lang="en-US" sz="2800" dirty="0"/>
              <a:t> </a:t>
            </a:r>
            <a:r>
              <a:rPr lang="en-US" sz="2800" dirty="0" err="1"/>
              <a:t>করা</a:t>
            </a:r>
            <a:br>
              <a:rPr lang="en-US" sz="2800" dirty="0"/>
            </a:br>
            <a:r>
              <a:rPr lang="en-US" sz="2800" dirty="0"/>
              <a:t>- </a:t>
            </a:r>
            <a:r>
              <a:rPr lang="en-US" sz="2800" dirty="0" err="1"/>
              <a:t>প্রজনন</a:t>
            </a:r>
            <a:r>
              <a:rPr lang="en-US" sz="2800" dirty="0"/>
              <a:t> </a:t>
            </a:r>
            <a:r>
              <a:rPr lang="en-US" sz="2800" dirty="0" err="1"/>
              <a:t>উত্তর</a:t>
            </a:r>
            <a:r>
              <a:rPr lang="en-US" sz="2800" dirty="0"/>
              <a:t> </a:t>
            </a:r>
            <a:r>
              <a:rPr lang="en-US" sz="2800" dirty="0" err="1"/>
              <a:t>পরিচর্যা</a:t>
            </a:r>
            <a:r>
              <a:rPr lang="en-US" sz="2800" dirty="0"/>
              <a:t> </a:t>
            </a:r>
            <a:r>
              <a:rPr lang="en-US" sz="2800" dirty="0" err="1"/>
              <a:t>করা</a:t>
            </a:r>
            <a:br>
              <a:rPr lang="en-US" sz="2800" dirty="0"/>
            </a:br>
            <a:br>
              <a:rPr lang="en-US" sz="2800" dirty="0"/>
            </a:br>
            <a:br>
              <a:rPr lang="en-US" sz="2800" dirty="0"/>
            </a:br>
            <a:endParaRPr lang="en-US" sz="2800" dirty="0"/>
          </a:p>
        </p:txBody>
      </p:sp>
    </p:spTree>
    <p:extLst>
      <p:ext uri="{BB962C8B-B14F-4D97-AF65-F5344CB8AC3E}">
        <p14:creationId xmlns:p14="http://schemas.microsoft.com/office/powerpoint/2010/main" val="28085014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TM03457503[[fn=Quotable]]</Template>
  <TotalTime>756</TotalTime>
  <Words>2804</Words>
  <Application>Microsoft Office PowerPoint</Application>
  <PresentationFormat>Widescreen</PresentationFormat>
  <Paragraphs>363</Paragraphs>
  <Slides>72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72</vt:i4>
      </vt:variant>
    </vt:vector>
  </HeadingPairs>
  <TitlesOfParts>
    <vt:vector size="76" baseType="lpstr">
      <vt:lpstr>Century Gothic</vt:lpstr>
      <vt:lpstr>Courier New</vt:lpstr>
      <vt:lpstr>Wingdings 2</vt:lpstr>
      <vt:lpstr>Quotable</vt:lpstr>
      <vt:lpstr>বিশেষ উৎপাদন সম্পর্কিত কৃষি প্রযুক্তি</vt:lpstr>
      <vt:lpstr>কৃষি প্রযুক্তি</vt:lpstr>
      <vt:lpstr>বীজ উৎপাদন</vt:lpstr>
      <vt:lpstr>বীজ উৎপাদন</vt:lpstr>
      <vt:lpstr>বীজ উৎপাদন</vt:lpstr>
      <vt:lpstr>ভালো বীজের বৈষিষ্ট্য</vt:lpstr>
      <vt:lpstr>বীজ উৎপাদন কৌশল</vt:lpstr>
      <vt:lpstr>বীজ উৎপাদন কৌশল</vt:lpstr>
      <vt:lpstr>পেয়াজের বীজ উৎপাদন কৌশল</vt:lpstr>
      <vt:lpstr>পেয়াজের রোগ ও বালাই</vt:lpstr>
      <vt:lpstr>পেয়াজের রোগ ও বালাই</vt:lpstr>
      <vt:lpstr>আলু বীজ উৎপাদন</vt:lpstr>
      <vt:lpstr>আলুর রোগ ও বালাই</vt:lpstr>
      <vt:lpstr>আলুর রোগ ও বালাই</vt:lpstr>
      <vt:lpstr>আলুর হাম পুলিং</vt:lpstr>
      <vt:lpstr>সরিষার বীজ উৎপাদন</vt:lpstr>
      <vt:lpstr>সরিষার রোগ ও বালাই</vt:lpstr>
      <vt:lpstr>সরিষার রোগ ও বালাই</vt:lpstr>
      <vt:lpstr>বীজ পক্রিয়াজাতকরণ</vt:lpstr>
      <vt:lpstr>বীজ শুকানো পদ্ধতি</vt:lpstr>
      <vt:lpstr>অনুজীব সার </vt:lpstr>
      <vt:lpstr>অনুজীবের প্রকারভেদ </vt:lpstr>
      <vt:lpstr>অনুজীব সার(Bio fertilizer) ও অনুজীবনাশক(Bio Pesticide) আলাদা জিনিস ***</vt:lpstr>
      <vt:lpstr>অনুজীব সারের গুরুত্ব</vt:lpstr>
      <vt:lpstr>রাইজোবিয়াম সার</vt:lpstr>
      <vt:lpstr>রাইজোবিয়াম সার</vt:lpstr>
      <vt:lpstr>এজোলা সার</vt:lpstr>
      <vt:lpstr>এজোলা সার</vt:lpstr>
      <vt:lpstr>ট্রাইকোডার্মা সার</vt:lpstr>
      <vt:lpstr>ট্রাইকোডার্মা সার</vt:lpstr>
      <vt:lpstr>পাটের রিবন রেটিং</vt:lpstr>
      <vt:lpstr>পাটের ছাল ছাড়ানোর উপায়</vt:lpstr>
      <vt:lpstr>পাটের দ্রুত পচানোর উপায়</vt:lpstr>
      <vt:lpstr>রেশম চাষ</vt:lpstr>
      <vt:lpstr>রেশমের অর্থনৈতিক গুরুত্ব</vt:lpstr>
      <vt:lpstr>রেশম চাষের ধাপসমূহ </vt:lpstr>
      <vt:lpstr>তুত গাছ রোপন, পরিচর্যা ও পাতা সংগ্রহ </vt:lpstr>
      <vt:lpstr>তুত গাছ রোপন, পরিচর্যা ও পাতা সংগ্রহ </vt:lpstr>
      <vt:lpstr>রেশম লার্ভা বা পলু ও মুককীট পালন</vt:lpstr>
      <vt:lpstr>রেশম পোকার জীবনচক্র (৪টি ধাপ)</vt:lpstr>
      <vt:lpstr>কোকুন সংগ্রহ ও পক্রিয়াজাতকরণ</vt:lpstr>
      <vt:lpstr>কোকুন সংগ্রহ ও পক্রিয়াজাতকরণ রেশম পলুর রোগ দমন ও ব্যাবস্থাপনা</vt:lpstr>
      <vt:lpstr>রেশম পোকা ও রেশম সুতা </vt:lpstr>
      <vt:lpstr>মাশরুম উৎপাদন মাশরুমের ধারণা</vt:lpstr>
      <vt:lpstr>মাশরুম উৎপাদন মাশরুমের প্রকারভেদ</vt:lpstr>
      <vt:lpstr>মাশরুম উৎপাদন মাশরুম চাষের ধাপ </vt:lpstr>
      <vt:lpstr>মাশরুম উৎপাদন মাশরুম স্পন চাষের ধাপ সমূহ </vt:lpstr>
      <vt:lpstr>মাশরুম স্পন উৎপাদনঃ চাষঘর তৈরী করা</vt:lpstr>
      <vt:lpstr>মাশরুম স্পন উৎপাদনঃ তাক নির্মাণ করা</vt:lpstr>
      <vt:lpstr>মাশরুম স্পন উৎপাদনঃ সরঞ্জাম সংগ্রহ</vt:lpstr>
      <vt:lpstr>মাশরুম স্পন উৎপাদনঃ স্পন সংগ্রহ, পরিবহন ও সংরক্ষণ</vt:lpstr>
      <vt:lpstr>সাশ্রয়ী মাশরুম চাষ পদ্ধতি</vt:lpstr>
      <vt:lpstr>সাশ্রয়ী মাশরুম চাষ পদ্ধতি</vt:lpstr>
      <vt:lpstr>ওয়েস্টার মাশরুম চাষের আধুনিক পদ্ধতি</vt:lpstr>
      <vt:lpstr>মাশরুমের রোগ</vt:lpstr>
      <vt:lpstr>মাশরুমের বালাই</vt:lpstr>
      <vt:lpstr>মাশরুমের সংরক্ষন</vt:lpstr>
      <vt:lpstr>মাশরুমের অর্থনৈতিক ও পুষ্টিগত গুরুত্ব</vt:lpstr>
      <vt:lpstr>মৌমাছি পালন</vt:lpstr>
      <vt:lpstr>মৌমাছির সামাজিক শ্রেণীবিভাগ</vt:lpstr>
      <vt:lpstr>মৌমাছির কাজ</vt:lpstr>
      <vt:lpstr>মৌমাছির জীবনচক্র</vt:lpstr>
      <vt:lpstr>মৌমাছি পালন</vt:lpstr>
      <vt:lpstr>মৌমাছি পালন</vt:lpstr>
      <vt:lpstr>মৌমাছি পালন</vt:lpstr>
      <vt:lpstr>মৌমাছি পালন</vt:lpstr>
      <vt:lpstr>মৌমাছি প্রধান শত্রু</vt:lpstr>
      <vt:lpstr>মধু উৎপাদন কৌশল</vt:lpstr>
      <vt:lpstr>মধুর গুরুত্ব</vt:lpstr>
      <vt:lpstr>গরুর কৃত্তিম প্রজনন</vt:lpstr>
      <vt:lpstr>গরুর কৃত্তিম প্রজনন</vt:lpstr>
      <vt:lpstr>কৃত্তিম প্রজননের ধাপসমূহ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বিশেষ উৎপাদন সম্পর্কিত কৃষি প্রযুক্তি</dc:title>
  <dc:creator>Abdullah Limon</dc:creator>
  <cp:lastModifiedBy>Abdullah Limon</cp:lastModifiedBy>
  <cp:revision>161</cp:revision>
  <dcterms:created xsi:type="dcterms:W3CDTF">2025-01-01T02:54:10Z</dcterms:created>
  <dcterms:modified xsi:type="dcterms:W3CDTF">2026-06-06T23:44:04Z</dcterms:modified>
</cp:coreProperties>
</file>