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11" r:id="rId9"/>
    <p:sldId id="263" r:id="rId10"/>
    <p:sldId id="264" r:id="rId11"/>
    <p:sldId id="342" r:id="rId12"/>
    <p:sldId id="32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26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bdullah Limon" initials="AL" lastIdx="1" clrIdx="0">
    <p:extLst>
      <p:ext uri="{19B8F6BF-5375-455C-9EA6-DF929625EA0E}">
        <p15:presenceInfo xmlns:p15="http://schemas.microsoft.com/office/powerpoint/2012/main" userId="ccbb95a3173f64d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82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4" y="1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173DB0-73B4-492B-A8FF-F9598D2FA70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375180-12CE-4B20-9EBA-BFFB0703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189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213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560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459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7211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648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502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6261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7757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392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672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044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897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97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670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341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658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115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9B33026C-CD84-4AB1-B98C-25DBADB9748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811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54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848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409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300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452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815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9B33026C-CD84-4AB1-B98C-25DBADB9748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3239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8EDFE-A3E1-49FE-B561-0608A1CB1E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পশু</a:t>
            </a:r>
            <a:r>
              <a:rPr lang="en-US" dirty="0"/>
              <a:t> </a:t>
            </a:r>
            <a:r>
              <a:rPr lang="en-US" dirty="0" err="1"/>
              <a:t>পালন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7DD907-26D8-40C1-AEC7-C34E7C2705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6"/>
            <a:ext cx="10572000" cy="1414244"/>
          </a:xfrm>
        </p:spPr>
        <p:txBody>
          <a:bodyPr>
            <a:normAutofit/>
          </a:bodyPr>
          <a:lstStyle/>
          <a:p>
            <a:r>
              <a:rPr lang="bn-IN" sz="2400" dirty="0"/>
              <a:t>কৃষিবিদ আব্দুল্লাহ–</a:t>
            </a:r>
            <a:r>
              <a:rPr lang="en-US" sz="2400" dirty="0"/>
              <a:t> </a:t>
            </a:r>
            <a:r>
              <a:rPr lang="bn-IN" sz="2400" dirty="0"/>
              <a:t>আল- আমিন,</a:t>
            </a:r>
          </a:p>
          <a:p>
            <a:r>
              <a:rPr lang="bn-IN" sz="2400" dirty="0"/>
              <a:t>প্রভাষক, রাজেন্দ্রপুর ক্যান্টনমেন্ট পাবলিক কলেজ, গাজীপুর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45579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0"/>
            <a:ext cx="1121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পশুপালনের সংজ্ঞা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609600" y="1219200"/>
            <a:ext cx="10972800" cy="2682240"/>
          </a:xfrm>
          <a:prstGeom prst="rect">
            <a:avLst/>
          </a:prstGeom>
          <a:solidFill>
            <a:srgbClr val="C8E6C9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600" y="1219200"/>
            <a:ext cx="146304" cy="268224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5360" y="1280160"/>
            <a:ext cx="10363200" cy="2560320"/>
          </a:xfrm>
          <a:prstGeom prst="rect">
            <a:avLst/>
          </a:prstGeom>
          <a:noFill/>
          <a:ln/>
        </p:spPr>
        <p:txBody>
          <a:bodyPr wrap="square" lIns="135467" tIns="135467" rIns="135467" bIns="135467" rtlCol="0" anchor="ctr"/>
          <a:lstStyle/>
          <a:p>
            <a:r>
              <a:rPr lang="en-US" sz="2133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মানুষের খাদ্য চাহিদা পূরণ ও অর্থনৈতিক সুবিধার জন্য দুধ, মাংস, চামড়া এবং শ্রমশক্তি উৎপাদনের উদ্দেশ্যে বৈজ্ঞানিক পদ্ধতিতে গবাদিপশু পালন ও ব্যবস্থাপনাকে পশুপালন বা Animal Husbandry বলে।</a:t>
            </a:r>
            <a:endParaRPr lang="en-US" sz="2133" dirty="0"/>
          </a:p>
        </p:txBody>
      </p:sp>
      <p:sp>
        <p:nvSpPr>
          <p:cNvPr id="7" name="Text 5"/>
          <p:cNvSpPr/>
          <p:nvPr/>
        </p:nvSpPr>
        <p:spPr>
          <a:xfrm>
            <a:off x="609600" y="4145280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সহজ ভাষায়:</a:t>
            </a:r>
            <a:endParaRPr lang="en-US" sz="1867" dirty="0"/>
          </a:p>
        </p:txBody>
      </p:sp>
      <p:sp>
        <p:nvSpPr>
          <p:cNvPr id="8" name="Text 6"/>
          <p:cNvSpPr/>
          <p:nvPr/>
        </p:nvSpPr>
        <p:spPr>
          <a:xfrm>
            <a:off x="609600" y="463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যে বিজ্ঞানসম্মত পদ্ধতিতে গবাদিপশু লালন-পালন করে অর্থনৈতিক সুবিধা অর্জন করা হয়, তাকে পশুপালন বলে।</a:t>
            </a:r>
            <a:endParaRPr lang="en-US" sz="1867" dirty="0"/>
          </a:p>
        </p:txBody>
      </p:sp>
      <p:sp>
        <p:nvSpPr>
          <p:cNvPr id="9" name="Text 7"/>
          <p:cNvSpPr/>
          <p:nvPr/>
        </p:nvSpPr>
        <p:spPr>
          <a:xfrm>
            <a:off x="609600" y="560832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i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Husbandry = বৈজ্ঞানিক পশুপালন + অর্থনৈতিক উদ্দেশ্য + ব্যবস্থাপনা</a:t>
            </a:r>
            <a:endParaRPr lang="en-US" sz="1733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564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0"/>
            <a:ext cx="1121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পশুপালনের প্রয়োজনীয়তা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365760" y="121920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19200"/>
            <a:ext cx="3657600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19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অর্থনৈতিক গুরুত্ব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7680" y="1828800"/>
            <a:ext cx="3413760" cy="146304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t"/>
          <a:lstStyle/>
          <a:p>
            <a:r>
              <a:rPr lang="en-US" sz="16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চামড়া, দুগ্ধ শিল্প, মাংস ও রক্ত প্রক্রিয়াজাতকরণ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67200" y="121920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67200" y="1219200"/>
            <a:ext cx="3657600" cy="54864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67200" y="1219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🐂 পশুশক্তি ব্যবহার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0" y="1828800"/>
            <a:ext cx="3413760" cy="146304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t"/>
          <a:lstStyle/>
          <a:p>
            <a:r>
              <a:rPr lang="en-US" sz="16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চাষাবাদ, শস্য মাড়াই, পরিবহন ও যন্ত্রচালনা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68640" y="121920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68640" y="1219200"/>
            <a:ext cx="3657600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68640" y="1219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বৈদেশিক মুদ্রা অর্জন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90560" y="1828800"/>
            <a:ext cx="3413760" cy="146304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t"/>
          <a:lstStyle/>
          <a:p>
            <a:r>
              <a:rPr lang="en-US" sz="16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চামড়া, শিং, মাংস ও দুধ রপ্তানি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377952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779520"/>
            <a:ext cx="3657600" cy="54864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779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🍖 খাদ্য উৎপাদন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7680" y="4389120"/>
            <a:ext cx="3413760" cy="146304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t"/>
          <a:lstStyle/>
          <a:p>
            <a:r>
              <a:rPr lang="en-US" sz="16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মাংস, দুধ, ডিম ও পশুখাদ্য সরবরাহ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67200" y="377952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67200" y="3779520"/>
            <a:ext cx="3657600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67200" y="3779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👩‍🌾 কর্মসংস্থান সৃষ্টি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89120" y="4389120"/>
            <a:ext cx="3413760" cy="146304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t"/>
          <a:lstStyle/>
          <a:p>
            <a:r>
              <a:rPr lang="en-US" sz="16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দারিদ্র্য বিমোচন, বেকারত্ব দূরীকরণ ও আয় বৃদ্ধি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98405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0"/>
            <a:ext cx="1121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অর্থনৈতিক গুরুত্ব ও বৈদেশিক মুদ্রা অর্জন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364480" cy="4876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5364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অর্থনৈতিক গুরুত্ব</a:t>
            </a:r>
            <a:endParaRPr lang="en-US" sz="1867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5364480" cy="829056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0"/>
            <a:ext cx="4998720" cy="3657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b"/>
          <a:lstStyle/>
          <a:p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চামড়া শিল্প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4998720" cy="3657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জুতা, ব্যাগ, পোশাক তৈরিতে গরুর চামড়া ব্যবহার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572512"/>
            <a:ext cx="5364480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72512"/>
            <a:ext cx="4998720" cy="3657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b"/>
          <a:lstStyle/>
          <a:p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ডেইরি শিল্প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938272"/>
            <a:ext cx="4998720" cy="3657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দুধ, মাখন, পনির, দই ইত্যাদি উৎপাদন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499104"/>
            <a:ext cx="5364480" cy="829056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99104"/>
            <a:ext cx="4998720" cy="3657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b"/>
          <a:lstStyle/>
          <a:p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মাংস শিল্প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3864864"/>
            <a:ext cx="4998720" cy="3657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মাংস প্রক্রিয়াজাত ও রপ্তানি আয়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425696"/>
            <a:ext cx="5364480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425696"/>
            <a:ext cx="4998720" cy="3657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b"/>
          <a:lstStyle/>
          <a:p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রক্ত ও হাড় শিল্প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4791456"/>
            <a:ext cx="4998720" cy="3657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সার, ওষুধ ও পশুখাদ্য তৈরিতে ব্যবহার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5352288"/>
            <a:ext cx="5364480" cy="829056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352288"/>
            <a:ext cx="4998720" cy="3657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b"/>
          <a:lstStyle/>
          <a:p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অন্যান্য শিল্প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5718048"/>
            <a:ext cx="4998720" cy="3657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শিং, খুর, লেজের চুল ইত্যাদি পণ্য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61760" y="1097280"/>
            <a:ext cx="5364480" cy="48768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1760" y="1097280"/>
            <a:ext cx="5364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বৈদেশিক মুদ্রা অর্জন</a:t>
            </a:r>
            <a:endParaRPr lang="en-US" sz="1867" dirty="0"/>
          </a:p>
        </p:txBody>
      </p:sp>
      <p:sp>
        <p:nvSpPr>
          <p:cNvPr id="23" name="Shape 21"/>
          <p:cNvSpPr/>
          <p:nvPr/>
        </p:nvSpPr>
        <p:spPr>
          <a:xfrm>
            <a:off x="6461760" y="1645920"/>
            <a:ext cx="5364480" cy="829056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44640" y="1645920"/>
            <a:ext cx="4998720" cy="3657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b"/>
          <a:lstStyle/>
          <a:p>
            <a:r>
              <a:rPr lang="en-US" sz="1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চামড়া রপ্তানি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44640" y="2011680"/>
            <a:ext cx="4998720" cy="3657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বাংলাদেশের দ্বিতীয় বৃহত্তম রপ্তানি খাত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61760" y="2572512"/>
            <a:ext cx="5364480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44640" y="2572512"/>
            <a:ext cx="4998720" cy="3657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b"/>
          <a:lstStyle/>
          <a:p>
            <a:r>
              <a:rPr lang="en-US" sz="1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শিং ও খুর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44640" y="2938272"/>
            <a:ext cx="4998720" cy="3657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বোতাম, চিরুনি ও সার তৈরির উপাদান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61760" y="3499104"/>
            <a:ext cx="5364480" cy="829056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44640" y="3499104"/>
            <a:ext cx="4998720" cy="3657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b"/>
          <a:lstStyle/>
          <a:p>
            <a:r>
              <a:rPr lang="en-US" sz="1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মাংস রপ্তানি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44640" y="3864864"/>
            <a:ext cx="4998720" cy="3657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মধ্যপ্রাচ্যসহ বিভিন্ন দেশে রপ্তানি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61760" y="4425696"/>
            <a:ext cx="5364480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44640" y="4425696"/>
            <a:ext cx="4998720" cy="3657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b"/>
          <a:lstStyle/>
          <a:p>
            <a:r>
              <a:rPr lang="en-US" sz="1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দুধ ও দুগ্ধজাত পণ্য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44640" y="4791456"/>
            <a:ext cx="4998720" cy="3657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প্রতিবেশী দেশে রপ্তানির সম্ভাবনা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01296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0"/>
            <a:ext cx="1121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পশুশক্তির ব্যবহার ও কর্মসংস্থান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364480" cy="4876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5364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🐂 পশুশক্তির ব্যবহার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609600" y="1706880"/>
            <a:ext cx="4876800" cy="6096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marL="457189" indent="-457189">
              <a:buSzPct val="100000"/>
              <a:buChar char="•"/>
            </a:pPr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চাষাবাদ: লাঙল টানা, জমি কর্ষণ</a:t>
            </a:r>
            <a:endParaRPr lang="en-US" sz="1733" dirty="0"/>
          </a:p>
        </p:txBody>
      </p:sp>
      <p:sp>
        <p:nvSpPr>
          <p:cNvPr id="7" name="Text 5"/>
          <p:cNvSpPr/>
          <p:nvPr/>
        </p:nvSpPr>
        <p:spPr>
          <a:xfrm>
            <a:off x="609600" y="2377440"/>
            <a:ext cx="4876800" cy="6096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marL="457189" indent="-457189">
              <a:buSzPct val="100000"/>
              <a:buChar char="•"/>
            </a:pPr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শস্য মাড়াই: গরু দিয়ে ধান মাড়াই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609600" y="3048000"/>
            <a:ext cx="4876800" cy="6096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marL="457189" indent="-457189">
              <a:buSzPct val="100000"/>
              <a:buChar char="•"/>
            </a:pPr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শস্য বহন: ক্ষেত থেকে বাড়িতে আনা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609600" y="3718560"/>
            <a:ext cx="4876800" cy="6096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marL="457189" indent="-457189">
              <a:buSzPct val="100000"/>
              <a:buChar char="•"/>
            </a:pPr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মেশিন চালানো: সেচযন্ত্র পরিচালনা</a:t>
            </a:r>
            <a:endParaRPr lang="en-US" sz="1733" dirty="0"/>
          </a:p>
        </p:txBody>
      </p:sp>
      <p:sp>
        <p:nvSpPr>
          <p:cNvPr id="10" name="Text 8"/>
          <p:cNvSpPr/>
          <p:nvPr/>
        </p:nvSpPr>
        <p:spPr>
          <a:xfrm>
            <a:off x="609600" y="4389120"/>
            <a:ext cx="4876800" cy="6096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marL="457189" indent="-457189">
              <a:buSzPct val="100000"/>
              <a:buChar char="•"/>
            </a:pPr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পরিবহন: গরুর গাড়িতে মালামাল বহন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609600" y="5059680"/>
            <a:ext cx="4876800" cy="6096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marL="457189" indent="-457189">
              <a:buSzPct val="100000"/>
              <a:buChar char="•"/>
            </a:pPr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সার উৎপাদন: গোবর সার জমিতে ব্যবহার</a:t>
            </a:r>
            <a:endParaRPr lang="en-US" sz="1733" dirty="0"/>
          </a:p>
        </p:txBody>
      </p:sp>
      <p:sp>
        <p:nvSpPr>
          <p:cNvPr id="12" name="Shape 10"/>
          <p:cNvSpPr/>
          <p:nvPr/>
        </p:nvSpPr>
        <p:spPr>
          <a:xfrm>
            <a:off x="6461760" y="1097280"/>
            <a:ext cx="5364480" cy="48768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1760" y="1097280"/>
            <a:ext cx="5364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👩‍🌾 কর্মসংস্থান</a:t>
            </a:r>
            <a:endParaRPr lang="en-US" sz="1867" dirty="0"/>
          </a:p>
        </p:txBody>
      </p:sp>
      <p:sp>
        <p:nvSpPr>
          <p:cNvPr id="14" name="Shape 12"/>
          <p:cNvSpPr/>
          <p:nvPr/>
        </p:nvSpPr>
        <p:spPr>
          <a:xfrm>
            <a:off x="6461760" y="1706880"/>
            <a:ext cx="5364480" cy="829056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44640" y="1706880"/>
            <a:ext cx="4998720" cy="3657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b"/>
          <a:lstStyle/>
          <a:p>
            <a:r>
              <a:rPr lang="en-US" sz="1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দারিদ্র্য বিমোচন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44640" y="2072640"/>
            <a:ext cx="4998720" cy="3657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গ্রামীণ দরিদ্র জনগোষ্ঠীর আয়ের উৎস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61760" y="2633472"/>
            <a:ext cx="5364480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44640" y="2633472"/>
            <a:ext cx="4998720" cy="3657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b"/>
          <a:lstStyle/>
          <a:p>
            <a:r>
              <a:rPr lang="en-US" sz="1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বেকারত্ব দূরীকরণ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44640" y="2999232"/>
            <a:ext cx="4998720" cy="3657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লক্ষাধিক মানুষের কর্মসংস্থান সৃষ্টি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61760" y="3560064"/>
            <a:ext cx="5364480" cy="829056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44640" y="3560064"/>
            <a:ext cx="4998720" cy="3657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b"/>
          <a:lstStyle/>
          <a:p>
            <a:r>
              <a:rPr lang="en-US" sz="1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নারীর ক্ষমতায়ন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44640" y="3925824"/>
            <a:ext cx="4998720" cy="3657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গৃহস্থালি পশুপালনে নারীর অংশগ্রহণ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61760" y="4486656"/>
            <a:ext cx="5364480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44640" y="4486656"/>
            <a:ext cx="4998720" cy="3657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b"/>
          <a:lstStyle/>
          <a:p>
            <a:r>
              <a:rPr lang="en-US" sz="1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উদ্যোক্তা তৈরি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44640" y="4852416"/>
            <a:ext cx="4998720" cy="3657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ডেইরি ফার্ম, পোলট্রি ও খামার ব্যবসা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61760" y="5413248"/>
            <a:ext cx="5364480" cy="829056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44640" y="5413248"/>
            <a:ext cx="4998720" cy="3657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b"/>
          <a:lstStyle/>
          <a:p>
            <a:r>
              <a:rPr lang="en-US" sz="1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গ্রামীণ উন্নয়ন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44640" y="5779008"/>
            <a:ext cx="4998720" cy="3657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গ্রামীণ অর্থনীতি সচল ও সমৃদ্ধ রাখা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40642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0"/>
            <a:ext cx="1121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বয়সভেদে গরুর নাম ও পরিচয়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243840" y="1097280"/>
            <a:ext cx="3779520" cy="176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43840" y="1097280"/>
            <a:ext cx="3779520" cy="463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3840" y="1097280"/>
            <a:ext cx="3779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গরু (Cattle)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341376" y="1584960"/>
            <a:ext cx="3584448" cy="12192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t"/>
          <a:lstStyle/>
          <a:p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স্ত্রী ও পুরুষ উভয় লিঙ্গের গবাদিপশুকে সামগ্রিকভাবে 'গরু' বলা হয়।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4206240" y="1097280"/>
            <a:ext cx="3779520" cy="176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06240" y="1097280"/>
            <a:ext cx="3779520" cy="463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097280"/>
            <a:ext cx="3779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বেবি কাফ (Baby Calf)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4303776" y="1584960"/>
            <a:ext cx="3584448" cy="12192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t"/>
          <a:lstStyle/>
          <a:p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৮ </a:t>
            </a:r>
            <a:r>
              <a:rPr lang="en-US" sz="1333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সপ্তাহের</a:t>
            </a:r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33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ভিতর</a:t>
            </a:r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33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গাভীর</a:t>
            </a:r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33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পুরুষ</a:t>
            </a:r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ও </a:t>
            </a:r>
            <a:r>
              <a:rPr lang="en-US" sz="1333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স্ত্রী</a:t>
            </a:r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33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উভয়লিংগের</a:t>
            </a:r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33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বাচ্চাকে</a:t>
            </a:r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Calf </a:t>
            </a:r>
            <a:r>
              <a:rPr lang="en-US" sz="1333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বলা</a:t>
            </a:r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33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হয়</a:t>
            </a:r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। </a:t>
            </a:r>
            <a:endParaRPr lang="en-US" sz="1333" dirty="0"/>
          </a:p>
        </p:txBody>
      </p:sp>
      <p:sp>
        <p:nvSpPr>
          <p:cNvPr id="12" name="Shape 10"/>
          <p:cNvSpPr/>
          <p:nvPr/>
        </p:nvSpPr>
        <p:spPr>
          <a:xfrm>
            <a:off x="8168640" y="1097280"/>
            <a:ext cx="3779520" cy="176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68640" y="1097280"/>
            <a:ext cx="3779520" cy="463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68640" y="1097280"/>
            <a:ext cx="3779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এড়ে</a:t>
            </a:r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67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বাছুর</a:t>
            </a:r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স্লিং কাফ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8266176" y="1584960"/>
            <a:ext cx="3584448" cy="12192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t"/>
          <a:lstStyle/>
          <a:p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৮ সপ্তাহ থেকে ১ বছর </a:t>
            </a:r>
            <a:r>
              <a:rPr lang="en-US" sz="1333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বয়সী</a:t>
            </a:r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33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গরুর</a:t>
            </a:r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33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পুরুষ</a:t>
            </a:r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33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বাচ্চাকে</a:t>
            </a:r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33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এড়ে</a:t>
            </a:r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33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বাছুর</a:t>
            </a:r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33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বলে</a:t>
            </a:r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।</a:t>
            </a:r>
            <a:r>
              <a:rPr lang="en-GB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GB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GB" sz="1333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জবাইকৃত</a:t>
            </a:r>
            <a:r>
              <a:rPr lang="en-GB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GB" sz="1333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গাভীর</a:t>
            </a:r>
            <a:r>
              <a:rPr lang="en-GB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GB" sz="1333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পেটে</a:t>
            </a:r>
            <a:r>
              <a:rPr lang="en-GB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GB" sz="1333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কোন</a:t>
            </a:r>
            <a:r>
              <a:rPr lang="en-GB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GB" sz="1333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বাচ্চা</a:t>
            </a:r>
            <a:r>
              <a:rPr lang="en-GB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GB" sz="1333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থাকলে</a:t>
            </a:r>
            <a:r>
              <a:rPr lang="en-GB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GB" sz="1333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তাকে</a:t>
            </a:r>
            <a:r>
              <a:rPr lang="en-GB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GB" sz="1333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স্লিংক</a:t>
            </a:r>
            <a:r>
              <a:rPr lang="en-GB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GB" sz="1333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কাফ</a:t>
            </a:r>
            <a:r>
              <a:rPr lang="en-GB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GB" sz="1333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বলে</a:t>
            </a:r>
            <a:r>
              <a:rPr lang="en-GB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।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243840" y="2987040"/>
            <a:ext cx="3779520" cy="176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3840" y="2987040"/>
            <a:ext cx="3779520" cy="463296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3840" y="2987040"/>
            <a:ext cx="3779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বকনা বাছুর (Heifer Calf)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341376" y="3474720"/>
            <a:ext cx="3584448" cy="12192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t"/>
          <a:lstStyle/>
          <a:p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১ বছরের কম </a:t>
            </a:r>
            <a:r>
              <a:rPr lang="en-US" sz="1333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বয়সী</a:t>
            </a:r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33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গরুর</a:t>
            </a:r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33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স্ত্রী</a:t>
            </a:r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33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বাচ্চা</a:t>
            </a:r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1333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যা</a:t>
            </a:r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33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এখনো</a:t>
            </a:r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বাচ্চা দেয়নি।</a:t>
            </a:r>
            <a:endParaRPr lang="en-US" sz="1333" dirty="0"/>
          </a:p>
        </p:txBody>
      </p:sp>
      <p:sp>
        <p:nvSpPr>
          <p:cNvPr id="20" name="Shape 18"/>
          <p:cNvSpPr/>
          <p:nvPr/>
        </p:nvSpPr>
        <p:spPr>
          <a:xfrm>
            <a:off x="4206240" y="2987040"/>
            <a:ext cx="3779520" cy="176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06240" y="2987040"/>
            <a:ext cx="3779520" cy="463296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2987040"/>
            <a:ext cx="3779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গাভী (Cow)</a:t>
            </a:r>
            <a:endParaRPr lang="en-US" sz="1467" dirty="0"/>
          </a:p>
        </p:txBody>
      </p:sp>
      <p:sp>
        <p:nvSpPr>
          <p:cNvPr id="23" name="Text 21"/>
          <p:cNvSpPr/>
          <p:nvPr/>
        </p:nvSpPr>
        <p:spPr>
          <a:xfrm>
            <a:off x="4303776" y="3474720"/>
            <a:ext cx="3584448" cy="12192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t"/>
          <a:lstStyle/>
          <a:p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একবার বা তার বেশি বাচ্চা প্রসব করেছে এমন প্রাপ্তবয়স্ক স্ত্রী গরু।</a:t>
            </a:r>
            <a:endParaRPr lang="en-US" sz="1333" dirty="0"/>
          </a:p>
        </p:txBody>
      </p:sp>
      <p:sp>
        <p:nvSpPr>
          <p:cNvPr id="24" name="Shape 22"/>
          <p:cNvSpPr/>
          <p:nvPr/>
        </p:nvSpPr>
        <p:spPr>
          <a:xfrm>
            <a:off x="8168640" y="2987040"/>
            <a:ext cx="3779520" cy="176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68640" y="2987040"/>
            <a:ext cx="3779520" cy="463296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68640" y="2987040"/>
            <a:ext cx="3779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ষাঁড় (Bull)</a:t>
            </a:r>
            <a:endParaRPr lang="en-US" sz="1467" dirty="0"/>
          </a:p>
        </p:txBody>
      </p:sp>
      <p:sp>
        <p:nvSpPr>
          <p:cNvPr id="27" name="Text 25"/>
          <p:cNvSpPr/>
          <p:nvPr/>
        </p:nvSpPr>
        <p:spPr>
          <a:xfrm>
            <a:off x="8266176" y="3474720"/>
            <a:ext cx="3584448" cy="12192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t"/>
          <a:lstStyle/>
          <a:p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প্রজনন উপযোগী অখোজা প্রাপ্তবয়স্ক পুরুষ গরু।</a:t>
            </a:r>
            <a:endParaRPr lang="en-US" sz="1333" dirty="0"/>
          </a:p>
        </p:txBody>
      </p:sp>
      <p:sp>
        <p:nvSpPr>
          <p:cNvPr id="28" name="Shape 26"/>
          <p:cNvSpPr/>
          <p:nvPr/>
        </p:nvSpPr>
        <p:spPr>
          <a:xfrm>
            <a:off x="243840" y="4876800"/>
            <a:ext cx="3779520" cy="176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43840" y="4876800"/>
            <a:ext cx="3779520" cy="463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3840" y="4876800"/>
            <a:ext cx="3779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বলদ (Bullock/Ox)</a:t>
            </a:r>
            <a:endParaRPr lang="en-US" sz="1467" dirty="0"/>
          </a:p>
        </p:txBody>
      </p:sp>
      <p:sp>
        <p:nvSpPr>
          <p:cNvPr id="31" name="Text 29"/>
          <p:cNvSpPr/>
          <p:nvPr/>
        </p:nvSpPr>
        <p:spPr>
          <a:xfrm>
            <a:off x="341376" y="5364480"/>
            <a:ext cx="3584448" cy="12192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t"/>
          <a:lstStyle/>
          <a:p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খোজা করা প্রাপ্তবয়স্ক পুরুষ গরু; কৃষিকাজে ব্যবহৃত হয়।</a:t>
            </a:r>
            <a:endParaRPr lang="en-US" sz="1333" dirty="0"/>
          </a:p>
        </p:txBody>
      </p:sp>
      <p:sp>
        <p:nvSpPr>
          <p:cNvPr id="32" name="Shape 30"/>
          <p:cNvSpPr/>
          <p:nvPr/>
        </p:nvSpPr>
        <p:spPr>
          <a:xfrm>
            <a:off x="4206240" y="4876800"/>
            <a:ext cx="3779520" cy="176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206240" y="4876800"/>
            <a:ext cx="3779520" cy="463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0" y="4876800"/>
            <a:ext cx="3779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স্টিয়ার (Steer)</a:t>
            </a:r>
            <a:endParaRPr lang="en-US" sz="1467" dirty="0"/>
          </a:p>
        </p:txBody>
      </p:sp>
      <p:sp>
        <p:nvSpPr>
          <p:cNvPr id="35" name="Text 33"/>
          <p:cNvSpPr/>
          <p:nvPr/>
        </p:nvSpPr>
        <p:spPr>
          <a:xfrm>
            <a:off x="4303776" y="5364480"/>
            <a:ext cx="3584448" cy="12192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t"/>
          <a:lstStyle/>
          <a:p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খোজা করা অল্পবয়স্ক পুরুষ গরু; মাংস উৎপাদনে ব্যবহৃত।</a:t>
            </a:r>
            <a:endParaRPr lang="en-US" sz="1333" dirty="0"/>
          </a:p>
        </p:txBody>
      </p:sp>
      <p:sp>
        <p:nvSpPr>
          <p:cNvPr id="36" name="Shape 34"/>
          <p:cNvSpPr/>
          <p:nvPr/>
        </p:nvSpPr>
        <p:spPr>
          <a:xfrm>
            <a:off x="8168640" y="4876800"/>
            <a:ext cx="3779520" cy="176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168640" y="4876800"/>
            <a:ext cx="3779520" cy="463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68640" y="4876800"/>
            <a:ext cx="3779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কুরিয়েন্ট (</a:t>
            </a:r>
            <a:r>
              <a:rPr lang="en-US" sz="1467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Cuurient</a:t>
            </a:r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</a:t>
            </a:r>
            <a:r>
              <a:rPr lang="en-US" sz="1467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বুলার</a:t>
            </a:r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(Buller)</a:t>
            </a:r>
            <a:endParaRPr lang="en-US" sz="1467" dirty="0"/>
          </a:p>
        </p:txBody>
      </p:sp>
      <p:sp>
        <p:nvSpPr>
          <p:cNvPr id="39" name="Text 37"/>
          <p:cNvSpPr/>
          <p:nvPr/>
        </p:nvSpPr>
        <p:spPr>
          <a:xfrm>
            <a:off x="8266176" y="5364480"/>
            <a:ext cx="3584448" cy="12192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t"/>
          <a:lstStyle/>
          <a:p>
            <a:r>
              <a:rPr lang="en-GB" sz="1333" dirty="0" err="1">
                <a:solidFill>
                  <a:srgbClr val="37474F"/>
                </a:solidFill>
                <a:latin typeface="Calibri" pitchFamily="34" charset="0"/>
              </a:rPr>
              <a:t>বাবা</a:t>
            </a:r>
            <a:r>
              <a:rPr lang="en-GB" sz="1333" dirty="0">
                <a:solidFill>
                  <a:srgbClr val="37474F"/>
                </a:solidFill>
                <a:latin typeface="Calibri" pitchFamily="34" charset="0"/>
              </a:rPr>
              <a:t> </a:t>
            </a:r>
            <a:r>
              <a:rPr lang="en-GB" sz="1333" dirty="0" err="1">
                <a:solidFill>
                  <a:srgbClr val="37474F"/>
                </a:solidFill>
                <a:latin typeface="Calibri" pitchFamily="34" charset="0"/>
              </a:rPr>
              <a:t>মা</a:t>
            </a:r>
            <a:r>
              <a:rPr lang="en-GB" sz="1333" dirty="0">
                <a:solidFill>
                  <a:srgbClr val="37474F"/>
                </a:solidFill>
                <a:latin typeface="Calibri" pitchFamily="34" charset="0"/>
              </a:rPr>
              <a:t> </a:t>
            </a:r>
            <a:r>
              <a:rPr lang="en-GB" sz="1333" dirty="0" err="1">
                <a:solidFill>
                  <a:srgbClr val="37474F"/>
                </a:solidFill>
                <a:latin typeface="Calibri" pitchFamily="34" charset="0"/>
              </a:rPr>
              <a:t>বিহীন</a:t>
            </a:r>
            <a:r>
              <a:rPr lang="en-GB" sz="1333" dirty="0">
                <a:solidFill>
                  <a:srgbClr val="37474F"/>
                </a:solidFill>
                <a:latin typeface="Calibri" pitchFamily="34" charset="0"/>
              </a:rPr>
              <a:t> </a:t>
            </a:r>
            <a:r>
              <a:rPr lang="en-GB" sz="1333" dirty="0" err="1">
                <a:solidFill>
                  <a:srgbClr val="37474F"/>
                </a:solidFill>
                <a:latin typeface="Calibri" pitchFamily="34" charset="0"/>
              </a:rPr>
              <a:t>বাছুরকে</a:t>
            </a:r>
            <a:r>
              <a:rPr lang="en-GB" sz="1333" dirty="0">
                <a:solidFill>
                  <a:srgbClr val="37474F"/>
                </a:solidFill>
                <a:latin typeface="Calibri" pitchFamily="34" charset="0"/>
              </a:rPr>
              <a:t> </a:t>
            </a:r>
            <a:r>
              <a:rPr lang="en-GB" sz="1333" dirty="0" err="1">
                <a:solidFill>
                  <a:srgbClr val="37474F"/>
                </a:solidFill>
                <a:latin typeface="Calibri" pitchFamily="34" charset="0"/>
              </a:rPr>
              <a:t>কোরিয়েন্ট</a:t>
            </a:r>
            <a:r>
              <a:rPr lang="en-GB" sz="1333" dirty="0">
                <a:solidFill>
                  <a:srgbClr val="37474F"/>
                </a:solidFill>
                <a:latin typeface="Calibri" pitchFamily="34" charset="0"/>
              </a:rPr>
              <a:t> </a:t>
            </a:r>
            <a:r>
              <a:rPr lang="en-GB" sz="1333" dirty="0" err="1">
                <a:solidFill>
                  <a:srgbClr val="37474F"/>
                </a:solidFill>
                <a:latin typeface="Calibri" pitchFamily="34" charset="0"/>
              </a:rPr>
              <a:t>বলে</a:t>
            </a:r>
            <a:r>
              <a:rPr lang="en-GB" sz="1333" dirty="0">
                <a:solidFill>
                  <a:srgbClr val="37474F"/>
                </a:solidFill>
                <a:latin typeface="Calibri" pitchFamily="34" charset="0"/>
              </a:rPr>
              <a:t>, </a:t>
            </a:r>
            <a:r>
              <a:rPr lang="en-GB" sz="1333" dirty="0" err="1">
                <a:solidFill>
                  <a:srgbClr val="37474F"/>
                </a:solidFill>
                <a:latin typeface="Calibri" pitchFamily="34" charset="0"/>
              </a:rPr>
              <a:t>যে</a:t>
            </a:r>
            <a:r>
              <a:rPr lang="en-GB" sz="1333" dirty="0">
                <a:solidFill>
                  <a:srgbClr val="37474F"/>
                </a:solidFill>
                <a:latin typeface="Calibri" pitchFamily="34" charset="0"/>
              </a:rPr>
              <a:t> </a:t>
            </a:r>
            <a:r>
              <a:rPr lang="en-GB" sz="1333" dirty="0" err="1">
                <a:solidFill>
                  <a:srgbClr val="37474F"/>
                </a:solidFill>
                <a:latin typeface="Calibri" pitchFamily="34" charset="0"/>
              </a:rPr>
              <a:t>গাভী</a:t>
            </a:r>
            <a:r>
              <a:rPr lang="en-GB" sz="1333" dirty="0">
                <a:solidFill>
                  <a:srgbClr val="37474F"/>
                </a:solidFill>
                <a:latin typeface="Calibri" pitchFamily="34" charset="0"/>
              </a:rPr>
              <a:t> </a:t>
            </a:r>
            <a:r>
              <a:rPr lang="en-GB" sz="1333" dirty="0" err="1">
                <a:solidFill>
                  <a:srgbClr val="37474F"/>
                </a:solidFill>
                <a:latin typeface="Calibri" pitchFamily="34" charset="0"/>
              </a:rPr>
              <a:t>সবসময়</a:t>
            </a:r>
            <a:r>
              <a:rPr lang="en-GB" sz="1333" dirty="0">
                <a:solidFill>
                  <a:srgbClr val="37474F"/>
                </a:solidFill>
                <a:latin typeface="Calibri" pitchFamily="34" charset="0"/>
              </a:rPr>
              <a:t> </a:t>
            </a:r>
            <a:r>
              <a:rPr lang="en-GB" sz="1333" dirty="0" err="1">
                <a:solidFill>
                  <a:srgbClr val="37474F"/>
                </a:solidFill>
                <a:latin typeface="Calibri" pitchFamily="34" charset="0"/>
              </a:rPr>
              <a:t>গরম</a:t>
            </a:r>
            <a:r>
              <a:rPr lang="en-GB" sz="1333" dirty="0">
                <a:solidFill>
                  <a:srgbClr val="37474F"/>
                </a:solidFill>
                <a:latin typeface="Calibri" pitchFamily="34" charset="0"/>
              </a:rPr>
              <a:t> </a:t>
            </a:r>
            <a:r>
              <a:rPr lang="en-GB" sz="1333" dirty="0" err="1">
                <a:solidFill>
                  <a:srgbClr val="37474F"/>
                </a:solidFill>
                <a:latin typeface="Calibri" pitchFamily="34" charset="0"/>
              </a:rPr>
              <a:t>অবস্থায়</a:t>
            </a:r>
            <a:r>
              <a:rPr lang="en-GB" sz="1333" dirty="0">
                <a:solidFill>
                  <a:srgbClr val="37474F"/>
                </a:solidFill>
                <a:latin typeface="Calibri" pitchFamily="34" charset="0"/>
              </a:rPr>
              <a:t> </a:t>
            </a:r>
            <a:r>
              <a:rPr lang="en-GB" sz="1333" dirty="0" err="1">
                <a:solidFill>
                  <a:srgbClr val="37474F"/>
                </a:solidFill>
                <a:latin typeface="Calibri" pitchFamily="34" charset="0"/>
              </a:rPr>
              <a:t>থাকে</a:t>
            </a:r>
            <a:r>
              <a:rPr lang="en-GB" sz="1333" dirty="0">
                <a:solidFill>
                  <a:srgbClr val="37474F"/>
                </a:solidFill>
                <a:latin typeface="Calibri" pitchFamily="34" charset="0"/>
              </a:rPr>
              <a:t> </a:t>
            </a:r>
            <a:r>
              <a:rPr lang="en-GB" sz="1333" dirty="0" err="1">
                <a:solidFill>
                  <a:srgbClr val="37474F"/>
                </a:solidFill>
                <a:latin typeface="Calibri" pitchFamily="34" charset="0"/>
              </a:rPr>
              <a:t>তাকে</a:t>
            </a:r>
            <a:r>
              <a:rPr lang="en-GB" sz="1333" dirty="0">
                <a:solidFill>
                  <a:srgbClr val="37474F"/>
                </a:solidFill>
                <a:latin typeface="Calibri" pitchFamily="34" charset="0"/>
              </a:rPr>
              <a:t> </a:t>
            </a:r>
            <a:r>
              <a:rPr lang="en-GB" sz="1333" dirty="0" err="1">
                <a:solidFill>
                  <a:srgbClr val="37474F"/>
                </a:solidFill>
                <a:latin typeface="Calibri" pitchFamily="34" charset="0"/>
              </a:rPr>
              <a:t>বুলার</a:t>
            </a:r>
            <a:r>
              <a:rPr lang="en-GB" sz="1333" dirty="0">
                <a:solidFill>
                  <a:srgbClr val="37474F"/>
                </a:solidFill>
                <a:latin typeface="Calibri" pitchFamily="34" charset="0"/>
              </a:rPr>
              <a:t> </a:t>
            </a:r>
            <a:r>
              <a:rPr lang="en-GB" sz="1333" dirty="0" err="1">
                <a:solidFill>
                  <a:srgbClr val="37474F"/>
                </a:solidFill>
                <a:latin typeface="Calibri" pitchFamily="34" charset="0"/>
              </a:rPr>
              <a:t>বলে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3549789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0"/>
            <a:ext cx="1121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বয়সভেদে মহিষ ও ছাগলের নাম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364480" cy="51206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536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🐃 বয়সভেদে মহিষের নাম</a:t>
            </a:r>
            <a:endParaRPr lang="en-US" sz="1867" dirty="0"/>
          </a:p>
        </p:txBody>
      </p:sp>
      <p:sp>
        <p:nvSpPr>
          <p:cNvPr id="6" name="Shape 4"/>
          <p:cNvSpPr/>
          <p:nvPr/>
        </p:nvSpPr>
        <p:spPr>
          <a:xfrm>
            <a:off x="365760" y="1682496"/>
            <a:ext cx="5364480" cy="877824"/>
          </a:xfrm>
          <a:prstGeom prst="rect">
            <a:avLst/>
          </a:prstGeom>
          <a:solidFill>
            <a:srgbClr val="ECEFF1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82496"/>
            <a:ext cx="4998720" cy="3657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b"/>
          <a:lstStyle/>
          <a:p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মহিষ (Buffalo)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048256"/>
            <a:ext cx="4998720" cy="42672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উভয় লিঙ্গের মহিষ প্রজাতিকে সামগ্রিকভাবে মহিষ বলা হয়।</a:t>
            </a:r>
            <a:endParaRPr lang="en-US" sz="1333" dirty="0"/>
          </a:p>
        </p:txBody>
      </p:sp>
      <p:sp>
        <p:nvSpPr>
          <p:cNvPr id="9" name="Shape 7"/>
          <p:cNvSpPr/>
          <p:nvPr/>
        </p:nvSpPr>
        <p:spPr>
          <a:xfrm>
            <a:off x="365760" y="2645664"/>
            <a:ext cx="53644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45664"/>
            <a:ext cx="4998720" cy="3657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b"/>
          <a:lstStyle/>
          <a:p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মহিষের বাচ্চা (Buffalo Calf)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011424"/>
            <a:ext cx="4998720" cy="42672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নবজাতক থেকে ১ বছর বয়সী মহিষের বাছুর।</a:t>
            </a:r>
            <a:endParaRPr lang="en-US" sz="1333" dirty="0"/>
          </a:p>
        </p:txBody>
      </p:sp>
      <p:sp>
        <p:nvSpPr>
          <p:cNvPr id="12" name="Shape 10"/>
          <p:cNvSpPr/>
          <p:nvPr/>
        </p:nvSpPr>
        <p:spPr>
          <a:xfrm>
            <a:off x="365760" y="3608832"/>
            <a:ext cx="5364480" cy="877824"/>
          </a:xfrm>
          <a:prstGeom prst="rect">
            <a:avLst/>
          </a:prstGeom>
          <a:solidFill>
            <a:srgbClr val="ECEFF1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608832"/>
            <a:ext cx="4998720" cy="3657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b"/>
          <a:lstStyle/>
          <a:p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মহিষী (She Buffalo)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3974592"/>
            <a:ext cx="4998720" cy="42672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প্রাপ্তবয়স্ক স্ত্রী মহিষ; দুধের জন্য প্রধান ব্যবহার।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365760" y="4572000"/>
            <a:ext cx="53644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572000"/>
            <a:ext cx="4998720" cy="3657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b"/>
          <a:lstStyle/>
          <a:p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মহিষ ষাঁড় (Buffalo Bull)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4998720" cy="42672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প্রজননক্ষম প্রাপ্তবয়স্ক পুরুষ মহিষ।</a:t>
            </a:r>
            <a:endParaRPr lang="en-US" sz="1333" dirty="0"/>
          </a:p>
        </p:txBody>
      </p:sp>
      <p:sp>
        <p:nvSpPr>
          <p:cNvPr id="18" name="Shape 16"/>
          <p:cNvSpPr/>
          <p:nvPr/>
        </p:nvSpPr>
        <p:spPr>
          <a:xfrm>
            <a:off x="365760" y="5535168"/>
            <a:ext cx="5364480" cy="877824"/>
          </a:xfrm>
          <a:prstGeom prst="rect">
            <a:avLst/>
          </a:prstGeom>
          <a:solidFill>
            <a:srgbClr val="ECEFF1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535168"/>
            <a:ext cx="4998720" cy="36576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b"/>
          <a:lstStyle/>
          <a:p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মহিষ বলদ (Buffalo Bullock)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5900928"/>
            <a:ext cx="4998720" cy="42672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/>
          <a:lstStyle/>
          <a:p>
            <a:r>
              <a:rPr lang="en-US" sz="1333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খোজা করা পুরুষ মহিষ; কৃষিকাজে ব্যবহার হয়।</a:t>
            </a:r>
            <a:endParaRPr lang="en-US" sz="1333" dirty="0"/>
          </a:p>
        </p:txBody>
      </p:sp>
      <p:sp>
        <p:nvSpPr>
          <p:cNvPr id="21" name="Shape 19"/>
          <p:cNvSpPr/>
          <p:nvPr/>
        </p:nvSpPr>
        <p:spPr>
          <a:xfrm>
            <a:off x="6461760" y="1097280"/>
            <a:ext cx="5364480" cy="512064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1760" y="1097280"/>
            <a:ext cx="536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🐐 বয়সভেদে ছাগলের নাম</a:t>
            </a:r>
            <a:endParaRPr lang="en-US" sz="1867" dirty="0"/>
          </a:p>
        </p:txBody>
      </p:sp>
      <p:sp>
        <p:nvSpPr>
          <p:cNvPr id="23" name="Shape 21"/>
          <p:cNvSpPr/>
          <p:nvPr/>
        </p:nvSpPr>
        <p:spPr>
          <a:xfrm>
            <a:off x="6461760" y="1682496"/>
            <a:ext cx="5364480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44640" y="1706880"/>
            <a:ext cx="4998720" cy="6096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ছাগল (Goat) — উভয় লিঙ্গের ছাগল প্রজাতিকে সামগ্রিকভাবে ছাগল বলে।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61760" y="2414016"/>
            <a:ext cx="5364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44640" y="2438400"/>
            <a:ext cx="4998720" cy="6096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বাচ্চা / কিড (Kid) — জন্মের পর থেকে ৩ মাস বয়সী ছাগলের বাচ্চা।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61760" y="3145536"/>
            <a:ext cx="5364480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44640" y="3169920"/>
            <a:ext cx="4998720" cy="6096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গোটলিং (Goatling) — ৩ মাস থেকে ১ বছর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বয়সী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অল্পবয়স্ক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স্ত্রী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ছাগল।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61760" y="3877056"/>
            <a:ext cx="5364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44640" y="3901440"/>
            <a:ext cx="4998720" cy="6096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বাকলিং (Buckling) — ১ বছরের কম বয়সী পুরুষ ছাগলের বাচ্চা।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61760" y="4608576"/>
            <a:ext cx="5364480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44640" y="4632960"/>
            <a:ext cx="4998720" cy="6096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ডো (Doe) — প্রাপ্তবয়স্ক স্ত্রী ছাগল; দুধ ও বাচ্চার জন্য পালা হয়।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61760" y="5340096"/>
            <a:ext cx="5364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44640" y="5364480"/>
            <a:ext cx="4998720" cy="6096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পাঠা (Buck) — প্রজননক্ষম প্রাপ্তবয়স্ক পুরুষ ছাগল।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61760" y="6071616"/>
            <a:ext cx="5364480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44640" y="6096000"/>
            <a:ext cx="4998720" cy="6096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খাসি (Wether) — খোজা করা প্রাপ্তবয়স্ক পুরুষ ছাগল; মাংসের জন্য পালা হয়।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75926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n-IN" dirty="0"/>
              <a:t>উত্তর দাও</a:t>
            </a:r>
            <a:endParaRPr lang="en-US" dirty="0"/>
          </a:p>
        </p:txBody>
      </p:sp>
      <p:pic>
        <p:nvPicPr>
          <p:cNvPr id="1026" name="Picture 2" descr="Virginia Zoo announces birth of new baby calf | WAVY.com">
            <a:extLst>
              <a:ext uri="{FF2B5EF4-FFF2-40B4-BE49-F238E27FC236}">
                <a16:creationId xmlns:a16="http://schemas.microsoft.com/office/drawing/2014/main" id="{1397A497-E854-861D-2883-F4364B5E1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08089"/>
            <a:ext cx="3773106" cy="2368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লাইভে বাছুর গরু ও এড়ে গরুর দাম জানুন। cow price। cow market। বামুন্দি পশুর  হাট">
            <a:extLst>
              <a:ext uri="{FF2B5EF4-FFF2-40B4-BE49-F238E27FC236}">
                <a16:creationId xmlns:a16="http://schemas.microsoft.com/office/drawing/2014/main" id="{F0D18FB4-A9CB-3D90-362F-80ECFCFD9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3106" y="1908087"/>
            <a:ext cx="4209447" cy="2368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১ - ৩ - ২০২৪ পালন উপযোগী শাহিওয়াল বকনা বাছুর এবং ষাঁড় বাছুরের দাম জানুন  কুমিল্লার বরুড়া আড্ডা বাজার">
            <a:extLst>
              <a:ext uri="{FF2B5EF4-FFF2-40B4-BE49-F238E27FC236}">
                <a16:creationId xmlns:a16="http://schemas.microsoft.com/office/drawing/2014/main" id="{DAB27958-BAB1-0CE9-CD82-8F6B765A8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2553" y="1908088"/>
            <a:ext cx="4209447" cy="2368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দ্রুত বর্ধণশীল ষাড় চেনার উপায় (গরু মোটাতাজাকরণের জন্য গুরুত্বপূর্ণ) দ্রুত  বর্ধণশীল ষাড় চেনার উপায় বা বৈশিষ্ট্য গুলো কি কি? কি কি ...">
            <a:extLst>
              <a:ext uri="{FF2B5EF4-FFF2-40B4-BE49-F238E27FC236}">
                <a16:creationId xmlns:a16="http://schemas.microsoft.com/office/drawing/2014/main" id="{F16EBFD8-3ADA-30C9-045A-6B3ADE34F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4276668"/>
            <a:ext cx="3760973" cy="2581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গাভী - উইকিপিডিয়া">
            <a:extLst>
              <a:ext uri="{FF2B5EF4-FFF2-40B4-BE49-F238E27FC236}">
                <a16:creationId xmlns:a16="http://schemas.microsoft.com/office/drawing/2014/main" id="{0341CE9A-69C4-F52D-2D28-F4B0C72DC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5240" y="4276667"/>
            <a:ext cx="3865424" cy="2581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75C31E-D76D-AD36-8B63-6A822FF650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4931" y="4276666"/>
            <a:ext cx="4640541" cy="2581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640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0"/>
            <a:ext cx="1121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গরুর জাত — উৎপাদনের ভিত্তিতে শ্রেণিবিভাগ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608320" cy="262128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5608320" cy="5120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560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🥛 দুধালো জাত (Dairy Breeds)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7680" y="1645920"/>
            <a:ext cx="5364480" cy="201168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>
              <a:spcAft>
                <a:spcPts val="267"/>
              </a:spcAft>
            </a:pPr>
            <a:r>
              <a:rPr lang="en-US" sz="1467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ফ্রিজিয়ান (Friesian)</a:t>
            </a:r>
            <a:endParaRPr lang="en-US" sz="1467" dirty="0"/>
          </a:p>
          <a:p>
            <a:pPr>
              <a:spcAft>
                <a:spcPts val="267"/>
              </a:spcAft>
            </a:pPr>
            <a:r>
              <a:rPr lang="en-US" sz="1467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শাহিওয়াল (Sahiwal)</a:t>
            </a:r>
            <a:endParaRPr lang="en-US" sz="1467" dirty="0"/>
          </a:p>
          <a:p>
            <a:pPr>
              <a:spcAft>
                <a:spcPts val="267"/>
              </a:spcAft>
            </a:pPr>
            <a:r>
              <a:rPr lang="en-US" sz="1467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লাল সিন্ধি (Red Sindhi)</a:t>
            </a:r>
            <a:endParaRPr lang="en-US" sz="1467" dirty="0"/>
          </a:p>
          <a:p>
            <a:pPr>
              <a:spcAft>
                <a:spcPts val="267"/>
              </a:spcAft>
            </a:pPr>
            <a:r>
              <a:rPr lang="en-US" sz="1467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আয়ারশায়ার (Ayrshire)</a:t>
            </a:r>
            <a:endParaRPr lang="en-US" sz="1467" dirty="0"/>
          </a:p>
          <a:p>
            <a:pPr>
              <a:spcAft>
                <a:spcPts val="267"/>
              </a:spcAft>
            </a:pPr>
            <a:r>
              <a:rPr lang="en-US" sz="1467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ব্রাউন সুইস (Brown Swiss)</a:t>
            </a:r>
            <a:endParaRPr lang="en-US" sz="1467" dirty="0"/>
          </a:p>
          <a:p>
            <a:pPr>
              <a:spcAft>
                <a:spcPts val="267"/>
              </a:spcAft>
            </a:pPr>
            <a:r>
              <a:rPr lang="en-US" sz="1467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জার্সি (Jersey)</a:t>
            </a:r>
            <a:endParaRPr lang="en-US" sz="1467" dirty="0"/>
          </a:p>
        </p:txBody>
      </p:sp>
      <p:sp>
        <p:nvSpPr>
          <p:cNvPr id="8" name="Shape 6"/>
          <p:cNvSpPr/>
          <p:nvPr/>
        </p:nvSpPr>
        <p:spPr>
          <a:xfrm>
            <a:off x="6339840" y="1097280"/>
            <a:ext cx="5608320" cy="2621280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39840" y="1097280"/>
            <a:ext cx="5608320" cy="51206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9840" y="1097280"/>
            <a:ext cx="560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🥩 মাংসল জাত (Beef Breeds)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61760" y="1645920"/>
            <a:ext cx="5364480" cy="201168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>
              <a:spcAft>
                <a:spcPts val="267"/>
              </a:spcAft>
            </a:pPr>
            <a:r>
              <a:rPr lang="en-US" sz="1467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অ্যাবারডিন অ্যাঙ্গাস (Aberdeen Angus)</a:t>
            </a:r>
            <a:endParaRPr lang="en-US" sz="1467" dirty="0"/>
          </a:p>
          <a:p>
            <a:pPr>
              <a:spcAft>
                <a:spcPts val="267"/>
              </a:spcAft>
            </a:pPr>
            <a:r>
              <a:rPr lang="en-US" sz="1467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বিফ মাস্টার (Beef Master)</a:t>
            </a:r>
            <a:endParaRPr lang="en-US" sz="1467" dirty="0"/>
          </a:p>
          <a:p>
            <a:pPr>
              <a:spcAft>
                <a:spcPts val="267"/>
              </a:spcAft>
            </a:pPr>
            <a:r>
              <a:rPr lang="en-US" sz="1467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শর্টহর্ন (Shorthorn)</a:t>
            </a:r>
            <a:endParaRPr lang="en-US" sz="1467" dirty="0"/>
          </a:p>
          <a:p>
            <a:pPr>
              <a:spcAft>
                <a:spcPts val="267"/>
              </a:spcAft>
            </a:pPr>
            <a:r>
              <a:rPr lang="en-US" sz="1467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ব্রাহ্মণ (Brahman)</a:t>
            </a:r>
            <a:endParaRPr lang="en-US" sz="1467" dirty="0"/>
          </a:p>
          <a:p>
            <a:pPr>
              <a:spcAft>
                <a:spcPts val="267"/>
              </a:spcAft>
            </a:pPr>
            <a:r>
              <a:rPr lang="en-US" sz="1467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শেরোলেই / </a:t>
            </a:r>
            <a:r>
              <a:rPr lang="en-US" sz="1467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চার্লুইস</a:t>
            </a:r>
            <a:r>
              <a:rPr lang="en-US" sz="1467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(Charolais)</a:t>
            </a:r>
            <a:endParaRPr lang="en-US" sz="1467" dirty="0"/>
          </a:p>
        </p:txBody>
      </p:sp>
      <p:sp>
        <p:nvSpPr>
          <p:cNvPr id="12" name="Shape 10"/>
          <p:cNvSpPr/>
          <p:nvPr/>
        </p:nvSpPr>
        <p:spPr>
          <a:xfrm>
            <a:off x="365760" y="3901440"/>
            <a:ext cx="5608320" cy="26212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901440"/>
            <a:ext cx="5608320" cy="5120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901440"/>
            <a:ext cx="560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দ্বৈত উদ্দেশ্যের জাত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7680" y="4450080"/>
            <a:ext cx="5364480" cy="201168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>
              <a:spcAft>
                <a:spcPts val="267"/>
              </a:spcAft>
            </a:pPr>
            <a:r>
              <a:rPr lang="en-US" sz="1467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হরিয়ানা (Hariana)</a:t>
            </a:r>
            <a:endParaRPr lang="en-US" sz="1467" dirty="0"/>
          </a:p>
          <a:p>
            <a:pPr>
              <a:spcAft>
                <a:spcPts val="267"/>
              </a:spcAft>
            </a:pPr>
            <a:r>
              <a:rPr lang="en-US" sz="1467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রেড পোল (Red Poll)</a:t>
            </a:r>
            <a:endParaRPr lang="en-US" sz="1467" dirty="0"/>
          </a:p>
          <a:p>
            <a:pPr>
              <a:spcAft>
                <a:spcPts val="267"/>
              </a:spcAft>
            </a:pPr>
            <a:r>
              <a:rPr lang="en-US" sz="1467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ডেভন (Devon)</a:t>
            </a:r>
            <a:endParaRPr lang="en-US" sz="1467" dirty="0"/>
          </a:p>
          <a:p>
            <a:pPr>
              <a:spcAft>
                <a:spcPts val="267"/>
              </a:spcAft>
            </a:pPr>
            <a:r>
              <a:rPr lang="en-US" sz="1467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ডুয়ালি (Dually)</a:t>
            </a:r>
            <a:endParaRPr lang="en-US" sz="1467" dirty="0"/>
          </a:p>
        </p:txBody>
      </p:sp>
      <p:sp>
        <p:nvSpPr>
          <p:cNvPr id="16" name="Shape 14"/>
          <p:cNvSpPr/>
          <p:nvPr/>
        </p:nvSpPr>
        <p:spPr>
          <a:xfrm>
            <a:off x="6339840" y="3901440"/>
            <a:ext cx="5608320" cy="262128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39840" y="3901440"/>
            <a:ext cx="5608320" cy="5120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9840" y="3901440"/>
            <a:ext cx="560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ভারবাহী জাত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61760" y="4450080"/>
            <a:ext cx="5364480" cy="201168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>
              <a:spcAft>
                <a:spcPts val="267"/>
              </a:spcAft>
            </a:pPr>
            <a:r>
              <a:rPr lang="en-US" sz="1467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হরিয়ানা (Hariana)</a:t>
            </a:r>
            <a:endParaRPr lang="en-US" sz="1467" dirty="0"/>
          </a:p>
          <a:p>
            <a:pPr>
              <a:spcAft>
                <a:spcPts val="267"/>
              </a:spcAft>
            </a:pPr>
            <a:r>
              <a:rPr lang="en-US" sz="1467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মালভি (Malvi)</a:t>
            </a:r>
            <a:endParaRPr lang="en-US" sz="1467" dirty="0"/>
          </a:p>
          <a:p>
            <a:pPr>
              <a:spcAft>
                <a:spcPts val="267"/>
              </a:spcAft>
            </a:pPr>
            <a:r>
              <a:rPr lang="en-US" sz="1467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ধান্নি (Dhanni)</a:t>
            </a:r>
            <a:endParaRPr lang="en-US" sz="1467" dirty="0"/>
          </a:p>
          <a:p>
            <a:pPr>
              <a:spcAft>
                <a:spcPts val="267"/>
              </a:spcAft>
            </a:pPr>
            <a:r>
              <a:rPr lang="en-US" sz="1467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নাগৌরি (Nagori)</a:t>
            </a:r>
            <a:endParaRPr lang="en-US" sz="1467" dirty="0"/>
          </a:p>
        </p:txBody>
      </p:sp>
    </p:spTree>
    <p:extLst>
      <p:ext uri="{BB962C8B-B14F-4D97-AF65-F5344CB8AC3E}">
        <p14:creationId xmlns:p14="http://schemas.microsoft.com/office/powerpoint/2010/main" val="2627804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0"/>
            <a:ext cx="1121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গরুর জাত — উৎপত্তির ভিত্তিতে শ্রেণিবিভাগ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243840" y="1097280"/>
            <a:ext cx="3779520" cy="54864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43840" y="1097280"/>
            <a:ext cx="3779520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3840" y="1097280"/>
            <a:ext cx="377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বাংলাদেশী</a:t>
            </a:r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733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দেশী</a:t>
            </a:r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জাত</a:t>
            </a:r>
            <a:endParaRPr lang="en-US" sz="1733" dirty="0"/>
          </a:p>
        </p:txBody>
      </p:sp>
      <p:sp>
        <p:nvSpPr>
          <p:cNvPr id="7" name="Text 5"/>
          <p:cNvSpPr/>
          <p:nvPr/>
        </p:nvSpPr>
        <p:spPr>
          <a:xfrm>
            <a:off x="365760" y="1731264"/>
            <a:ext cx="3535680" cy="85344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t"/>
          <a:lstStyle/>
          <a:p>
            <a:pPr marL="457189" indent="-457189">
              <a:buSzPct val="100000"/>
              <a:buChar char="•"/>
            </a:pPr>
            <a:r>
              <a:rPr lang="en-US" sz="1400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ভৈরবী</a:t>
            </a:r>
            <a:r>
              <a:rPr lang="en-US" sz="14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পাবনা</a:t>
            </a:r>
            <a:r>
              <a:rPr lang="en-US" sz="14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ফরিদপুরী</a:t>
            </a:r>
            <a:r>
              <a:rPr lang="en-US" sz="14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রেড</a:t>
            </a:r>
            <a:r>
              <a:rPr lang="en-US" sz="14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চিটাগাং 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(Red Chittagong) — সেরা দেশী জাত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657855"/>
            <a:ext cx="3535680" cy="3761605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t"/>
          <a:lstStyle/>
          <a:p>
            <a:pPr>
              <a:buSzPct val="100000"/>
            </a:pP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রেড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চিটাগাংঃ</a:t>
            </a:r>
            <a:b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400" dirty="0">
              <a:solidFill>
                <a:srgbClr val="37474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457189" indent="-457189">
              <a:buSzPct val="100000"/>
              <a:buChar char="•"/>
            </a:pP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বৈশিষ্ট্য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রোগ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প্রতিরোধ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ক্ষমতা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বেশি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স্থানীয়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জলবায়ুতে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টিকে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থাকে</a:t>
            </a:r>
            <a:endParaRPr lang="en-US" sz="1400" dirty="0">
              <a:solidFill>
                <a:srgbClr val="37474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457189" indent="-457189">
              <a:buSzPct val="100000"/>
              <a:buChar char="•"/>
            </a:pP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গায়ের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রঙ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লাল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কিন্তু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রাসারন্ধ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গোলাপি</a:t>
            </a:r>
            <a:endParaRPr lang="en-US" sz="1400" dirty="0">
              <a:solidFill>
                <a:srgbClr val="37474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457189" indent="-457189">
              <a:buSzPct val="100000"/>
              <a:buChar char="•"/>
            </a:pP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ছোট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তবে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পিছনের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দিকে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ভারী</a:t>
            </a:r>
            <a:endParaRPr lang="en-US" sz="1400" dirty="0">
              <a:solidFill>
                <a:srgbClr val="37474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457189" indent="-457189">
              <a:buSzPct val="100000"/>
              <a:buChar char="•"/>
            </a:pP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লেজ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লম্বা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ও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শেষপ্রান্তে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লাল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চুলের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গোছা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বিদ্যমান</a:t>
            </a:r>
            <a:endParaRPr lang="en-US" sz="1400" dirty="0">
              <a:solidFill>
                <a:srgbClr val="37474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457189" indent="-457189">
              <a:buSzPct val="100000"/>
              <a:buChar char="•"/>
            </a:pP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শিং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ছোট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পিছনে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আংশিক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বাকানো</a:t>
            </a:r>
            <a:endParaRPr lang="en-US" sz="1400" dirty="0">
              <a:solidFill>
                <a:srgbClr val="37474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457189" indent="-457189">
              <a:buSzPct val="100000"/>
              <a:buChar char="•"/>
            </a:pP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গলকম্বল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ছোট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পাতলা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ঘাড়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চিকন</a:t>
            </a:r>
            <a:endParaRPr lang="en-US" sz="1400" dirty="0">
              <a:solidFill>
                <a:srgbClr val="37474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457189" indent="-457189">
              <a:buSzPct val="100000"/>
              <a:buChar char="•"/>
            </a:pP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ষাড়ের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ওজন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৩৫০-৪০০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কেজি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গাভীর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ওজন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২০০-৩০০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কেজি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457189" indent="-457189">
              <a:buSzPct val="100000"/>
              <a:buChar char="•"/>
            </a:pP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ভারবহনের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জন্য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উপযোগী</a:t>
            </a:r>
            <a:endParaRPr lang="en-US" sz="1400" dirty="0">
              <a:solidFill>
                <a:srgbClr val="37474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457189" indent="-457189">
              <a:buSzPct val="100000"/>
              <a:buChar char="•"/>
            </a:pPr>
            <a:endParaRPr lang="en-US" sz="1400" dirty="0">
              <a:solidFill>
                <a:srgbClr val="37474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06240" y="1097280"/>
            <a:ext cx="3779520" cy="54864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06240" y="1097280"/>
            <a:ext cx="3779520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1097280"/>
            <a:ext cx="377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বিদেশী জাত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4328160" y="1731264"/>
            <a:ext cx="3535680" cy="85344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t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ফ্রিজিয়ান (Friesian) — সর্বোচ্চ দুধ উৎপাদনকারী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28160" y="2657856"/>
            <a:ext cx="3535680" cy="85344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t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জার্সি (Jersey) — দুধে সর্বোচ্চ বাটার ফ্যাট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28160" y="3584448"/>
            <a:ext cx="3535680" cy="85344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t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শাহিওয়াল (Sahiwal) — দেশী ধরনের দুধালো জাত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28160" y="4511040"/>
            <a:ext cx="3535680" cy="85344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t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হরিয়ানা (Hariana) — দ্বৈত উদ্দেশ্যের জাত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28160" y="5437632"/>
            <a:ext cx="3535680" cy="85344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t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লাল সিন্ধি (Red Sindhi) — তাপ সহনশীল দুধালো জাত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68640" y="1097280"/>
            <a:ext cx="3779520" cy="54864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8F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68640" y="1097280"/>
            <a:ext cx="3779520" cy="54864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68640" y="1097280"/>
            <a:ext cx="377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সংকর জাত</a:t>
            </a:r>
            <a:endParaRPr lang="en-US" sz="1733" dirty="0"/>
          </a:p>
        </p:txBody>
      </p:sp>
      <p:sp>
        <p:nvSpPr>
          <p:cNvPr id="23" name="Text 21"/>
          <p:cNvSpPr/>
          <p:nvPr/>
        </p:nvSpPr>
        <p:spPr>
          <a:xfrm>
            <a:off x="8290560" y="1731264"/>
            <a:ext cx="3535680" cy="85344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t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বিফ মাস্টার (Beef Master) — মাংসল সংকর জাত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90560" y="2657856"/>
            <a:ext cx="3535680" cy="85344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t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শাহিওয়াল × ফ্রিজিয়ান — জনপ্রিয় দুধালো সংকর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90560" y="3584448"/>
            <a:ext cx="3535680" cy="85344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t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ব্রাহ্মণ × শার্লুইস — মাংসল সংকর জাত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90560" y="4511040"/>
            <a:ext cx="3535680" cy="85344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t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বৈশিষ্ট্য: দেশী ও বিদেশী জাতের সুবিধা একত্রে পাওয়া যায়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90560" y="5437632"/>
            <a:ext cx="3535680" cy="85344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t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উচ্চ উৎপাদনশীলতা ও রোগ প্রতিরোধ ক্ষমতা সম্পন্ন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70031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310057"/>
            <a:ext cx="10571998" cy="1213446"/>
          </a:xfrm>
        </p:spPr>
        <p:txBody>
          <a:bodyPr/>
          <a:lstStyle/>
          <a:p>
            <a:r>
              <a:rPr lang="en-US" sz="4400" dirty="0" err="1"/>
              <a:t>কেমন</a:t>
            </a:r>
            <a:r>
              <a:rPr lang="en-US" sz="4400" dirty="0"/>
              <a:t> </a:t>
            </a:r>
            <a:r>
              <a:rPr lang="en-US" sz="4400" dirty="0" err="1"/>
              <a:t>গরু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819F6E-0745-4A47-0A31-51FDC7E6B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615" y="2633358"/>
            <a:ext cx="5258534" cy="2972215"/>
          </a:xfrm>
          <a:prstGeom prst="rect">
            <a:avLst/>
          </a:prstGeom>
        </p:spPr>
      </p:pic>
      <p:pic>
        <p:nvPicPr>
          <p:cNvPr id="1030" name="Picture 6" descr="Indian Cow India - Free photo on Pixabay">
            <a:extLst>
              <a:ext uri="{FF2B5EF4-FFF2-40B4-BE49-F238E27FC236}">
                <a16:creationId xmlns:a16="http://schemas.microsoft.com/office/drawing/2014/main" id="{03243FCC-93A6-4E77-A480-7984437D2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2633358"/>
            <a:ext cx="5138057" cy="2972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651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310057"/>
            <a:ext cx="10571998" cy="1213446"/>
          </a:xfrm>
        </p:spPr>
        <p:txBody>
          <a:bodyPr/>
          <a:lstStyle/>
          <a:p>
            <a:r>
              <a:rPr lang="en-US" dirty="0" err="1"/>
              <a:t>গরুর</a:t>
            </a:r>
            <a:r>
              <a:rPr lang="en-US" dirty="0"/>
              <a:t> </a:t>
            </a:r>
            <a:r>
              <a:rPr lang="bn-IN" dirty="0"/>
              <a:t>জাত ও বৈশিষ্ট্য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DE987-10D5-44EA-9E6A-91AB1B30FE40}"/>
              </a:ext>
            </a:extLst>
          </p:cNvPr>
          <p:cNvSpPr txBox="1"/>
          <p:nvPr/>
        </p:nvSpPr>
        <p:spPr>
          <a:xfrm>
            <a:off x="189185" y="2396359"/>
            <a:ext cx="6032939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accent2"/>
                </a:solidFill>
              </a:rPr>
              <a:t>দেশী</a:t>
            </a:r>
            <a:r>
              <a:rPr lang="en-US" sz="2800" dirty="0">
                <a:solidFill>
                  <a:schemeClr val="accent2"/>
                </a:solidFill>
              </a:rPr>
              <a:t> </a:t>
            </a:r>
            <a:r>
              <a:rPr lang="en-US" sz="2800" dirty="0" err="1">
                <a:solidFill>
                  <a:schemeClr val="accent2"/>
                </a:solidFill>
              </a:rPr>
              <a:t>গরুঃ</a:t>
            </a:r>
            <a:endParaRPr lang="bn-IN" sz="2800" dirty="0">
              <a:solidFill>
                <a:schemeClr val="accent2"/>
              </a:solidFill>
            </a:endParaRPr>
          </a:p>
          <a:p>
            <a:r>
              <a:rPr lang="bn-IN" sz="2800" dirty="0">
                <a:solidFill>
                  <a:schemeClr val="accent2"/>
                </a:solidFill>
              </a:rPr>
              <a:t> </a:t>
            </a:r>
            <a:endParaRPr lang="en-US" sz="2800" dirty="0">
              <a:solidFill>
                <a:schemeClr val="accent2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 err="1"/>
              <a:t>আকারে</a:t>
            </a:r>
            <a:r>
              <a:rPr lang="en-US" sz="2400" dirty="0"/>
              <a:t> </a:t>
            </a:r>
            <a:r>
              <a:rPr lang="en-US" sz="2400" dirty="0" err="1"/>
              <a:t>ছোট</a:t>
            </a:r>
            <a:r>
              <a:rPr lang="en-US" sz="2400" dirty="0"/>
              <a:t> </a:t>
            </a:r>
            <a:r>
              <a:rPr lang="en-US" sz="2400" dirty="0" err="1"/>
              <a:t>বা</a:t>
            </a:r>
            <a:r>
              <a:rPr lang="en-US" sz="2400" dirty="0"/>
              <a:t> </a:t>
            </a:r>
            <a:r>
              <a:rPr lang="en-US" sz="2400" dirty="0" err="1"/>
              <a:t>মাঝারী</a:t>
            </a:r>
            <a:r>
              <a:rPr lang="en-US" sz="2400" dirty="0"/>
              <a:t>, </a:t>
            </a:r>
            <a:r>
              <a:rPr lang="en-US" sz="2400" dirty="0" err="1"/>
              <a:t>শরীরে</a:t>
            </a:r>
            <a:r>
              <a:rPr lang="en-US" sz="2400" dirty="0"/>
              <a:t> </a:t>
            </a:r>
            <a:r>
              <a:rPr lang="en-US" sz="2400" dirty="0" err="1"/>
              <a:t>চামড়া</a:t>
            </a:r>
            <a:r>
              <a:rPr lang="en-US" sz="2400" dirty="0"/>
              <a:t> </a:t>
            </a:r>
            <a:r>
              <a:rPr lang="en-US" sz="2400" dirty="0" err="1"/>
              <a:t>শক্ত</a:t>
            </a:r>
            <a:endParaRPr lang="en-US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 err="1"/>
              <a:t>কান</a:t>
            </a:r>
            <a:r>
              <a:rPr lang="en-US" sz="2400" dirty="0"/>
              <a:t> </a:t>
            </a:r>
            <a:r>
              <a:rPr lang="en-US" sz="2400" dirty="0" err="1"/>
              <a:t>ছোট</a:t>
            </a:r>
            <a:r>
              <a:rPr lang="en-US" sz="2400" dirty="0"/>
              <a:t> ও </a:t>
            </a:r>
            <a:r>
              <a:rPr lang="en-US" sz="2400" dirty="0" err="1"/>
              <a:t>খাড়া</a:t>
            </a:r>
            <a:r>
              <a:rPr lang="en-US" sz="2400" dirty="0"/>
              <a:t>, </a:t>
            </a:r>
            <a:r>
              <a:rPr lang="en-US" sz="2400" dirty="0" err="1"/>
              <a:t>মাথা</a:t>
            </a:r>
            <a:r>
              <a:rPr lang="en-US" sz="2400" dirty="0"/>
              <a:t> </a:t>
            </a:r>
            <a:r>
              <a:rPr lang="en-US" sz="2400" dirty="0" err="1"/>
              <a:t>ছোট</a:t>
            </a:r>
            <a:r>
              <a:rPr lang="en-US" sz="2400" dirty="0"/>
              <a:t> </a:t>
            </a:r>
            <a:r>
              <a:rPr lang="en-US" sz="2400" dirty="0" err="1"/>
              <a:t>বর্গাকৃতির</a:t>
            </a:r>
            <a:r>
              <a:rPr lang="en-US" sz="2400" dirty="0"/>
              <a:t>, </a:t>
            </a:r>
            <a:r>
              <a:rPr lang="en-US" sz="2400" dirty="0" err="1"/>
              <a:t>কপাল</a:t>
            </a:r>
            <a:r>
              <a:rPr lang="en-US" sz="2400" dirty="0"/>
              <a:t> </a:t>
            </a:r>
            <a:r>
              <a:rPr lang="en-US" sz="2400" dirty="0" err="1"/>
              <a:t>চওড়া</a:t>
            </a:r>
            <a:endParaRPr lang="en-US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 err="1"/>
              <a:t>গায়ের</a:t>
            </a:r>
            <a:r>
              <a:rPr lang="en-US" sz="2400" dirty="0"/>
              <a:t> রঙ </a:t>
            </a:r>
            <a:r>
              <a:rPr lang="en-US" sz="2400" dirty="0" err="1"/>
              <a:t>সাদা</a:t>
            </a:r>
            <a:r>
              <a:rPr lang="en-US" sz="2400" dirty="0"/>
              <a:t> </a:t>
            </a:r>
            <a:r>
              <a:rPr lang="en-US" sz="2400" dirty="0" err="1"/>
              <a:t>কালো</a:t>
            </a:r>
            <a:r>
              <a:rPr lang="en-US" sz="2400" dirty="0"/>
              <a:t> </a:t>
            </a:r>
            <a:r>
              <a:rPr lang="en-US" sz="2400" dirty="0" err="1"/>
              <a:t>লাল</a:t>
            </a:r>
            <a:r>
              <a:rPr lang="en-US" sz="2400" dirty="0"/>
              <a:t> রঙ </a:t>
            </a:r>
            <a:r>
              <a:rPr lang="en-US" sz="2400" dirty="0" err="1"/>
              <a:t>মিশ্রিত</a:t>
            </a:r>
            <a:endParaRPr lang="en-US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 err="1"/>
              <a:t>শিং</a:t>
            </a:r>
            <a:r>
              <a:rPr lang="en-US" sz="2400" dirty="0"/>
              <a:t> </a:t>
            </a:r>
            <a:r>
              <a:rPr lang="en-US" sz="2400" dirty="0" err="1"/>
              <a:t>খাড়া</a:t>
            </a:r>
            <a:r>
              <a:rPr lang="en-US" sz="2400" dirty="0"/>
              <a:t> </a:t>
            </a:r>
            <a:r>
              <a:rPr lang="en-US" sz="2400" dirty="0" err="1"/>
              <a:t>হয়ে</a:t>
            </a:r>
            <a:r>
              <a:rPr lang="en-US" sz="2400" dirty="0"/>
              <a:t> </a:t>
            </a:r>
            <a:r>
              <a:rPr lang="en-US" sz="2400" dirty="0" err="1"/>
              <a:t>বাকানো</a:t>
            </a:r>
            <a:r>
              <a:rPr lang="en-US" sz="2400" dirty="0"/>
              <a:t>, </a:t>
            </a:r>
            <a:r>
              <a:rPr lang="en-US" sz="2400" dirty="0" err="1"/>
              <a:t>পাতলা</a:t>
            </a:r>
            <a:r>
              <a:rPr lang="en-US" sz="2400" dirty="0"/>
              <a:t> ও </a:t>
            </a:r>
            <a:r>
              <a:rPr lang="en-US" sz="2400" dirty="0" err="1"/>
              <a:t>চোখা</a:t>
            </a:r>
            <a:endParaRPr lang="en-US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 err="1"/>
              <a:t>এদের</a:t>
            </a:r>
            <a:r>
              <a:rPr lang="en-US" sz="2400" dirty="0"/>
              <a:t> </a:t>
            </a:r>
            <a:r>
              <a:rPr lang="en-US" sz="2400" dirty="0" err="1"/>
              <a:t>হসরীরে</a:t>
            </a:r>
            <a:r>
              <a:rPr lang="en-US" sz="2400" dirty="0"/>
              <a:t> </a:t>
            </a:r>
            <a:r>
              <a:rPr lang="en-US" sz="2400" dirty="0" err="1"/>
              <a:t>চর্বি</a:t>
            </a:r>
            <a:r>
              <a:rPr lang="en-US" sz="2400" dirty="0"/>
              <a:t> ও </a:t>
            </a:r>
            <a:r>
              <a:rPr lang="en-US" sz="2400" dirty="0" err="1"/>
              <a:t>গলার</a:t>
            </a:r>
            <a:r>
              <a:rPr lang="en-US" sz="2400" dirty="0"/>
              <a:t> </a:t>
            </a:r>
            <a:r>
              <a:rPr lang="en-US" sz="2400" dirty="0" err="1"/>
              <a:t>নিচে</a:t>
            </a:r>
            <a:r>
              <a:rPr lang="en-US" sz="2400" dirty="0"/>
              <a:t> </a:t>
            </a:r>
            <a:r>
              <a:rPr lang="en-US" sz="2400" dirty="0" err="1"/>
              <a:t>ভাজ</a:t>
            </a:r>
            <a:r>
              <a:rPr lang="en-US" sz="2400" dirty="0"/>
              <a:t> কম, </a:t>
            </a:r>
            <a:r>
              <a:rPr lang="en-US" sz="2400" dirty="0" err="1"/>
              <a:t>ষাড়ের</a:t>
            </a:r>
            <a:r>
              <a:rPr lang="en-US" sz="2400" dirty="0"/>
              <a:t> </a:t>
            </a:r>
            <a:r>
              <a:rPr lang="en-US" sz="2400" dirty="0" err="1"/>
              <a:t>কুজ</a:t>
            </a:r>
            <a:r>
              <a:rPr lang="en-US" sz="2400" dirty="0"/>
              <a:t> </a:t>
            </a:r>
            <a:r>
              <a:rPr lang="en-US" sz="2400" dirty="0" err="1"/>
              <a:t>উচু</a:t>
            </a:r>
            <a:endParaRPr lang="en-US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 err="1"/>
              <a:t>ওজন</a:t>
            </a:r>
            <a:r>
              <a:rPr lang="en-US" sz="2400" dirty="0"/>
              <a:t> ২২৫-</a:t>
            </a:r>
            <a:r>
              <a:rPr lang="en-US" sz="2400" dirty="0" err="1"/>
              <a:t>২৬০কেজি</a:t>
            </a:r>
            <a:r>
              <a:rPr lang="en-US" sz="2400" dirty="0"/>
              <a:t>, ১২০-১৩০ </a:t>
            </a:r>
            <a:r>
              <a:rPr lang="en-US" sz="2400" dirty="0" err="1"/>
              <a:t>কেজি</a:t>
            </a:r>
            <a:endParaRPr lang="en-US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bn-IN" sz="3200" dirty="0"/>
          </a:p>
        </p:txBody>
      </p:sp>
      <p:pic>
        <p:nvPicPr>
          <p:cNvPr id="2050" name="Picture 2" descr="দেশি জাতের গরু চিনবেন যেভাবে">
            <a:extLst>
              <a:ext uri="{FF2B5EF4-FFF2-40B4-BE49-F238E27FC236}">
                <a16:creationId xmlns:a16="http://schemas.microsoft.com/office/drawing/2014/main" id="{78F09E9D-3A0A-8504-CE10-76C2950C5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4776" y="2923579"/>
            <a:ext cx="5352661" cy="3010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886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310057"/>
            <a:ext cx="10571998" cy="1213446"/>
          </a:xfrm>
        </p:spPr>
        <p:txBody>
          <a:bodyPr/>
          <a:lstStyle/>
          <a:p>
            <a:r>
              <a:rPr lang="en-US" dirty="0" err="1"/>
              <a:t>গরুর</a:t>
            </a:r>
            <a:r>
              <a:rPr lang="en-US" dirty="0"/>
              <a:t> </a:t>
            </a:r>
            <a:r>
              <a:rPr lang="bn-IN" dirty="0"/>
              <a:t>জাত ও বৈশিষ্ট্য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DE987-10D5-44EA-9E6A-91AB1B30FE40}"/>
              </a:ext>
            </a:extLst>
          </p:cNvPr>
          <p:cNvSpPr txBox="1"/>
          <p:nvPr/>
        </p:nvSpPr>
        <p:spPr>
          <a:xfrm>
            <a:off x="189185" y="2396359"/>
            <a:ext cx="603293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accent2"/>
                </a:solidFill>
              </a:rPr>
              <a:t>রেড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চিটাগাং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গরুঃ</a:t>
            </a:r>
            <a:endParaRPr lang="bn-IN" sz="2000" dirty="0">
              <a:solidFill>
                <a:schemeClr val="accent2"/>
              </a:solidFill>
            </a:endParaRPr>
          </a:p>
          <a:p>
            <a:r>
              <a:rPr lang="bn-IN" sz="2000" dirty="0">
                <a:solidFill>
                  <a:schemeClr val="accent2"/>
                </a:solidFill>
              </a:rPr>
              <a:t> </a:t>
            </a:r>
            <a:endParaRPr lang="en-US" sz="2000" dirty="0">
              <a:solidFill>
                <a:schemeClr val="accent2"/>
              </a:solidFill>
            </a:endParaRPr>
          </a:p>
          <a:p>
            <a:pPr marL="457189" indent="-457189">
              <a:buSzPct val="100000"/>
              <a:buChar char="•"/>
            </a:pP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বৈশিষ্ট্য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রোগ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প্রতিরোধ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ক্ষমতা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বেশি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স্থানীয়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জলবায়ুতে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টিকে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থাকে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457189" indent="-457189">
              <a:buSzPct val="100000"/>
              <a:buChar char="•"/>
            </a:pP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গায়ের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রঙ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লাল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কিন্তু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রাসারন্ধ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গোলাপি</a:t>
            </a:r>
            <a:endParaRPr lang="en-US" sz="20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457189" indent="-457189">
              <a:buSzPct val="100000"/>
              <a:buChar char="•"/>
            </a:pP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ছোট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তবে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পিছনের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দিকে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ভারী</a:t>
            </a:r>
            <a:endParaRPr lang="en-US" sz="20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457189" indent="-457189">
              <a:buSzPct val="100000"/>
              <a:buChar char="•"/>
            </a:pP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লেজ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লম্বা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ও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শেষপ্রান্তে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লাল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চুলের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গোছা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বিদ্যমান</a:t>
            </a:r>
            <a:endParaRPr lang="en-US" sz="20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457189" indent="-457189">
              <a:buSzPct val="100000"/>
              <a:buChar char="•"/>
            </a:pP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শিং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ছোট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পিছনে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আংশিক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বাকানো</a:t>
            </a:r>
            <a:endParaRPr lang="en-US" sz="20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457189" indent="-457189">
              <a:buSzPct val="100000"/>
              <a:buChar char="•"/>
            </a:pP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গলকম্বল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ছোট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পাতলা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ঘাড়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চিকন</a:t>
            </a:r>
            <a:endParaRPr lang="en-US" sz="20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457189" indent="-457189">
              <a:buSzPct val="100000"/>
              <a:buChar char="•"/>
            </a:pP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ষাড়ের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ওজন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৩৫০-৪০০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কেজি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গাভীর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ওজন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২০০-৩০০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কেজি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457189" indent="-457189">
              <a:buSzPct val="100000"/>
              <a:buChar char="•"/>
            </a:pP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ভারবহনের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জন্য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উপযোগী</a:t>
            </a:r>
            <a:endParaRPr lang="en-US" sz="20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b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7A4FD4-7EA6-81F3-8C7D-8888402BE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259" y="2578027"/>
            <a:ext cx="4801270" cy="3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0391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310057"/>
            <a:ext cx="10571998" cy="1213446"/>
          </a:xfrm>
        </p:spPr>
        <p:txBody>
          <a:bodyPr/>
          <a:lstStyle/>
          <a:p>
            <a:r>
              <a:rPr lang="en-US" dirty="0" err="1"/>
              <a:t>গরুর</a:t>
            </a:r>
            <a:r>
              <a:rPr lang="en-US" dirty="0"/>
              <a:t> </a:t>
            </a:r>
            <a:r>
              <a:rPr lang="bn-IN" dirty="0"/>
              <a:t>জাত ও বৈশিষ্ট্য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DE987-10D5-44EA-9E6A-91AB1B30FE40}"/>
              </a:ext>
            </a:extLst>
          </p:cNvPr>
          <p:cNvSpPr txBox="1"/>
          <p:nvPr/>
        </p:nvSpPr>
        <p:spPr>
          <a:xfrm>
            <a:off x="189185" y="2396359"/>
            <a:ext cx="603293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accent2"/>
                </a:solidFill>
              </a:rPr>
              <a:t>হলস্ট্রেইন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ফ্রিজিয়ান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গরুঃ</a:t>
            </a:r>
            <a:endParaRPr lang="bn-IN" sz="2000" dirty="0">
              <a:solidFill>
                <a:schemeClr val="accent2"/>
              </a:solidFill>
            </a:endParaRPr>
          </a:p>
          <a:p>
            <a:r>
              <a:rPr lang="bn-IN" sz="2000" dirty="0">
                <a:solidFill>
                  <a:schemeClr val="accent2"/>
                </a:solidFill>
              </a:rPr>
              <a:t> </a:t>
            </a:r>
            <a:endParaRPr lang="en-US" sz="2000" dirty="0">
              <a:solidFill>
                <a:schemeClr val="accent2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হল্যান্ডের</a:t>
            </a:r>
            <a:r>
              <a:rPr lang="en-US" sz="2000" dirty="0"/>
              <a:t> </a:t>
            </a:r>
            <a:r>
              <a:rPr lang="en-US" sz="2000" dirty="0" err="1"/>
              <a:t>ফ্রিজল্যান্ডে</a:t>
            </a:r>
            <a:r>
              <a:rPr lang="en-US" sz="2000" dirty="0"/>
              <a:t> </a:t>
            </a:r>
            <a:r>
              <a:rPr lang="en-US" sz="2000" dirty="0" err="1"/>
              <a:t>উৎপত্তি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হলস্টেইন</a:t>
            </a:r>
            <a:r>
              <a:rPr lang="en-US" sz="2000" dirty="0"/>
              <a:t> x </a:t>
            </a:r>
            <a:r>
              <a:rPr lang="en-US" sz="2000" dirty="0" err="1"/>
              <a:t>ফ্রিজিয়ান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দুধাল</a:t>
            </a:r>
            <a:r>
              <a:rPr lang="en-US" sz="2000" dirty="0"/>
              <a:t> </a:t>
            </a:r>
            <a:r>
              <a:rPr lang="en-US" sz="2000" dirty="0" err="1"/>
              <a:t>জাতের</a:t>
            </a:r>
            <a:r>
              <a:rPr lang="en-US" sz="2000" dirty="0"/>
              <a:t> </a:t>
            </a:r>
            <a:r>
              <a:rPr lang="en-US" sz="2000" dirty="0" err="1"/>
              <a:t>গরু</a:t>
            </a:r>
            <a:r>
              <a:rPr lang="en-US" sz="2000" dirty="0"/>
              <a:t>, </a:t>
            </a:r>
            <a:r>
              <a:rPr lang="en-US" sz="2000" dirty="0" err="1"/>
              <a:t>গায়ের</a:t>
            </a:r>
            <a:r>
              <a:rPr lang="en-US" sz="2000" dirty="0"/>
              <a:t> রঙ </a:t>
            </a:r>
            <a:r>
              <a:rPr lang="en-US" sz="2000" dirty="0" err="1"/>
              <a:t>সাদা</a:t>
            </a:r>
            <a:r>
              <a:rPr lang="en-US" sz="2000" dirty="0"/>
              <a:t> </a:t>
            </a:r>
            <a:r>
              <a:rPr lang="en-US" sz="2000" dirty="0" err="1"/>
              <a:t>কালো</a:t>
            </a:r>
            <a:r>
              <a:rPr lang="en-US" sz="2000" dirty="0"/>
              <a:t> </a:t>
            </a:r>
            <a:r>
              <a:rPr lang="en-US" sz="2000" dirty="0" err="1"/>
              <a:t>ছোপ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পেছনের</a:t>
            </a:r>
            <a:r>
              <a:rPr lang="en-US" sz="2000" dirty="0"/>
              <a:t> </a:t>
            </a:r>
            <a:r>
              <a:rPr lang="en-US" sz="2000" dirty="0" err="1"/>
              <a:t>অংশ</a:t>
            </a:r>
            <a:r>
              <a:rPr lang="en-US" sz="2000" dirty="0"/>
              <a:t> </a:t>
            </a:r>
            <a:r>
              <a:rPr lang="en-US" sz="2000" dirty="0" err="1"/>
              <a:t>বেশ</a:t>
            </a:r>
            <a:r>
              <a:rPr lang="en-US" sz="2000" dirty="0"/>
              <a:t> </a:t>
            </a:r>
            <a:r>
              <a:rPr lang="en-US" sz="2000" dirty="0" err="1"/>
              <a:t>ভারী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পিছনের</a:t>
            </a:r>
            <a:r>
              <a:rPr lang="en-US" sz="2000" dirty="0"/>
              <a:t> </a:t>
            </a:r>
            <a:r>
              <a:rPr lang="en-US" sz="2000" dirty="0" err="1"/>
              <a:t>পা</a:t>
            </a:r>
            <a:r>
              <a:rPr lang="en-US" sz="2000" dirty="0"/>
              <a:t> </a:t>
            </a:r>
            <a:r>
              <a:rPr lang="en-US" sz="2000" dirty="0" err="1"/>
              <a:t>অনেকটা</a:t>
            </a:r>
            <a:r>
              <a:rPr lang="en-US" sz="2000" dirty="0"/>
              <a:t> </a:t>
            </a:r>
            <a:r>
              <a:rPr lang="en-US" sz="2000" dirty="0" err="1"/>
              <a:t>সোজা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ওলান</a:t>
            </a:r>
            <a:r>
              <a:rPr lang="en-US" sz="2000" dirty="0"/>
              <a:t> </a:t>
            </a:r>
            <a:r>
              <a:rPr lang="en-US" sz="2000" dirty="0" err="1"/>
              <a:t>বড়</a:t>
            </a:r>
            <a:r>
              <a:rPr lang="en-US" sz="2000" dirty="0"/>
              <a:t> ,</a:t>
            </a:r>
            <a:r>
              <a:rPr lang="en-US" sz="2000" dirty="0" err="1"/>
              <a:t>দিনে</a:t>
            </a:r>
            <a:r>
              <a:rPr lang="en-US" sz="2000" dirty="0"/>
              <a:t> ৩০-৪০ </a:t>
            </a:r>
            <a:r>
              <a:rPr lang="en-US" sz="2000" dirty="0" err="1"/>
              <a:t>লিটার</a:t>
            </a:r>
            <a:r>
              <a:rPr lang="en-US" sz="2000" dirty="0"/>
              <a:t> </a:t>
            </a:r>
            <a:r>
              <a:rPr lang="en-US" sz="2000" dirty="0" err="1"/>
              <a:t>দুধ</a:t>
            </a:r>
            <a:r>
              <a:rPr lang="en-US" sz="2000" dirty="0"/>
              <a:t> </a:t>
            </a:r>
            <a:r>
              <a:rPr lang="en-US" sz="2000" dirty="0" err="1"/>
              <a:t>দেয়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ওজন</a:t>
            </a:r>
            <a:r>
              <a:rPr lang="en-US" sz="2000" dirty="0"/>
              <a:t> ৫০০-৬০০ </a:t>
            </a:r>
            <a:r>
              <a:rPr lang="en-US" sz="2000" dirty="0" err="1"/>
              <a:t>কেজি</a:t>
            </a:r>
            <a:r>
              <a:rPr lang="en-US" sz="2000" dirty="0"/>
              <a:t>, ৮০০-১০০০ </a:t>
            </a:r>
            <a:r>
              <a:rPr lang="en-US" sz="2000" dirty="0" err="1"/>
              <a:t>কেজি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বকনা</a:t>
            </a:r>
            <a:r>
              <a:rPr lang="en-US" sz="2000" dirty="0"/>
              <a:t> ১৮ </a:t>
            </a:r>
            <a:r>
              <a:rPr lang="en-US" sz="2000" dirty="0" err="1"/>
              <a:t>মাসে</a:t>
            </a:r>
            <a:r>
              <a:rPr lang="en-US" sz="2000" dirty="0"/>
              <a:t> </a:t>
            </a:r>
            <a:r>
              <a:rPr lang="en-US" sz="2000" dirty="0" err="1"/>
              <a:t>প্রজননক্ষম</a:t>
            </a:r>
            <a:r>
              <a:rPr lang="en-US" sz="2000" dirty="0"/>
              <a:t> </a:t>
            </a:r>
            <a:r>
              <a:rPr lang="en-US" sz="2000" dirty="0" err="1"/>
              <a:t>হয়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bn-IN" sz="2000" dirty="0"/>
          </a:p>
        </p:txBody>
      </p:sp>
      <p:pic>
        <p:nvPicPr>
          <p:cNvPr id="4098" name="Picture 2" descr="গরুর জাত পরিচিতি : হোলস্টাইন ফ্রিজিয়ান গরুর নাম : পৃথিবীর একক জাতের মধ্যে  মোট সংখ্যায় দ্বিতীয় এবং সিঙ্গেল পারপাস ডেইরি গরু হিসাবে ...">
            <a:extLst>
              <a:ext uri="{FF2B5EF4-FFF2-40B4-BE49-F238E27FC236}">
                <a16:creationId xmlns:a16="http://schemas.microsoft.com/office/drawing/2014/main" id="{CF9E0034-16CE-874D-63BB-7DE131349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4022" y="2599158"/>
            <a:ext cx="4967977" cy="3409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0834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310057"/>
            <a:ext cx="10571998" cy="1213446"/>
          </a:xfrm>
        </p:spPr>
        <p:txBody>
          <a:bodyPr/>
          <a:lstStyle/>
          <a:p>
            <a:r>
              <a:rPr lang="en-US" dirty="0" err="1"/>
              <a:t>গরুর</a:t>
            </a:r>
            <a:r>
              <a:rPr lang="en-US" dirty="0"/>
              <a:t> </a:t>
            </a:r>
            <a:r>
              <a:rPr lang="bn-IN" dirty="0"/>
              <a:t>জাত ও বৈশিষ্ট্য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DE987-10D5-44EA-9E6A-91AB1B30FE40}"/>
              </a:ext>
            </a:extLst>
          </p:cNvPr>
          <p:cNvSpPr txBox="1"/>
          <p:nvPr/>
        </p:nvSpPr>
        <p:spPr>
          <a:xfrm>
            <a:off x="189185" y="2396359"/>
            <a:ext cx="603293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accent2"/>
                </a:solidFill>
              </a:rPr>
              <a:t>জার্সি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গরুঃ</a:t>
            </a:r>
            <a:endParaRPr lang="bn-IN" sz="2000" dirty="0">
              <a:solidFill>
                <a:schemeClr val="accent2"/>
              </a:solidFill>
            </a:endParaRPr>
          </a:p>
          <a:p>
            <a:r>
              <a:rPr lang="bn-IN" sz="2000" dirty="0">
                <a:solidFill>
                  <a:schemeClr val="accent2"/>
                </a:solidFill>
              </a:rPr>
              <a:t> </a:t>
            </a:r>
            <a:endParaRPr lang="en-US" sz="2000" dirty="0">
              <a:solidFill>
                <a:schemeClr val="accent2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গায়ের</a:t>
            </a:r>
            <a:r>
              <a:rPr lang="en-US" sz="2000" dirty="0"/>
              <a:t> রঙ </a:t>
            </a:r>
            <a:r>
              <a:rPr lang="en-US" sz="2000" dirty="0" err="1"/>
              <a:t>ফিকে</a:t>
            </a:r>
            <a:r>
              <a:rPr lang="en-US" sz="2000" dirty="0"/>
              <a:t> </a:t>
            </a:r>
            <a:r>
              <a:rPr lang="en-US" sz="2000" dirty="0" err="1"/>
              <a:t>লাল</a:t>
            </a:r>
            <a:r>
              <a:rPr lang="en-US" sz="2000" dirty="0"/>
              <a:t>, </a:t>
            </a:r>
            <a:r>
              <a:rPr lang="en-US" sz="2000" dirty="0" err="1"/>
              <a:t>মাথা</a:t>
            </a:r>
            <a:r>
              <a:rPr lang="en-US" sz="2000" dirty="0"/>
              <a:t> </a:t>
            </a:r>
            <a:r>
              <a:rPr lang="en-US" sz="2000" dirty="0" err="1"/>
              <a:t>লম্বা</a:t>
            </a:r>
            <a:r>
              <a:rPr lang="en-US" sz="2000" dirty="0"/>
              <a:t> ও </a:t>
            </a:r>
            <a:r>
              <a:rPr lang="en-US" sz="2000" dirty="0" err="1"/>
              <a:t>কুজ</a:t>
            </a:r>
            <a:r>
              <a:rPr lang="en-US" sz="2000" dirty="0"/>
              <a:t> </a:t>
            </a:r>
            <a:r>
              <a:rPr lang="en-US" sz="2000" dirty="0" err="1"/>
              <a:t>নেই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শিরদাড়</a:t>
            </a:r>
            <a:r>
              <a:rPr lang="en-US" sz="2000" dirty="0"/>
              <a:t> </a:t>
            </a:r>
            <a:r>
              <a:rPr lang="en-US" sz="2000" dirty="0" err="1"/>
              <a:t>সোজা</a:t>
            </a:r>
            <a:r>
              <a:rPr lang="en-US" sz="2000" dirty="0"/>
              <a:t> </a:t>
            </a:r>
            <a:r>
              <a:rPr lang="en-US" sz="2000" dirty="0" err="1"/>
              <a:t>দেখায়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শিং</a:t>
            </a:r>
            <a:r>
              <a:rPr lang="en-US" sz="2000" dirty="0"/>
              <a:t> </a:t>
            </a:r>
            <a:r>
              <a:rPr lang="en-US" sz="2000" dirty="0" err="1"/>
              <a:t>পাতলা</a:t>
            </a:r>
            <a:r>
              <a:rPr lang="en-US" sz="2000" dirty="0"/>
              <a:t>, </a:t>
            </a:r>
            <a:r>
              <a:rPr lang="en-US" sz="2000" dirty="0" err="1"/>
              <a:t>সামনের</a:t>
            </a:r>
            <a:r>
              <a:rPr lang="en-US" sz="2000" dirty="0"/>
              <a:t> </a:t>
            </a:r>
            <a:r>
              <a:rPr lang="en-US" sz="2000" dirty="0" err="1"/>
              <a:t>দিকে</a:t>
            </a:r>
            <a:r>
              <a:rPr lang="en-US" sz="2000" dirty="0"/>
              <a:t> </a:t>
            </a:r>
            <a:r>
              <a:rPr lang="en-US" sz="2000" dirty="0" err="1"/>
              <a:t>কিছুটা</a:t>
            </a:r>
            <a:r>
              <a:rPr lang="en-US" sz="2000" dirty="0"/>
              <a:t> </a:t>
            </a:r>
            <a:r>
              <a:rPr lang="en-US" sz="2000" dirty="0" err="1"/>
              <a:t>বাকানো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চর্বি</a:t>
            </a:r>
            <a:r>
              <a:rPr lang="en-US" sz="2000" dirty="0"/>
              <a:t> </a:t>
            </a:r>
            <a:r>
              <a:rPr lang="en-US" sz="2000" dirty="0" err="1"/>
              <a:t>খুব</a:t>
            </a:r>
            <a:r>
              <a:rPr lang="en-US" sz="2000" dirty="0"/>
              <a:t> কম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জিহবা</a:t>
            </a:r>
            <a:r>
              <a:rPr lang="en-US" sz="2000" dirty="0"/>
              <a:t> ও </a:t>
            </a:r>
            <a:r>
              <a:rPr lang="en-US" sz="2000" dirty="0" err="1"/>
              <a:t>লেজের</a:t>
            </a:r>
            <a:r>
              <a:rPr lang="en-US" sz="2000" dirty="0"/>
              <a:t> রঙ </a:t>
            </a:r>
            <a:r>
              <a:rPr lang="en-US" sz="2000" dirty="0" err="1"/>
              <a:t>কালো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/>
              <a:t>৬০০-৭০০ </a:t>
            </a:r>
            <a:r>
              <a:rPr lang="en-US" sz="2000" dirty="0" err="1"/>
              <a:t>কেজি</a:t>
            </a:r>
            <a:r>
              <a:rPr lang="en-US" sz="2000" dirty="0"/>
              <a:t>, ৪০০-৫০০ </a:t>
            </a:r>
            <a:r>
              <a:rPr lang="en-US" sz="2000" dirty="0" err="1"/>
              <a:t>কেজি</a:t>
            </a:r>
            <a:r>
              <a:rPr lang="en-US" sz="2000" dirty="0"/>
              <a:t> </a:t>
            </a:r>
            <a:r>
              <a:rPr lang="en-US" sz="2000" dirty="0" err="1"/>
              <a:t>ওজন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বকনা</a:t>
            </a:r>
            <a:r>
              <a:rPr lang="en-US" sz="2000" dirty="0"/>
              <a:t>, ২৪ </a:t>
            </a:r>
            <a:r>
              <a:rPr lang="en-US" sz="2000" dirty="0" err="1"/>
              <a:t>মাসে</a:t>
            </a:r>
            <a:r>
              <a:rPr lang="en-US" sz="2000" dirty="0"/>
              <a:t> </a:t>
            </a:r>
            <a:r>
              <a:rPr lang="en-US" sz="2000" dirty="0" err="1"/>
              <a:t>প্রজননক্ষম</a:t>
            </a:r>
            <a:r>
              <a:rPr lang="en-US" sz="2000" dirty="0"/>
              <a:t> </a:t>
            </a:r>
            <a:r>
              <a:rPr lang="en-US" sz="2000" dirty="0" err="1"/>
              <a:t>হয়</a:t>
            </a:r>
            <a:r>
              <a:rPr lang="en-US" sz="2000" dirty="0"/>
              <a:t>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bn-IN" sz="2000" dirty="0"/>
          </a:p>
        </p:txBody>
      </p:sp>
      <p:pic>
        <p:nvPicPr>
          <p:cNvPr id="5122" name="Picture 2" descr="No photo description available.">
            <a:extLst>
              <a:ext uri="{FF2B5EF4-FFF2-40B4-BE49-F238E27FC236}">
                <a16:creationId xmlns:a16="http://schemas.microsoft.com/office/drawing/2014/main" id="{60CA0477-C931-DD8B-13AA-1C32EFF5D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396359"/>
            <a:ext cx="5499378" cy="3875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1857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310057"/>
            <a:ext cx="10571998" cy="1213446"/>
          </a:xfrm>
        </p:spPr>
        <p:txBody>
          <a:bodyPr/>
          <a:lstStyle/>
          <a:p>
            <a:r>
              <a:rPr lang="en-US" dirty="0" err="1"/>
              <a:t>গরুর</a:t>
            </a:r>
            <a:r>
              <a:rPr lang="en-US" dirty="0"/>
              <a:t> </a:t>
            </a:r>
            <a:r>
              <a:rPr lang="bn-IN" dirty="0"/>
              <a:t>জাত ও বৈশিষ্ট্য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DE987-10D5-44EA-9E6A-91AB1B30FE40}"/>
              </a:ext>
            </a:extLst>
          </p:cNvPr>
          <p:cNvSpPr txBox="1"/>
          <p:nvPr/>
        </p:nvSpPr>
        <p:spPr>
          <a:xfrm>
            <a:off x="189185" y="2396359"/>
            <a:ext cx="603293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accent2"/>
                </a:solidFill>
              </a:rPr>
              <a:t>আয়ারশায়ার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গরুঃ</a:t>
            </a:r>
            <a:endParaRPr lang="bn-IN" sz="2000" dirty="0">
              <a:solidFill>
                <a:schemeClr val="accent2"/>
              </a:solidFill>
            </a:endParaRPr>
          </a:p>
          <a:p>
            <a:r>
              <a:rPr lang="bn-IN" sz="2000" dirty="0">
                <a:solidFill>
                  <a:schemeClr val="accent2"/>
                </a:solidFill>
              </a:rPr>
              <a:t> </a:t>
            </a:r>
            <a:endParaRPr lang="en-US" sz="2000" dirty="0">
              <a:solidFill>
                <a:schemeClr val="accent2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শরীরের</a:t>
            </a:r>
            <a:r>
              <a:rPr lang="en-US" sz="2000" dirty="0"/>
              <a:t> </a:t>
            </a:r>
            <a:r>
              <a:rPr lang="en-US" sz="2000" dirty="0" err="1"/>
              <a:t>পিছনের</a:t>
            </a:r>
            <a:r>
              <a:rPr lang="en-US" sz="2000" dirty="0"/>
              <a:t> </a:t>
            </a:r>
            <a:r>
              <a:rPr lang="en-US" sz="2000" dirty="0" err="1"/>
              <a:t>দিক</a:t>
            </a:r>
            <a:r>
              <a:rPr lang="en-US" sz="2000" dirty="0"/>
              <a:t> </a:t>
            </a:r>
            <a:r>
              <a:rPr lang="en-US" sz="2000" dirty="0" err="1"/>
              <a:t>ভারী</a:t>
            </a:r>
            <a:r>
              <a:rPr lang="en-US" sz="2000" dirty="0"/>
              <a:t>, </a:t>
            </a:r>
            <a:r>
              <a:rPr lang="en-US" sz="2000" dirty="0" err="1"/>
              <a:t>শিরদাড়</a:t>
            </a:r>
            <a:r>
              <a:rPr lang="en-US" sz="2000" dirty="0"/>
              <a:t> </a:t>
            </a:r>
            <a:r>
              <a:rPr lang="en-US" sz="2000" dirty="0" err="1"/>
              <a:t>সোজা</a:t>
            </a:r>
            <a:r>
              <a:rPr lang="en-US" sz="2000" dirty="0"/>
              <a:t>, </a:t>
            </a:r>
            <a:r>
              <a:rPr lang="en-US" sz="2000" dirty="0" err="1"/>
              <a:t>সিং</a:t>
            </a:r>
            <a:r>
              <a:rPr lang="en-US" sz="2000" dirty="0"/>
              <a:t> </a:t>
            </a:r>
            <a:r>
              <a:rPr lang="en-US" sz="2000" dirty="0" err="1"/>
              <a:t>প্রসারিত</a:t>
            </a:r>
            <a:r>
              <a:rPr lang="en-US" sz="2000" dirty="0"/>
              <a:t> ও </a:t>
            </a:r>
            <a:r>
              <a:rPr lang="en-US" sz="2000" dirty="0" err="1"/>
              <a:t>বাকা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গায়ে</a:t>
            </a:r>
            <a:r>
              <a:rPr lang="en-US" sz="2000" dirty="0"/>
              <a:t> </a:t>
            </a:r>
            <a:r>
              <a:rPr lang="en-US" sz="2000" dirty="0" err="1"/>
              <a:t>লাল</a:t>
            </a:r>
            <a:r>
              <a:rPr lang="en-US" sz="2000" dirty="0"/>
              <a:t>, </a:t>
            </a:r>
            <a:r>
              <a:rPr lang="en-US" sz="2000" dirty="0" err="1"/>
              <a:t>সাদা</a:t>
            </a:r>
            <a:r>
              <a:rPr lang="en-US" sz="2000" dirty="0"/>
              <a:t> </a:t>
            </a:r>
            <a:r>
              <a:rPr lang="en-US" sz="2000" dirty="0" err="1"/>
              <a:t>ছোপ</a:t>
            </a:r>
            <a:r>
              <a:rPr lang="en-US" sz="2000" dirty="0"/>
              <a:t> </a:t>
            </a:r>
            <a:r>
              <a:rPr lang="en-US" sz="2000" dirty="0" err="1"/>
              <a:t>দেখা</a:t>
            </a:r>
            <a:r>
              <a:rPr lang="en-US" sz="2000" dirty="0"/>
              <a:t> </a:t>
            </a:r>
            <a:r>
              <a:rPr lang="en-US" sz="2000" dirty="0" err="1"/>
              <a:t>যায়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গাভীর</a:t>
            </a:r>
            <a:r>
              <a:rPr lang="en-US" sz="2000" dirty="0"/>
              <a:t> রঙ </a:t>
            </a:r>
            <a:r>
              <a:rPr lang="en-US" sz="2000" dirty="0" err="1"/>
              <a:t>ফিকে</a:t>
            </a:r>
            <a:r>
              <a:rPr lang="en-US" sz="2000" dirty="0"/>
              <a:t> </a:t>
            </a:r>
            <a:r>
              <a:rPr lang="en-US" sz="2000" dirty="0" err="1"/>
              <a:t>লাল</a:t>
            </a:r>
            <a:r>
              <a:rPr lang="en-US" sz="2000" dirty="0"/>
              <a:t>, </a:t>
            </a:r>
            <a:r>
              <a:rPr lang="en-US" sz="2000" dirty="0" err="1"/>
              <a:t>তবে</a:t>
            </a:r>
            <a:r>
              <a:rPr lang="en-US" sz="2000" dirty="0"/>
              <a:t> </a:t>
            </a:r>
            <a:r>
              <a:rPr lang="en-US" sz="2000" dirty="0" err="1"/>
              <a:t>ষাড়</a:t>
            </a:r>
            <a:r>
              <a:rPr lang="en-US" sz="2000" dirty="0"/>
              <a:t> </a:t>
            </a:r>
            <a:r>
              <a:rPr lang="en-US" sz="2000" dirty="0" err="1"/>
              <a:t>গারো</a:t>
            </a:r>
            <a:r>
              <a:rPr lang="en-US" sz="2000" dirty="0"/>
              <a:t> </a:t>
            </a:r>
            <a:r>
              <a:rPr lang="en-US" sz="2000" dirty="0" err="1"/>
              <a:t>লাল</a:t>
            </a:r>
            <a:r>
              <a:rPr lang="en-US" sz="2000" dirty="0"/>
              <a:t> </a:t>
            </a:r>
            <a:r>
              <a:rPr lang="en-US" sz="2000" dirty="0" err="1"/>
              <a:t>হয়ে</a:t>
            </a:r>
            <a:r>
              <a:rPr lang="en-US" sz="2000" dirty="0"/>
              <a:t> </a:t>
            </a:r>
            <a:r>
              <a:rPr lang="en-US" sz="2000" dirty="0" err="1"/>
              <a:t>থাকে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ওলান</a:t>
            </a:r>
            <a:r>
              <a:rPr lang="en-US" sz="2000" dirty="0"/>
              <a:t> </a:t>
            </a:r>
            <a:r>
              <a:rPr lang="en-US" sz="2000" dirty="0" err="1"/>
              <a:t>সুগঠিত</a:t>
            </a:r>
            <a:r>
              <a:rPr lang="en-US" sz="2000" dirty="0"/>
              <a:t> ও </a:t>
            </a:r>
            <a:r>
              <a:rPr lang="en-US" sz="2000" dirty="0" err="1"/>
              <a:t>বেশ</a:t>
            </a:r>
            <a:r>
              <a:rPr lang="en-US" sz="2000" dirty="0"/>
              <a:t> </a:t>
            </a:r>
            <a:r>
              <a:rPr lang="en-US" sz="2000" dirty="0" err="1"/>
              <a:t>বড়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/>
              <a:t>৮৫০-১১৫০ </a:t>
            </a:r>
            <a:r>
              <a:rPr lang="en-US" sz="2000" dirty="0" err="1"/>
              <a:t>কেজি</a:t>
            </a:r>
            <a:r>
              <a:rPr lang="en-US" sz="2000" dirty="0"/>
              <a:t>, ৫৫০-৭০০ </a:t>
            </a:r>
            <a:r>
              <a:rPr lang="en-US" sz="2000" dirty="0" err="1"/>
              <a:t>কেজি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দৈনিক</a:t>
            </a:r>
            <a:r>
              <a:rPr lang="en-US" sz="2000" dirty="0"/>
              <a:t> ১৬-১৭ </a:t>
            </a:r>
            <a:r>
              <a:rPr lang="en-US" sz="2000" dirty="0" err="1"/>
              <a:t>লিটার</a:t>
            </a:r>
            <a:r>
              <a:rPr lang="en-US" sz="2000" dirty="0"/>
              <a:t> </a:t>
            </a:r>
            <a:r>
              <a:rPr lang="en-US" sz="2000" dirty="0" err="1"/>
              <a:t>দুধ</a:t>
            </a:r>
            <a:r>
              <a:rPr lang="en-US" sz="2000" dirty="0"/>
              <a:t> </a:t>
            </a:r>
            <a:r>
              <a:rPr lang="en-US" sz="2000" dirty="0" err="1"/>
              <a:t>দেয়</a:t>
            </a:r>
            <a:endParaRPr lang="bn-IN" sz="2000" dirty="0"/>
          </a:p>
        </p:txBody>
      </p:sp>
      <p:pic>
        <p:nvPicPr>
          <p:cNvPr id="6146" name="Picture 2" descr="আয়রশায়ার | ডেইরি, হার্ডি এবং অভিযোজিত | ব্রিটানিকা">
            <a:extLst>
              <a:ext uri="{FF2B5EF4-FFF2-40B4-BE49-F238E27FC236}">
                <a16:creationId xmlns:a16="http://schemas.microsoft.com/office/drawing/2014/main" id="{55B33421-319D-048C-F4C9-136DF03F9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488" y="2396359"/>
            <a:ext cx="4431026" cy="4012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13526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310057"/>
            <a:ext cx="10571998" cy="1213446"/>
          </a:xfrm>
        </p:spPr>
        <p:txBody>
          <a:bodyPr/>
          <a:lstStyle/>
          <a:p>
            <a:r>
              <a:rPr lang="en-US" dirty="0" err="1"/>
              <a:t>গরুর</a:t>
            </a:r>
            <a:r>
              <a:rPr lang="en-US" dirty="0"/>
              <a:t> </a:t>
            </a:r>
            <a:r>
              <a:rPr lang="bn-IN" dirty="0"/>
              <a:t>জাত ও বৈশিষ্ট্য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DE987-10D5-44EA-9E6A-91AB1B30FE40}"/>
              </a:ext>
            </a:extLst>
          </p:cNvPr>
          <p:cNvSpPr txBox="1"/>
          <p:nvPr/>
        </p:nvSpPr>
        <p:spPr>
          <a:xfrm>
            <a:off x="189185" y="2396359"/>
            <a:ext cx="603293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accent2"/>
                </a:solidFill>
              </a:rPr>
              <a:t>শাহীওয়াল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গরুঃ</a:t>
            </a:r>
            <a:endParaRPr lang="bn-IN" sz="2000" dirty="0">
              <a:solidFill>
                <a:schemeClr val="accent2"/>
              </a:solidFill>
            </a:endParaRPr>
          </a:p>
          <a:p>
            <a:r>
              <a:rPr lang="bn-IN" sz="2000" dirty="0">
                <a:solidFill>
                  <a:schemeClr val="accent2"/>
                </a:solidFill>
              </a:rPr>
              <a:t>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উৎপত্তি</a:t>
            </a:r>
            <a:r>
              <a:rPr lang="en-US" sz="2000" dirty="0"/>
              <a:t> </a:t>
            </a:r>
            <a:r>
              <a:rPr lang="en-US" sz="2000" dirty="0" err="1"/>
              <a:t>পাঞ্জাব</a:t>
            </a:r>
            <a:r>
              <a:rPr lang="en-US" sz="2000" dirty="0"/>
              <a:t> </a:t>
            </a:r>
            <a:r>
              <a:rPr lang="en-US" sz="2000" dirty="0" err="1"/>
              <a:t>প্রদেশে</a:t>
            </a:r>
            <a:r>
              <a:rPr lang="en-US" sz="2000" dirty="0"/>
              <a:t> </a:t>
            </a:r>
            <a:r>
              <a:rPr lang="en-US" sz="2000" dirty="0" err="1"/>
              <a:t>মন্টেগোমারি</a:t>
            </a:r>
            <a:r>
              <a:rPr lang="en-US" sz="2000" dirty="0"/>
              <a:t> </a:t>
            </a:r>
            <a:r>
              <a:rPr lang="en-US" sz="2000" dirty="0" err="1"/>
              <a:t>জেলা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মোটাসোটা</a:t>
            </a:r>
            <a:r>
              <a:rPr lang="en-US" sz="2000" dirty="0"/>
              <a:t> </a:t>
            </a:r>
            <a:r>
              <a:rPr lang="en-US" sz="2000" dirty="0" err="1"/>
              <a:t>ভারি</a:t>
            </a:r>
            <a:r>
              <a:rPr lang="en-US" sz="2000" dirty="0"/>
              <a:t> </a:t>
            </a:r>
            <a:r>
              <a:rPr lang="en-US" sz="2000" dirty="0" err="1"/>
              <a:t>দেহ</a:t>
            </a:r>
            <a:r>
              <a:rPr lang="en-US" sz="2000" dirty="0"/>
              <a:t>, </a:t>
            </a:r>
            <a:r>
              <a:rPr lang="en-US" sz="2000" dirty="0" err="1"/>
              <a:t>গায়ের</a:t>
            </a:r>
            <a:r>
              <a:rPr lang="en-US" sz="2000" dirty="0"/>
              <a:t> রঙ </a:t>
            </a:r>
            <a:r>
              <a:rPr lang="en-US" sz="2000" dirty="0" err="1"/>
              <a:t>তামাটে</a:t>
            </a:r>
            <a:r>
              <a:rPr lang="en-US" sz="2000" dirty="0"/>
              <a:t>, </a:t>
            </a:r>
            <a:r>
              <a:rPr lang="en-US" sz="2000" dirty="0" err="1"/>
              <a:t>মাথা</a:t>
            </a:r>
            <a:r>
              <a:rPr lang="en-US" sz="2000" dirty="0"/>
              <a:t> </a:t>
            </a:r>
            <a:r>
              <a:rPr lang="en-US" sz="2000" dirty="0" err="1"/>
              <a:t>ছোট</a:t>
            </a:r>
            <a:r>
              <a:rPr lang="en-US" sz="2000" dirty="0"/>
              <a:t> ও </a:t>
            </a:r>
            <a:r>
              <a:rPr lang="en-US" sz="2000" dirty="0" err="1"/>
              <a:t>চওড়া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গলকম্বল</a:t>
            </a:r>
            <a:r>
              <a:rPr lang="en-US" sz="2000" dirty="0"/>
              <a:t> </a:t>
            </a:r>
            <a:r>
              <a:rPr lang="en-US" sz="2000" dirty="0" err="1"/>
              <a:t>বৃহদাকার</a:t>
            </a:r>
            <a:r>
              <a:rPr lang="en-US" sz="2000" dirty="0"/>
              <a:t>, </a:t>
            </a:r>
            <a:r>
              <a:rPr lang="en-US" sz="2000" dirty="0" err="1"/>
              <a:t>কান</a:t>
            </a:r>
            <a:r>
              <a:rPr lang="en-US" sz="2000" dirty="0"/>
              <a:t> ও </a:t>
            </a:r>
            <a:r>
              <a:rPr lang="en-US" sz="2000" dirty="0" err="1"/>
              <a:t>নাভি</a:t>
            </a:r>
            <a:r>
              <a:rPr lang="en-US" sz="2000" dirty="0"/>
              <a:t> </a:t>
            </a:r>
            <a:r>
              <a:rPr lang="en-US" sz="2000" dirty="0" err="1"/>
              <a:t>ঝুলানো</a:t>
            </a:r>
            <a:br>
              <a:rPr lang="en-US" sz="2000" dirty="0"/>
            </a:br>
            <a:r>
              <a:rPr lang="en-US" sz="2000" dirty="0" err="1"/>
              <a:t>লেজের</a:t>
            </a:r>
            <a:r>
              <a:rPr lang="en-US" sz="2000" dirty="0"/>
              <a:t> </a:t>
            </a:r>
            <a:r>
              <a:rPr lang="en-US" sz="2000" dirty="0" err="1"/>
              <a:t>গোড়ায়</a:t>
            </a:r>
            <a:r>
              <a:rPr lang="en-US" sz="2000" dirty="0"/>
              <a:t> </a:t>
            </a:r>
            <a:r>
              <a:rPr lang="en-US" sz="2000" dirty="0" err="1"/>
              <a:t>একগুচ্ছ</a:t>
            </a:r>
            <a:r>
              <a:rPr lang="en-US" sz="2000" dirty="0"/>
              <a:t> </a:t>
            </a:r>
            <a:r>
              <a:rPr lang="en-US" sz="2000" dirty="0" err="1"/>
              <a:t>কালো</a:t>
            </a:r>
            <a:r>
              <a:rPr lang="en-US" sz="2000" dirty="0"/>
              <a:t> </a:t>
            </a:r>
            <a:r>
              <a:rPr lang="en-US" sz="2000" dirty="0" err="1"/>
              <a:t>রঙের</a:t>
            </a:r>
            <a:r>
              <a:rPr lang="en-US" sz="2000" dirty="0"/>
              <a:t> </a:t>
            </a:r>
            <a:r>
              <a:rPr lang="en-US" sz="2000" dirty="0" err="1"/>
              <a:t>চুল</a:t>
            </a:r>
            <a:r>
              <a:rPr lang="en-US" sz="2000" dirty="0"/>
              <a:t> </a:t>
            </a:r>
            <a:r>
              <a:rPr lang="en-US" sz="2000" dirty="0" err="1"/>
              <a:t>থাকে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বকনা</a:t>
            </a:r>
            <a:r>
              <a:rPr lang="en-US" sz="2000" dirty="0"/>
              <a:t> ৩০ </a:t>
            </a:r>
            <a:r>
              <a:rPr lang="en-US" sz="2000" dirty="0" err="1"/>
              <a:t>মাসে</a:t>
            </a:r>
            <a:r>
              <a:rPr lang="en-US" sz="2000" dirty="0"/>
              <a:t> </a:t>
            </a:r>
            <a:r>
              <a:rPr lang="en-US" sz="2000" dirty="0" err="1"/>
              <a:t>প্রজননের</a:t>
            </a:r>
            <a:r>
              <a:rPr lang="en-US" sz="2000" dirty="0"/>
              <a:t> </a:t>
            </a:r>
            <a:r>
              <a:rPr lang="en-US" sz="2000" dirty="0" err="1"/>
              <a:t>উপযুক্ত</a:t>
            </a:r>
            <a:r>
              <a:rPr lang="en-US" sz="2000" dirty="0"/>
              <a:t> </a:t>
            </a:r>
            <a:r>
              <a:rPr lang="en-US" sz="2000" dirty="0" err="1"/>
              <a:t>হয়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বাছুর</a:t>
            </a:r>
            <a:r>
              <a:rPr lang="en-US" sz="2000" dirty="0"/>
              <a:t> ২২-২৮ </a:t>
            </a:r>
            <a:r>
              <a:rPr lang="en-US" sz="2000" dirty="0" err="1"/>
              <a:t>কেজি</a:t>
            </a:r>
            <a:r>
              <a:rPr lang="en-US" sz="2000" dirty="0"/>
              <a:t> </a:t>
            </a:r>
            <a:r>
              <a:rPr lang="en-US" sz="2000" dirty="0" err="1"/>
              <a:t>হয়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ওলান</a:t>
            </a:r>
            <a:r>
              <a:rPr lang="en-US" sz="2000" dirty="0"/>
              <a:t> </a:t>
            </a:r>
            <a:r>
              <a:rPr lang="en-US" sz="2000" dirty="0" err="1"/>
              <a:t>গ্রন্থি</a:t>
            </a:r>
            <a:r>
              <a:rPr lang="en-US" sz="2000" dirty="0"/>
              <a:t> </a:t>
            </a:r>
            <a:r>
              <a:rPr lang="en-US" sz="2000" dirty="0" err="1"/>
              <a:t>বেশ</a:t>
            </a:r>
            <a:r>
              <a:rPr lang="en-US" sz="2000" dirty="0"/>
              <a:t> </a:t>
            </a:r>
            <a:r>
              <a:rPr lang="en-US" sz="2000" dirty="0" err="1"/>
              <a:t>বড়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/>
              <a:t>৭৫০ </a:t>
            </a:r>
            <a:r>
              <a:rPr lang="en-US" sz="2000" dirty="0" err="1"/>
              <a:t>কেজি</a:t>
            </a:r>
            <a:r>
              <a:rPr lang="en-US" sz="2000" dirty="0"/>
              <a:t>, ৪৫০ </a:t>
            </a:r>
            <a:r>
              <a:rPr lang="en-US" sz="2000" dirty="0" err="1"/>
              <a:t>কেজী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বকনা</a:t>
            </a:r>
            <a:r>
              <a:rPr lang="en-US" sz="2000" dirty="0"/>
              <a:t> ৩০ </a:t>
            </a:r>
            <a:r>
              <a:rPr lang="en-US" sz="2000" dirty="0" err="1"/>
              <a:t>মাসে</a:t>
            </a:r>
            <a:r>
              <a:rPr lang="en-US" sz="2000" dirty="0"/>
              <a:t> </a:t>
            </a:r>
            <a:r>
              <a:rPr lang="en-US" sz="2000" dirty="0" err="1"/>
              <a:t>প্রজনক্ষম</a:t>
            </a:r>
            <a:r>
              <a:rPr lang="en-US" sz="2000" dirty="0"/>
              <a:t> </a:t>
            </a:r>
            <a:r>
              <a:rPr lang="en-US" sz="2000" dirty="0" err="1"/>
              <a:t>হয়</a:t>
            </a:r>
            <a:r>
              <a:rPr lang="en-US" sz="2000" dirty="0"/>
              <a:t> </a:t>
            </a:r>
            <a:endParaRPr lang="bn-IN" sz="2000" dirty="0"/>
          </a:p>
        </p:txBody>
      </p:sp>
      <p:pic>
        <p:nvPicPr>
          <p:cNvPr id="7170" name="Picture 2" descr="শাহীওয়াল গরু - উইকিপিডিয়া">
            <a:extLst>
              <a:ext uri="{FF2B5EF4-FFF2-40B4-BE49-F238E27FC236}">
                <a16:creationId xmlns:a16="http://schemas.microsoft.com/office/drawing/2014/main" id="{BF3A935E-FE50-0B3E-FAFC-F64F103BB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554" y="2640563"/>
            <a:ext cx="5332445" cy="355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8187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310057"/>
            <a:ext cx="10571998" cy="1213446"/>
          </a:xfrm>
        </p:spPr>
        <p:txBody>
          <a:bodyPr/>
          <a:lstStyle/>
          <a:p>
            <a:r>
              <a:rPr lang="en-US" dirty="0" err="1"/>
              <a:t>গরুর</a:t>
            </a:r>
            <a:r>
              <a:rPr lang="en-US" dirty="0"/>
              <a:t> </a:t>
            </a:r>
            <a:r>
              <a:rPr lang="bn-IN" dirty="0"/>
              <a:t>জাত ও বৈশিষ্ট্য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DE987-10D5-44EA-9E6A-91AB1B30FE40}"/>
              </a:ext>
            </a:extLst>
          </p:cNvPr>
          <p:cNvSpPr txBox="1"/>
          <p:nvPr/>
        </p:nvSpPr>
        <p:spPr>
          <a:xfrm>
            <a:off x="189185" y="2396359"/>
            <a:ext cx="603293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accent2"/>
                </a:solidFill>
              </a:rPr>
              <a:t>লাল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সিন্ধি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গরুঃ</a:t>
            </a:r>
            <a:endParaRPr lang="bn-IN" sz="2000" dirty="0">
              <a:solidFill>
                <a:schemeClr val="accent2"/>
              </a:solidFill>
            </a:endParaRPr>
          </a:p>
          <a:p>
            <a:r>
              <a:rPr lang="bn-IN" sz="2000" dirty="0">
                <a:solidFill>
                  <a:schemeClr val="accent2"/>
                </a:solidFill>
              </a:rPr>
              <a:t>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গায়ের</a:t>
            </a:r>
            <a:r>
              <a:rPr lang="en-US" sz="2000" dirty="0"/>
              <a:t> রঙ </a:t>
            </a:r>
            <a:r>
              <a:rPr lang="en-US" sz="2000" dirty="0" err="1"/>
              <a:t>লাল</a:t>
            </a:r>
            <a:r>
              <a:rPr lang="en-US" sz="2000" dirty="0"/>
              <a:t>, </a:t>
            </a:r>
            <a:r>
              <a:rPr lang="en-US" sz="2000" dirty="0" err="1"/>
              <a:t>কপাল</a:t>
            </a:r>
            <a:r>
              <a:rPr lang="en-US" sz="2000" dirty="0"/>
              <a:t> </a:t>
            </a:r>
            <a:r>
              <a:rPr lang="en-US" sz="2000" dirty="0" err="1"/>
              <a:t>প্রশন্ত</a:t>
            </a:r>
            <a:r>
              <a:rPr lang="en-US" sz="2000" dirty="0"/>
              <a:t> ও </a:t>
            </a:r>
            <a:r>
              <a:rPr lang="en-US" sz="2000" dirty="0" err="1"/>
              <a:t>উন্নত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শিং</a:t>
            </a:r>
            <a:r>
              <a:rPr lang="en-US" sz="2000" dirty="0"/>
              <a:t> </a:t>
            </a:r>
            <a:r>
              <a:rPr lang="en-US" sz="2000" dirty="0" err="1"/>
              <a:t>মোটা</a:t>
            </a:r>
            <a:r>
              <a:rPr lang="en-US" sz="2000" dirty="0"/>
              <a:t> ও </a:t>
            </a:r>
            <a:r>
              <a:rPr lang="en-US" sz="2000" dirty="0" err="1"/>
              <a:t>ভোতা</a:t>
            </a:r>
            <a:r>
              <a:rPr lang="en-US" sz="2000" dirty="0"/>
              <a:t>, </a:t>
            </a:r>
            <a:r>
              <a:rPr lang="en-US" sz="2000" dirty="0" err="1"/>
              <a:t>যা</a:t>
            </a:r>
            <a:r>
              <a:rPr lang="en-US" sz="2000" dirty="0"/>
              <a:t> </a:t>
            </a:r>
            <a:r>
              <a:rPr lang="en-US" sz="2000" dirty="0" err="1"/>
              <a:t>পিছনে</a:t>
            </a:r>
            <a:r>
              <a:rPr lang="en-US" sz="2000" dirty="0"/>
              <a:t> ও </a:t>
            </a:r>
            <a:r>
              <a:rPr lang="en-US" sz="2000" dirty="0" err="1"/>
              <a:t>পাশে</a:t>
            </a:r>
            <a:r>
              <a:rPr lang="en-US" sz="2000" dirty="0"/>
              <a:t> </a:t>
            </a:r>
            <a:r>
              <a:rPr lang="en-US" sz="2000" dirty="0" err="1"/>
              <a:t>বাকানো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মাথা</a:t>
            </a:r>
            <a:r>
              <a:rPr lang="en-US" sz="2000" dirty="0"/>
              <a:t> ও </a:t>
            </a:r>
            <a:r>
              <a:rPr lang="en-US" sz="2000" dirty="0" err="1"/>
              <a:t>মুখমন্ডল</a:t>
            </a:r>
            <a:r>
              <a:rPr lang="en-US" sz="2000" dirty="0"/>
              <a:t> </a:t>
            </a:r>
            <a:r>
              <a:rPr lang="en-US" sz="2000" dirty="0" err="1"/>
              <a:t>ছোট</a:t>
            </a:r>
            <a:r>
              <a:rPr lang="en-US" sz="2000" dirty="0"/>
              <a:t>, </a:t>
            </a:r>
            <a:r>
              <a:rPr lang="en-US" sz="2000" dirty="0" err="1"/>
              <a:t>গলকম্বল</a:t>
            </a:r>
            <a:r>
              <a:rPr lang="en-US" sz="2000" dirty="0"/>
              <a:t> </a:t>
            </a:r>
            <a:r>
              <a:rPr lang="en-US" sz="2000" dirty="0" err="1"/>
              <a:t>বৃহদাকার</a:t>
            </a:r>
            <a:r>
              <a:rPr lang="en-US" sz="2000" dirty="0"/>
              <a:t> ও </a:t>
            </a:r>
            <a:r>
              <a:rPr lang="en-US" sz="2000" dirty="0" err="1"/>
              <a:t>ঝুলানো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ষাড়ের</a:t>
            </a:r>
            <a:r>
              <a:rPr lang="en-US" sz="2000" dirty="0"/>
              <a:t> </a:t>
            </a:r>
            <a:r>
              <a:rPr lang="en-US" sz="2000" dirty="0" err="1"/>
              <a:t>কুজ</a:t>
            </a:r>
            <a:r>
              <a:rPr lang="en-US" sz="2000" dirty="0"/>
              <a:t> </a:t>
            </a:r>
            <a:r>
              <a:rPr lang="en-US" sz="2000" dirty="0" err="1"/>
              <a:t>বেশ</a:t>
            </a:r>
            <a:r>
              <a:rPr lang="en-US" sz="2000" dirty="0"/>
              <a:t> </a:t>
            </a:r>
            <a:r>
              <a:rPr lang="en-US" sz="2000" dirty="0" err="1"/>
              <a:t>বড়</a:t>
            </a:r>
            <a:r>
              <a:rPr lang="en-US" sz="2000" dirty="0"/>
              <a:t>, </a:t>
            </a:r>
            <a:r>
              <a:rPr lang="en-US" sz="2000" dirty="0" err="1"/>
              <a:t>উচু</a:t>
            </a:r>
            <a:r>
              <a:rPr lang="en-US" sz="2000" dirty="0"/>
              <a:t>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/>
              <a:t>৪৫০ </a:t>
            </a:r>
            <a:r>
              <a:rPr lang="en-US" sz="2000" dirty="0" err="1"/>
              <a:t>কেজী</a:t>
            </a:r>
            <a:r>
              <a:rPr lang="en-US" sz="2000" dirty="0"/>
              <a:t> -৩৫০ </a:t>
            </a:r>
            <a:r>
              <a:rPr lang="en-US" sz="2000" dirty="0" err="1"/>
              <a:t>কেজী</a:t>
            </a:r>
            <a:r>
              <a:rPr lang="en-US" sz="2000" dirty="0"/>
              <a:t> </a:t>
            </a:r>
            <a:r>
              <a:rPr lang="en-US" sz="2000" dirty="0" err="1"/>
              <a:t>ওজনের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দৈনিক</a:t>
            </a:r>
            <a:r>
              <a:rPr lang="en-US" sz="2000" dirty="0"/>
              <a:t> ১০ </a:t>
            </a:r>
            <a:r>
              <a:rPr lang="en-US" sz="2000" dirty="0" err="1"/>
              <a:t>মিটার</a:t>
            </a:r>
            <a:r>
              <a:rPr lang="en-US" sz="2000" dirty="0"/>
              <a:t> </a:t>
            </a:r>
            <a:r>
              <a:rPr lang="en-US" sz="2000" dirty="0" err="1"/>
              <a:t>দুধ</a:t>
            </a:r>
            <a:r>
              <a:rPr lang="en-US" sz="2000" dirty="0"/>
              <a:t> </a:t>
            </a:r>
            <a:r>
              <a:rPr lang="en-US" sz="2000" dirty="0" err="1"/>
              <a:t>দেয়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বাছুর</a:t>
            </a:r>
            <a:r>
              <a:rPr lang="en-US" sz="2000" dirty="0"/>
              <a:t> ২২-২৮ </a:t>
            </a:r>
            <a:r>
              <a:rPr lang="en-US" sz="2000" dirty="0" err="1"/>
              <a:t>কেজী</a:t>
            </a:r>
            <a:r>
              <a:rPr lang="en-US" sz="2000" dirty="0"/>
              <a:t> </a:t>
            </a:r>
            <a:r>
              <a:rPr lang="en-US" sz="2000" dirty="0" err="1"/>
              <a:t>হয়</a:t>
            </a:r>
            <a:endParaRPr lang="en-US" sz="2000" dirty="0"/>
          </a:p>
        </p:txBody>
      </p:sp>
      <p:pic>
        <p:nvPicPr>
          <p:cNvPr id="8194" name="Picture 2" descr="সিন্ধি গরু - উইকিপিডিয়া">
            <a:extLst>
              <a:ext uri="{FF2B5EF4-FFF2-40B4-BE49-F238E27FC236}">
                <a16:creationId xmlns:a16="http://schemas.microsoft.com/office/drawing/2014/main" id="{26E40ED6-CF44-291C-28EF-31421FDC4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693" y="2543114"/>
            <a:ext cx="5730282" cy="3785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1729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310057"/>
            <a:ext cx="10571998" cy="1213446"/>
          </a:xfrm>
        </p:spPr>
        <p:txBody>
          <a:bodyPr/>
          <a:lstStyle/>
          <a:p>
            <a:r>
              <a:rPr lang="en-US" dirty="0" err="1"/>
              <a:t>গরুর</a:t>
            </a:r>
            <a:r>
              <a:rPr lang="en-US" dirty="0"/>
              <a:t> </a:t>
            </a:r>
            <a:r>
              <a:rPr lang="bn-IN" dirty="0"/>
              <a:t>জাত ও বৈশিষ্ট্য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DE987-10D5-44EA-9E6A-91AB1B30FE40}"/>
              </a:ext>
            </a:extLst>
          </p:cNvPr>
          <p:cNvSpPr txBox="1"/>
          <p:nvPr/>
        </p:nvSpPr>
        <p:spPr>
          <a:xfrm>
            <a:off x="189185" y="2396359"/>
            <a:ext cx="603293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accent2"/>
                </a:solidFill>
              </a:rPr>
              <a:t>হারিয়ানা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জাতের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গরুঃ</a:t>
            </a:r>
            <a:endParaRPr lang="bn-IN" sz="2000" dirty="0">
              <a:solidFill>
                <a:schemeClr val="accent2"/>
              </a:solidFill>
            </a:endParaRPr>
          </a:p>
          <a:p>
            <a:r>
              <a:rPr lang="bn-IN" sz="2000" dirty="0">
                <a:solidFill>
                  <a:schemeClr val="accent2"/>
                </a:solidFill>
              </a:rPr>
              <a:t>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গায়ের</a:t>
            </a:r>
            <a:r>
              <a:rPr lang="en-US" sz="2000" dirty="0"/>
              <a:t> রঙ </a:t>
            </a:r>
            <a:r>
              <a:rPr lang="en-US" sz="2000" dirty="0" err="1"/>
              <a:t>সাদা</a:t>
            </a:r>
            <a:r>
              <a:rPr lang="en-US" sz="2000" dirty="0"/>
              <a:t> </a:t>
            </a:r>
            <a:r>
              <a:rPr lang="en-US" sz="2000" dirty="0" err="1"/>
              <a:t>বা</a:t>
            </a:r>
            <a:r>
              <a:rPr lang="en-US" sz="2000" dirty="0"/>
              <a:t> </a:t>
            </a:r>
            <a:r>
              <a:rPr lang="en-US" sz="2000" dirty="0" err="1"/>
              <a:t>হালকা</a:t>
            </a:r>
            <a:r>
              <a:rPr lang="en-US" sz="2000" dirty="0"/>
              <a:t> </a:t>
            </a:r>
            <a:r>
              <a:rPr lang="en-US" sz="2000" dirty="0" err="1"/>
              <a:t>ধূসর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শিং</a:t>
            </a:r>
            <a:r>
              <a:rPr lang="en-US" sz="2000" dirty="0"/>
              <a:t> </a:t>
            </a:r>
            <a:r>
              <a:rPr lang="en-US" sz="2000" dirty="0" err="1"/>
              <a:t>লম্বা</a:t>
            </a:r>
            <a:r>
              <a:rPr lang="en-US" sz="2000" dirty="0"/>
              <a:t> </a:t>
            </a:r>
            <a:r>
              <a:rPr lang="en-US" sz="2000" dirty="0" err="1"/>
              <a:t>মোটা</a:t>
            </a:r>
            <a:r>
              <a:rPr lang="en-US" sz="2000" dirty="0"/>
              <a:t> ও </a:t>
            </a:r>
            <a:r>
              <a:rPr lang="en-US" sz="2000" dirty="0" err="1"/>
              <a:t>মসৃণ</a:t>
            </a:r>
            <a:r>
              <a:rPr lang="en-US" sz="2000" dirty="0"/>
              <a:t>, </a:t>
            </a:r>
            <a:r>
              <a:rPr lang="en-US" sz="2000" dirty="0" err="1"/>
              <a:t>পিছনে</a:t>
            </a:r>
            <a:r>
              <a:rPr lang="en-US" sz="2000" dirty="0"/>
              <a:t> </a:t>
            </a:r>
            <a:r>
              <a:rPr lang="en-US" sz="2000" dirty="0" err="1"/>
              <a:t>বাক</a:t>
            </a:r>
            <a:r>
              <a:rPr lang="en-US" sz="2000" dirty="0"/>
              <a:t> </a:t>
            </a:r>
            <a:r>
              <a:rPr lang="en-US" sz="2000" dirty="0" err="1"/>
              <a:t>নিয়ে</a:t>
            </a:r>
            <a:r>
              <a:rPr lang="en-US" sz="2000" dirty="0"/>
              <a:t> </a:t>
            </a:r>
            <a:r>
              <a:rPr lang="en-US" sz="2000" dirty="0" err="1"/>
              <a:t>বৃত্তের</a:t>
            </a:r>
            <a:r>
              <a:rPr lang="en-US" sz="2000" dirty="0"/>
              <a:t> মত </a:t>
            </a:r>
            <a:r>
              <a:rPr lang="en-US" sz="2000" dirty="0" err="1"/>
              <a:t>তৈরী</a:t>
            </a:r>
            <a:r>
              <a:rPr lang="en-US" sz="2000" dirty="0"/>
              <a:t> </a:t>
            </a:r>
            <a:r>
              <a:rPr lang="en-US" sz="2000" dirty="0" err="1"/>
              <a:t>করে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ওলান</a:t>
            </a:r>
            <a:r>
              <a:rPr lang="en-US" sz="2000" dirty="0"/>
              <a:t> </a:t>
            </a:r>
            <a:r>
              <a:rPr lang="en-US" sz="2000" dirty="0" err="1"/>
              <a:t>সুগঠিত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/>
              <a:t>৮৫০-৪৫০ </a:t>
            </a:r>
            <a:r>
              <a:rPr lang="en-US" sz="2000" dirty="0" err="1"/>
              <a:t>কেজী</a:t>
            </a:r>
            <a:r>
              <a:rPr lang="en-US" sz="2000" dirty="0"/>
              <a:t> </a:t>
            </a:r>
            <a:r>
              <a:rPr lang="en-US" sz="2000" dirty="0" err="1"/>
              <a:t>হয়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দৈনিক</a:t>
            </a:r>
            <a:r>
              <a:rPr lang="en-US" sz="2000" dirty="0"/>
              <a:t> ৬-৭ </a:t>
            </a:r>
            <a:r>
              <a:rPr lang="en-US" sz="2000" dirty="0" err="1"/>
              <a:t>লিটার</a:t>
            </a:r>
            <a:r>
              <a:rPr lang="en-US" sz="2000" dirty="0"/>
              <a:t> </a:t>
            </a:r>
            <a:r>
              <a:rPr lang="en-US" sz="2000" dirty="0" err="1"/>
              <a:t>দুধ</a:t>
            </a:r>
            <a:r>
              <a:rPr lang="en-US" sz="2000" dirty="0"/>
              <a:t> </a:t>
            </a:r>
            <a:r>
              <a:rPr lang="en-US" sz="2000" dirty="0" err="1"/>
              <a:t>দেয়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 err="1"/>
              <a:t>কৃষিকাজে</a:t>
            </a:r>
            <a:r>
              <a:rPr lang="en-US" sz="2000" dirty="0"/>
              <a:t> </a:t>
            </a:r>
            <a:r>
              <a:rPr lang="en-US" sz="2000" dirty="0" err="1"/>
              <a:t>জমি</a:t>
            </a:r>
            <a:r>
              <a:rPr lang="en-US" sz="2000" dirty="0"/>
              <a:t> ও </a:t>
            </a:r>
            <a:r>
              <a:rPr lang="en-US" sz="2000" dirty="0" err="1"/>
              <a:t>ভারবহনের</a:t>
            </a:r>
            <a:r>
              <a:rPr lang="en-US" sz="2000" dirty="0"/>
              <a:t> </a:t>
            </a:r>
            <a:r>
              <a:rPr lang="en-US" sz="2000" dirty="0" err="1"/>
              <a:t>জন্য</a:t>
            </a:r>
            <a:r>
              <a:rPr lang="en-US" sz="2000" dirty="0"/>
              <a:t> </a:t>
            </a:r>
            <a:r>
              <a:rPr lang="en-US" sz="2000" dirty="0" err="1"/>
              <a:t>উপযুক্ত</a:t>
            </a:r>
            <a:endParaRPr lang="en-US" sz="2000" dirty="0"/>
          </a:p>
        </p:txBody>
      </p:sp>
      <p:pic>
        <p:nvPicPr>
          <p:cNvPr id="9218" name="Picture 2" descr="হারিয়ানা গরু - উইকিপিডিয়া">
            <a:extLst>
              <a:ext uri="{FF2B5EF4-FFF2-40B4-BE49-F238E27FC236}">
                <a16:creationId xmlns:a16="http://schemas.microsoft.com/office/drawing/2014/main" id="{2697367A-AC66-6BEA-B1E4-6BA9BE60B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706" y="2396359"/>
            <a:ext cx="5864291" cy="3909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31950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24800" y="-1219200"/>
            <a:ext cx="6096000" cy="6096000"/>
          </a:xfrm>
          <a:prstGeom prst="ellipse">
            <a:avLst/>
          </a:prstGeom>
          <a:solidFill>
            <a:srgbClr val="2E7D32">
              <a:alpha val="40000"/>
            </a:srgbClr>
          </a:solidFill>
          <a:ln w="12700">
            <a:solidFill>
              <a:srgbClr val="2E7D32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8768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সারসংক্ষেপ</a:t>
            </a:r>
            <a:endParaRPr lang="en-US" sz="4533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6096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i="1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133" dirty="0"/>
          </a:p>
        </p:txBody>
      </p:sp>
      <p:sp>
        <p:nvSpPr>
          <p:cNvPr id="5" name="Shape 3"/>
          <p:cNvSpPr/>
          <p:nvPr/>
        </p:nvSpPr>
        <p:spPr>
          <a:xfrm>
            <a:off x="609600" y="1950720"/>
            <a:ext cx="10972800" cy="755904"/>
          </a:xfrm>
          <a:prstGeom prst="rect">
            <a:avLst/>
          </a:prstGeom>
          <a:solidFill>
            <a:srgbClr val="2E7D32">
              <a:alpha val="7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" y="1950720"/>
            <a:ext cx="146304" cy="755904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2480" y="1950720"/>
            <a:ext cx="42672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867" dirty="0"/>
          </a:p>
        </p:txBody>
      </p:sp>
      <p:sp>
        <p:nvSpPr>
          <p:cNvPr id="8" name="Text 6"/>
          <p:cNvSpPr/>
          <p:nvPr/>
        </p:nvSpPr>
        <p:spPr>
          <a:xfrm>
            <a:off x="1280160" y="1950720"/>
            <a:ext cx="10119360" cy="755904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r>
              <a:rPr lang="en-US" sz="17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পশুপালন দেশের অর্থনীতিতে গুরুত্বপূর্ণ ভূমিকা রাখে।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609600" y="2852928"/>
            <a:ext cx="10972800" cy="755904"/>
          </a:xfrm>
          <a:prstGeom prst="rect">
            <a:avLst/>
          </a:prstGeom>
          <a:solidFill>
            <a:srgbClr val="2E7D32">
              <a:alpha val="7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600" y="2852928"/>
            <a:ext cx="146304" cy="755904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2480" y="2852928"/>
            <a:ext cx="42672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867" dirty="0"/>
          </a:p>
        </p:txBody>
      </p:sp>
      <p:sp>
        <p:nvSpPr>
          <p:cNvPr id="12" name="Text 10"/>
          <p:cNvSpPr/>
          <p:nvPr/>
        </p:nvSpPr>
        <p:spPr>
          <a:xfrm>
            <a:off x="1280160" y="2852928"/>
            <a:ext cx="10119360" cy="755904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r>
              <a:rPr lang="en-US" sz="17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গরু, মহিষ ও ছাগল — প্রতিটির বিভিন্ন বয়সে আলাদা নাম ও ব্যবহার আছে।</a:t>
            </a:r>
            <a:endParaRPr lang="en-US" sz="1733" dirty="0"/>
          </a:p>
        </p:txBody>
      </p:sp>
      <p:sp>
        <p:nvSpPr>
          <p:cNvPr id="13" name="Shape 11"/>
          <p:cNvSpPr/>
          <p:nvPr/>
        </p:nvSpPr>
        <p:spPr>
          <a:xfrm>
            <a:off x="609600" y="3755136"/>
            <a:ext cx="10972800" cy="755904"/>
          </a:xfrm>
          <a:prstGeom prst="rect">
            <a:avLst/>
          </a:prstGeom>
          <a:solidFill>
            <a:srgbClr val="2E7D32">
              <a:alpha val="7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600" y="3755136"/>
            <a:ext cx="146304" cy="755904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2480" y="3755136"/>
            <a:ext cx="42672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867" dirty="0"/>
          </a:p>
        </p:txBody>
      </p:sp>
      <p:sp>
        <p:nvSpPr>
          <p:cNvPr id="16" name="Text 14"/>
          <p:cNvSpPr/>
          <p:nvPr/>
        </p:nvSpPr>
        <p:spPr>
          <a:xfrm>
            <a:off x="1280160" y="3755136"/>
            <a:ext cx="10119360" cy="755904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r>
              <a:rPr lang="en-US" sz="17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উৎপাদনের ভিত্তিতে গরুর জাত: দুধালো, মাংসল, দ্বৈত ও ভারবাহী।</a:t>
            </a:r>
            <a:endParaRPr lang="en-US" sz="1733" dirty="0"/>
          </a:p>
        </p:txBody>
      </p:sp>
      <p:sp>
        <p:nvSpPr>
          <p:cNvPr id="17" name="Shape 15"/>
          <p:cNvSpPr/>
          <p:nvPr/>
        </p:nvSpPr>
        <p:spPr>
          <a:xfrm>
            <a:off x="609600" y="4657344"/>
            <a:ext cx="10972800" cy="755904"/>
          </a:xfrm>
          <a:prstGeom prst="rect">
            <a:avLst/>
          </a:prstGeom>
          <a:solidFill>
            <a:srgbClr val="2E7D32">
              <a:alpha val="7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9600" y="4657344"/>
            <a:ext cx="146304" cy="755904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2480" y="4657344"/>
            <a:ext cx="42672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867" dirty="0"/>
          </a:p>
        </p:txBody>
      </p:sp>
      <p:sp>
        <p:nvSpPr>
          <p:cNvPr id="20" name="Text 18"/>
          <p:cNvSpPr/>
          <p:nvPr/>
        </p:nvSpPr>
        <p:spPr>
          <a:xfrm>
            <a:off x="1280160" y="4657344"/>
            <a:ext cx="10119360" cy="755904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r>
              <a:rPr lang="en-US" sz="17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উৎপত্তি অনুযায়ী গরুর জাত: দেশী, বিদেশী ও সংকর।</a:t>
            </a:r>
            <a:endParaRPr lang="en-US" sz="1733" dirty="0"/>
          </a:p>
        </p:txBody>
      </p:sp>
      <p:sp>
        <p:nvSpPr>
          <p:cNvPr id="21" name="Shape 19"/>
          <p:cNvSpPr/>
          <p:nvPr/>
        </p:nvSpPr>
        <p:spPr>
          <a:xfrm>
            <a:off x="609600" y="5559552"/>
            <a:ext cx="10972800" cy="755904"/>
          </a:xfrm>
          <a:prstGeom prst="rect">
            <a:avLst/>
          </a:prstGeom>
          <a:solidFill>
            <a:srgbClr val="2E7D32">
              <a:alpha val="7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9600" y="5559552"/>
            <a:ext cx="146304" cy="755904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2480" y="5559552"/>
            <a:ext cx="42672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867" dirty="0"/>
          </a:p>
        </p:txBody>
      </p:sp>
      <p:sp>
        <p:nvSpPr>
          <p:cNvPr id="24" name="Text 22"/>
          <p:cNvSpPr/>
          <p:nvPr/>
        </p:nvSpPr>
        <p:spPr>
          <a:xfrm>
            <a:off x="1280160" y="5559552"/>
            <a:ext cx="10119360" cy="755904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r>
              <a:rPr lang="en-US" sz="17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পশুপালন বেকারত্ব দূর ও গ্রামীণ উন্নয়নে সহায়ক।</a:t>
            </a:r>
            <a:endParaRPr lang="en-US" sz="1733" dirty="0"/>
          </a:p>
        </p:txBody>
      </p:sp>
    </p:spTree>
    <p:extLst>
      <p:ext uri="{BB962C8B-B14F-4D97-AF65-F5344CB8AC3E}">
        <p14:creationId xmlns:p14="http://schemas.microsoft.com/office/powerpoint/2010/main" val="11910396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1350</TotalTime>
  <Words>1461</Words>
  <Application>Microsoft Office PowerPoint</Application>
  <PresentationFormat>Widescreen</PresentationFormat>
  <Paragraphs>249</Paragraphs>
  <Slides>20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Arial</vt:lpstr>
      <vt:lpstr>Calibri</vt:lpstr>
      <vt:lpstr>Century Gothic</vt:lpstr>
      <vt:lpstr>Wingdings</vt:lpstr>
      <vt:lpstr>Wingdings 2</vt:lpstr>
      <vt:lpstr>Quotable</vt:lpstr>
      <vt:lpstr>পশু পালন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উত্তর দাও</vt:lpstr>
      <vt:lpstr>PowerPoint Presentation</vt:lpstr>
      <vt:lpstr>PowerPoint Presentation</vt:lpstr>
      <vt:lpstr>কেমন গরু</vt:lpstr>
      <vt:lpstr>গরুর জাত ও বৈশিষ্ট্য</vt:lpstr>
      <vt:lpstr>গরুর জাত ও বৈশিষ্ট্য</vt:lpstr>
      <vt:lpstr>গরুর জাত ও বৈশিষ্ট্য</vt:lpstr>
      <vt:lpstr>গরুর জাত ও বৈশিষ্ট্য</vt:lpstr>
      <vt:lpstr>গরুর জাত ও বৈশিষ্ট্য</vt:lpstr>
      <vt:lpstr>গরুর জাত ও বৈশিষ্ট্য</vt:lpstr>
      <vt:lpstr>গরুর জাত ও বৈশিষ্ট্য</vt:lpstr>
      <vt:lpstr>গরুর জাত ও বৈশিষ্ট্য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বিশেষ উৎপাদন সম্পর্কিত কৃষি প্রযুক্তি</dc:title>
  <dc:creator>Abdullah Limon</dc:creator>
  <cp:lastModifiedBy>Abdullah Limon</cp:lastModifiedBy>
  <cp:revision>300</cp:revision>
  <dcterms:created xsi:type="dcterms:W3CDTF">2025-01-01T02:54:10Z</dcterms:created>
  <dcterms:modified xsi:type="dcterms:W3CDTF">2026-06-07T00:57:20Z</dcterms:modified>
</cp:coreProperties>
</file>